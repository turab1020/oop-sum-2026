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716" r:id="rId2"/>
    <p:sldId id="717" r:id="rId3"/>
    <p:sldId id="822" r:id="rId4"/>
    <p:sldId id="718" r:id="rId5"/>
    <p:sldId id="719" r:id="rId6"/>
    <p:sldId id="720" r:id="rId7"/>
    <p:sldId id="721" r:id="rId8"/>
    <p:sldId id="722" r:id="rId9"/>
    <p:sldId id="723" r:id="rId10"/>
    <p:sldId id="724" r:id="rId11"/>
    <p:sldId id="725" r:id="rId12"/>
    <p:sldId id="824" r:id="rId13"/>
    <p:sldId id="825" r:id="rId14"/>
    <p:sldId id="826" r:id="rId15"/>
    <p:sldId id="827" r:id="rId16"/>
    <p:sldId id="828" r:id="rId17"/>
    <p:sldId id="829" r:id="rId18"/>
    <p:sldId id="830" r:id="rId19"/>
    <p:sldId id="831" r:id="rId20"/>
    <p:sldId id="832" r:id="rId21"/>
    <p:sldId id="833" r:id="rId22"/>
    <p:sldId id="834" r:id="rId23"/>
    <p:sldId id="835" r:id="rId24"/>
    <p:sldId id="836"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7752" autoAdjust="0"/>
    <p:restoredTop sz="93220" autoAdjust="0"/>
  </p:normalViewPr>
  <p:slideViewPr>
    <p:cSldViewPr>
      <p:cViewPr varScale="1">
        <p:scale>
          <a:sx n="80" d="100"/>
          <a:sy n="80" d="100"/>
        </p:scale>
        <p:origin x="-996" y="-78"/>
      </p:cViewPr>
      <p:guideLst>
        <p:guide orient="horz" pos="2160"/>
        <p:guide pos="2880"/>
      </p:guideLst>
    </p:cSldViewPr>
  </p:slideViewPr>
  <p:outlineViewPr>
    <p:cViewPr>
      <p:scale>
        <a:sx n="33" d="100"/>
        <a:sy n="33" d="100"/>
      </p:scale>
      <p:origin x="0" y="-149658"/>
    </p:cViewPr>
  </p:outlineViewPr>
  <p:notesTextViewPr>
    <p:cViewPr>
      <p:scale>
        <a:sx n="1" d="1"/>
        <a:sy n="1" d="1"/>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E87CC95-1805-4589-B3C5-62CD2CD2AA07}" type="datetimeFigureOut">
              <a:rPr lang="en-US" smtClean="0"/>
              <a:pPr/>
              <a:t>12/6/2020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C2BB922-0DC4-4F8B-823D-B8E7EC574980}" type="slidenum">
              <a:rPr lang="en-US" smtClean="0"/>
              <a:pPr/>
              <a:t>‹#›</a:t>
            </a:fld>
            <a:endParaRPr lang="en-US" dirty="0"/>
          </a:p>
        </p:txBody>
      </p:sp>
    </p:spTree>
    <p:extLst>
      <p:ext uri="{BB962C8B-B14F-4D97-AF65-F5344CB8AC3E}">
        <p14:creationId xmlns="" xmlns:p14="http://schemas.microsoft.com/office/powerpoint/2010/main" val="4174583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C2BB922-0DC4-4F8B-823D-B8E7EC574980}" type="slidenum">
              <a:rPr lang="en-US" smtClean="0"/>
              <a:pPr/>
              <a:t>4</a:t>
            </a:fld>
            <a:endParaRPr lang="en-US" dirty="0"/>
          </a:p>
        </p:txBody>
      </p:sp>
    </p:spTree>
    <p:extLst>
      <p:ext uri="{BB962C8B-B14F-4D97-AF65-F5344CB8AC3E}">
        <p14:creationId xmlns="" xmlns:p14="http://schemas.microsoft.com/office/powerpoint/2010/main" val="1232354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EC5D383-069B-4B22-A07C-9FB716C4AC8D}" type="datetime1">
              <a:rPr lang="en-US" smtClean="0"/>
              <a:pPr/>
              <a:t>12/6/2020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DF4E671-2CE7-4BC4-9D6E-ED7B9AC95417}" type="slidenum">
              <a:rPr lang="en-US" smtClean="0"/>
              <a:pPr/>
              <a:t>‹#›</a:t>
            </a:fld>
            <a:endParaRPr lang="en-US" dirty="0"/>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5451CC2-3E26-487F-A05C-46E039DF3A20}" type="datetime1">
              <a:rPr lang="en-US" smtClean="0"/>
              <a:pPr/>
              <a:t>12/6/2020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DF4E671-2CE7-4BC4-9D6E-ED7B9AC95417}"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6B43EF-2CEC-4669-A42D-20DD755D97BC}" type="datetime1">
              <a:rPr lang="en-US" smtClean="0"/>
              <a:pPr/>
              <a:t>12/6/2020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DF4E671-2CE7-4BC4-9D6E-ED7B9AC95417}" type="slidenum">
              <a:rPr lang="en-US" smtClean="0"/>
              <a:pPr/>
              <a:t>‹#›</a:t>
            </a:fld>
            <a:endParaRPr lang="en-US" dirty="0"/>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688FF5D-17A2-4FF4-ACF5-CD2B2A9A5469}" type="datetime1">
              <a:rPr lang="en-US" smtClean="0"/>
              <a:pPr/>
              <a:t>12/6/2020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DF4E671-2CE7-4BC4-9D6E-ED7B9AC95417}"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377B1DB-8DDD-4A58-B060-AAD98A925886}" type="datetime1">
              <a:rPr lang="en-US" smtClean="0"/>
              <a:pPr/>
              <a:t>12/6/2020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DF4E671-2CE7-4BC4-9D6E-ED7B9AC95417}" type="slidenum">
              <a:rPr lang="en-US" smtClean="0"/>
              <a:pPr/>
              <a:t>‹#›</a:t>
            </a:fld>
            <a:endParaRPr lang="en-US" dirty="0"/>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457AD91-8025-4B16-B9BF-57B3EAED7ADD}" type="datetime1">
              <a:rPr lang="en-US" smtClean="0"/>
              <a:pPr/>
              <a:t>12/6/2020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9DF4E671-2CE7-4BC4-9D6E-ED7B9AC95417}"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70C53C-7406-4922-AB6B-B2CEF93D22DB}" type="datetime1">
              <a:rPr lang="en-US" smtClean="0"/>
              <a:pPr/>
              <a:t>12/6/2020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DF4E671-2CE7-4BC4-9D6E-ED7B9AC95417}"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B16814F-85E0-499C-82DA-2E04F8611575}" type="datetime1">
              <a:rPr lang="en-US" smtClean="0"/>
              <a:pPr/>
              <a:t>12/6/2020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DF4E671-2CE7-4BC4-9D6E-ED7B9AC95417}" type="slidenum">
              <a:rPr lang="en-US" smtClean="0"/>
              <a:pPr/>
              <a:t>‹#›</a:t>
            </a:fld>
            <a:endParaRPr lang="en-US" dirty="0"/>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7CCA42A-76D5-4595-AE3B-053BE4DA4F3B}" type="datetime1">
              <a:rPr lang="en-US" smtClean="0"/>
              <a:pPr/>
              <a:t>12/6/2020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DF4E671-2CE7-4BC4-9D6E-ED7B9AC95417}"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2A39D9E-DF95-4B84-AE06-606BAC19448F}" type="datetime1">
              <a:rPr lang="en-US" smtClean="0"/>
              <a:pPr/>
              <a:t>12/6/2020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DF4E671-2CE7-4BC4-9D6E-ED7B9AC95417}"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D10FEF-3A9F-46D3-99F3-CD37DB098CCF}" type="datetime1">
              <a:rPr lang="en-US" smtClean="0"/>
              <a:pPr/>
              <a:t>12/6/2020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DF4E671-2CE7-4BC4-9D6E-ED7B9AC95417}"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C77C62F4-9916-4B50-BCB4-4FD5D9F78919}" type="datetime1">
              <a:rPr lang="en-US" smtClean="0"/>
              <a:pPr/>
              <a:t>12/6/2020</a:t>
            </a:fld>
            <a:endParaRPr lang="en-US" dirty="0"/>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en-US" dirty="0"/>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9DF4E671-2CE7-4BC4-9D6E-ED7B9AC95417}"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spcBef>
          <a:spcPct val="0"/>
        </a:spcBef>
        <a:buNone/>
        <a:defRPr sz="3200" kern="1200" spc="-100" baseline="0">
          <a:solidFill>
            <a:srgbClr val="002060"/>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9DF4E671-2CE7-4BC4-9D6E-ED7B9AC95417}" type="slidenum">
              <a:rPr lang="en-US" smtClean="0"/>
              <a:pPr/>
              <a:t>1</a:t>
            </a:fld>
            <a:endParaRPr lang="en-US" dirty="0"/>
          </a:p>
        </p:txBody>
      </p:sp>
      <p:sp>
        <p:nvSpPr>
          <p:cNvPr id="6" name="TextBox 5"/>
          <p:cNvSpPr txBox="1"/>
          <p:nvPr/>
        </p:nvSpPr>
        <p:spPr>
          <a:xfrm>
            <a:off x="1219200" y="2667000"/>
            <a:ext cx="7108036" cy="1446550"/>
          </a:xfrm>
          <a:prstGeom prst="rect">
            <a:avLst/>
          </a:prstGeom>
          <a:noFill/>
        </p:spPr>
        <p:txBody>
          <a:bodyPr wrap="none" rtlCol="0">
            <a:spAutoFit/>
          </a:bodyPr>
          <a:lstStyle/>
          <a:p>
            <a:r>
              <a:rPr lang="en-US" sz="3200" dirty="0" smtClean="0">
                <a:solidFill>
                  <a:srgbClr val="002060"/>
                </a:solidFill>
              </a:rPr>
              <a:t>CS217 Object Oriented Programming </a:t>
            </a:r>
          </a:p>
          <a:p>
            <a:endParaRPr lang="en-US" sz="2800" dirty="0" smtClean="0"/>
          </a:p>
          <a:p>
            <a:r>
              <a:rPr lang="en-US" sz="2800" dirty="0" smtClean="0">
                <a:solidFill>
                  <a:srgbClr val="0070C0"/>
                </a:solidFill>
              </a:rPr>
              <a:t>    Polymorphism</a:t>
            </a:r>
            <a:r>
              <a:rPr lang="en-US" sz="2800" dirty="0" smtClean="0"/>
              <a:t> and </a:t>
            </a:r>
            <a:r>
              <a:rPr lang="en-US" sz="2800" dirty="0" smtClean="0">
                <a:solidFill>
                  <a:srgbClr val="00B0F0"/>
                </a:solidFill>
              </a:rPr>
              <a:t>Virtual</a:t>
            </a:r>
            <a:r>
              <a:rPr lang="en-US" sz="2800" dirty="0" smtClean="0"/>
              <a:t> </a:t>
            </a:r>
            <a:r>
              <a:rPr lang="en-US" sz="2800" dirty="0" smtClean="0"/>
              <a:t>f</a:t>
            </a:r>
            <a:r>
              <a:rPr lang="en-US" sz="2800" dirty="0" smtClean="0"/>
              <a:t>unctions</a:t>
            </a:r>
            <a:endParaRPr lang="en-US" sz="2800" dirty="0"/>
          </a:p>
        </p:txBody>
      </p:sp>
    </p:spTree>
    <p:extLst>
      <p:ext uri="{BB962C8B-B14F-4D97-AF65-F5344CB8AC3E}">
        <p14:creationId xmlns="" xmlns:p14="http://schemas.microsoft.com/office/powerpoint/2010/main" val="115322073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Overriding </a:t>
            </a:r>
            <a:r>
              <a:rPr lang="en-US" dirty="0"/>
              <a:t>a </a:t>
            </a:r>
            <a:r>
              <a:rPr lang="en-US" dirty="0" smtClean="0"/>
              <a:t>functions in </a:t>
            </a:r>
            <a:r>
              <a:rPr lang="en-US" dirty="0"/>
              <a:t>the subclass </a:t>
            </a:r>
          </a:p>
        </p:txBody>
      </p:sp>
      <p:sp>
        <p:nvSpPr>
          <p:cNvPr id="3" name="Content Placeholder 2"/>
          <p:cNvSpPr>
            <a:spLocks noGrp="1"/>
          </p:cNvSpPr>
          <p:nvPr>
            <p:ph idx="1"/>
          </p:nvPr>
        </p:nvSpPr>
        <p:spPr>
          <a:xfrm>
            <a:off x="822959" y="1845734"/>
            <a:ext cx="7025641" cy="3031066"/>
          </a:xfrm>
        </p:spPr>
        <p:txBody>
          <a:bodyPr>
            <a:normAutofit/>
          </a:bodyPr>
          <a:lstStyle/>
          <a:p>
            <a:pPr marL="0" indent="0" algn="just">
              <a:buNone/>
            </a:pPr>
            <a:r>
              <a:rPr lang="en-US" dirty="0" smtClean="0"/>
              <a:t>When </a:t>
            </a:r>
            <a:r>
              <a:rPr lang="en-US" dirty="0"/>
              <a:t>a subclass </a:t>
            </a:r>
            <a:r>
              <a:rPr lang="en-US" b="1" dirty="0"/>
              <a:t>declares a </a:t>
            </a:r>
            <a:r>
              <a:rPr lang="en-US" b="1" dirty="0" smtClean="0"/>
              <a:t>function </a:t>
            </a:r>
            <a:r>
              <a:rPr lang="en-US" b="1" dirty="0" smtClean="0"/>
              <a:t>of </a:t>
            </a:r>
            <a:r>
              <a:rPr lang="en-US" b="1" dirty="0"/>
              <a:t>the name previously known in its superclass, the original method is overridden</a:t>
            </a:r>
            <a:r>
              <a:rPr lang="en-US" dirty="0"/>
              <a:t>. This means that the subclass hides the previous meaning of the </a:t>
            </a:r>
            <a:r>
              <a:rPr lang="en-US" dirty="0" smtClean="0"/>
              <a:t>function identifier </a:t>
            </a:r>
            <a:r>
              <a:rPr lang="en-US" dirty="0"/>
              <a:t>and any invocation encoded within the </a:t>
            </a:r>
            <a:r>
              <a:rPr lang="en-US" dirty="0">
                <a:solidFill>
                  <a:srgbClr val="0070C0"/>
                </a:solidFill>
              </a:rPr>
              <a:t>subclass</a:t>
            </a:r>
            <a:r>
              <a:rPr lang="en-US" dirty="0"/>
              <a:t> will refer to the </a:t>
            </a:r>
            <a:r>
              <a:rPr lang="en-US" dirty="0">
                <a:solidFill>
                  <a:srgbClr val="0070C0"/>
                </a:solidFill>
              </a:rPr>
              <a:t>newer</a:t>
            </a:r>
            <a:r>
              <a:rPr lang="en-US" dirty="0"/>
              <a:t> method</a:t>
            </a:r>
            <a:r>
              <a:rPr lang="en-US" dirty="0" smtClean="0"/>
              <a:t>.</a:t>
            </a:r>
            <a:endParaRPr lang="en-US" dirty="0"/>
          </a:p>
        </p:txBody>
      </p:sp>
      <p:sp>
        <p:nvSpPr>
          <p:cNvPr id="5" name="Slide Number Placeholder 4"/>
          <p:cNvSpPr>
            <a:spLocks noGrp="1"/>
          </p:cNvSpPr>
          <p:nvPr>
            <p:ph type="sldNum" sz="quarter" idx="12"/>
          </p:nvPr>
        </p:nvSpPr>
        <p:spPr/>
        <p:txBody>
          <a:bodyPr/>
          <a:lstStyle/>
          <a:p>
            <a:fld id="{9DF4E671-2CE7-4BC4-9D6E-ED7B9AC95417}" type="slidenum">
              <a:rPr lang="en-US" smtClean="0"/>
              <a:pPr/>
              <a:t>2</a:t>
            </a:fld>
            <a:endParaRPr lang="en-US" dirty="0"/>
          </a:p>
        </p:txBody>
      </p:sp>
    </p:spTree>
    <p:extLst>
      <p:ext uri="{BB962C8B-B14F-4D97-AF65-F5344CB8AC3E}">
        <p14:creationId xmlns="" xmlns:p14="http://schemas.microsoft.com/office/powerpoint/2010/main" val="7125705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p:cNvSpPr>
            <a:spLocks noGrp="1" noChangeArrowheads="1"/>
          </p:cNvSpPr>
          <p:nvPr>
            <p:ph type="title"/>
          </p:nvPr>
        </p:nvSpPr>
        <p:spPr/>
        <p:txBody>
          <a:bodyPr/>
          <a:lstStyle/>
          <a:p>
            <a:endParaRPr lang="en-US" altLang="en-US"/>
          </a:p>
        </p:txBody>
      </p:sp>
      <p:pic>
        <p:nvPicPr>
          <p:cNvPr id="105475" name="Picture 3" descr="untitled"/>
          <p:cNvPicPr>
            <a:picLocks noGrp="1" noChangeAspect="1" noChangeArrowheads="1"/>
          </p:cNvPicPr>
          <p:nvPr>
            <p:ph sz="half" idx="2"/>
          </p:nvPr>
        </p:nvPicPr>
        <p:blipFill>
          <a:blip r:embed="rId2">
            <a:extLst>
              <a:ext uri="{28A0092B-C50C-407E-A947-70E740481C1C}">
                <a14:useLocalDpi xmlns="" xmlns:a14="http://schemas.microsoft.com/office/drawing/2010/main" val="0"/>
              </a:ext>
            </a:extLst>
          </a:blip>
          <a:srcRect/>
          <a:stretch>
            <a:fillRect/>
          </a:stretch>
        </p:blipFill>
        <p:spPr>
          <a:xfrm>
            <a:off x="76200" y="57150"/>
            <a:ext cx="6019800" cy="3981450"/>
          </a:xfrm>
          <a:ln w="12700">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808080">
                      <a:alpha val="74998"/>
                    </a:srgbClr>
                  </a:outerShdw>
                </a:effectLst>
              </a14:hiddenEffects>
            </a:ext>
          </a:extLst>
        </p:spPr>
      </p:pic>
      <p:pic>
        <p:nvPicPr>
          <p:cNvPr id="105476" name="Picture 4" descr="untitled"/>
          <p:cNvPicPr>
            <a:picLocks noGrp="1" noChangeAspect="1" noChangeArrowheads="1"/>
          </p:cNvPicPr>
          <p:nvPr>
            <p:ph sz="half" idx="1"/>
          </p:nvPr>
        </p:nvPicPr>
        <p:blipFill>
          <a:blip r:embed="rId3">
            <a:extLst>
              <a:ext uri="{28A0092B-C50C-407E-A947-70E740481C1C}">
                <a14:useLocalDpi xmlns="" xmlns:a14="http://schemas.microsoft.com/office/drawing/2010/main" val="0"/>
              </a:ext>
            </a:extLst>
          </a:blip>
          <a:srcRect/>
          <a:stretch>
            <a:fillRect/>
          </a:stretch>
        </p:blipFill>
        <p:spPr>
          <a:xfrm>
            <a:off x="3048000" y="2828925"/>
            <a:ext cx="6096000" cy="4029075"/>
          </a:xfrm>
          <a:ln w="12700">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808080">
                      <a:alpha val="74998"/>
                    </a:srgbClr>
                  </a:outerShdw>
                </a:effectLst>
              </a14:hiddenEffects>
            </a:ext>
          </a:extLst>
        </p:spPr>
      </p:pic>
      <p:sp>
        <p:nvSpPr>
          <p:cNvPr id="5" name="Slide Number Placeholder 4"/>
          <p:cNvSpPr>
            <a:spLocks noGrp="1"/>
          </p:cNvSpPr>
          <p:nvPr>
            <p:ph type="sldNum" sz="quarter" idx="12"/>
          </p:nvPr>
        </p:nvSpPr>
        <p:spPr/>
        <p:txBody>
          <a:bodyPr/>
          <a:lstStyle/>
          <a:p>
            <a:fld id="{9DF4E671-2CE7-4BC4-9D6E-ED7B9AC95417}" type="slidenum">
              <a:rPr lang="en-US" smtClean="0"/>
              <a:pPr/>
              <a:t>3</a:t>
            </a:fld>
            <a:endParaRPr lang="en-US" dirty="0"/>
          </a:p>
        </p:txBody>
      </p:sp>
    </p:spTree>
    <p:extLst>
      <p:ext uri="{BB962C8B-B14F-4D97-AF65-F5344CB8AC3E}">
        <p14:creationId xmlns="" xmlns:p14="http://schemas.microsoft.com/office/powerpoint/2010/main" val="59119047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05476"/>
                                        </p:tgtEl>
                                        <p:attrNameLst>
                                          <p:attrName>style.visibility</p:attrName>
                                        </p:attrNameLst>
                                      </p:cBhvr>
                                      <p:to>
                                        <p:strVal val="visible"/>
                                      </p:to>
                                    </p:set>
                                    <p:animEffect transition="in" filter="box(in)">
                                      <p:cBhvr>
                                        <p:cTn id="7" dur="500"/>
                                        <p:tgtEl>
                                          <p:spTgt spid="1054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90600"/>
          </a:xfrm>
        </p:spPr>
        <p:txBody>
          <a:bodyPr>
            <a:normAutofit/>
          </a:bodyPr>
          <a:lstStyle/>
          <a:p>
            <a:r>
              <a:rPr lang="en-US" dirty="0" smtClean="0">
                <a:solidFill>
                  <a:srgbClr val="002060"/>
                </a:solidFill>
              </a:rPr>
              <a:t>O</a:t>
            </a:r>
            <a:r>
              <a:rPr lang="en-US" dirty="0" smtClean="0">
                <a:solidFill>
                  <a:srgbClr val="002060"/>
                </a:solidFill>
              </a:rPr>
              <a:t>verriding </a:t>
            </a:r>
            <a:r>
              <a:rPr lang="en-US" dirty="0">
                <a:solidFill>
                  <a:srgbClr val="002060"/>
                </a:solidFill>
              </a:rPr>
              <a:t>a </a:t>
            </a:r>
            <a:r>
              <a:rPr lang="en-US" dirty="0" smtClean="0">
                <a:solidFill>
                  <a:srgbClr val="002060"/>
                </a:solidFill>
              </a:rPr>
              <a:t>function in </a:t>
            </a:r>
            <a:r>
              <a:rPr lang="en-US" dirty="0">
                <a:solidFill>
                  <a:srgbClr val="002060"/>
                </a:solidFill>
              </a:rPr>
              <a:t>the subclass </a:t>
            </a:r>
          </a:p>
        </p:txBody>
      </p:sp>
      <p:pic>
        <p:nvPicPr>
          <p:cNvPr id="6" name="Picture 5"/>
          <p:cNvPicPr>
            <a:picLocks noChangeAspect="1"/>
          </p:cNvPicPr>
          <p:nvPr/>
        </p:nvPicPr>
        <p:blipFill>
          <a:blip r:embed="rId3">
            <a:extLst>
              <a:ext uri="{28A0092B-C50C-407E-A947-70E740481C1C}">
                <a14:useLocalDpi xmlns="" xmlns:a14="http://schemas.microsoft.com/office/drawing/2010/main" val="0"/>
              </a:ext>
            </a:extLst>
          </a:blip>
          <a:stretch>
            <a:fillRect/>
          </a:stretch>
        </p:blipFill>
        <p:spPr>
          <a:xfrm>
            <a:off x="838200" y="771143"/>
            <a:ext cx="5181600" cy="6010657"/>
          </a:xfrm>
          <a:prstGeom prst="rect">
            <a:avLst/>
          </a:prstGeom>
        </p:spPr>
      </p:pic>
      <p:sp>
        <p:nvSpPr>
          <p:cNvPr id="5" name="Slide Number Placeholder 4"/>
          <p:cNvSpPr>
            <a:spLocks noGrp="1"/>
          </p:cNvSpPr>
          <p:nvPr>
            <p:ph type="sldNum" sz="quarter" idx="12"/>
          </p:nvPr>
        </p:nvSpPr>
        <p:spPr/>
        <p:txBody>
          <a:bodyPr/>
          <a:lstStyle/>
          <a:p>
            <a:fld id="{9DF4E671-2CE7-4BC4-9D6E-ED7B9AC95417}" type="slidenum">
              <a:rPr lang="en-US" smtClean="0"/>
              <a:pPr/>
              <a:t>4</a:t>
            </a:fld>
            <a:endParaRPr lang="en-US" dirty="0"/>
          </a:p>
        </p:txBody>
      </p:sp>
    </p:spTree>
    <p:extLst>
      <p:ext uri="{BB962C8B-B14F-4D97-AF65-F5344CB8AC3E}">
        <p14:creationId xmlns="" xmlns:p14="http://schemas.microsoft.com/office/powerpoint/2010/main" val="18040988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Overriding </a:t>
            </a:r>
            <a:r>
              <a:rPr lang="en-US" dirty="0"/>
              <a:t>a method in the subclass </a:t>
            </a:r>
          </a:p>
        </p:txBody>
      </p:sp>
      <p:sp>
        <p:nvSpPr>
          <p:cNvPr id="3" name="Content Placeholder 2"/>
          <p:cNvSpPr>
            <a:spLocks noGrp="1"/>
          </p:cNvSpPr>
          <p:nvPr>
            <p:ph idx="1"/>
          </p:nvPr>
        </p:nvSpPr>
        <p:spPr/>
        <p:txBody>
          <a:bodyPr/>
          <a:lstStyle/>
          <a:p>
            <a:pPr marL="0" indent="0">
              <a:buNone/>
            </a:pPr>
            <a:r>
              <a:rPr lang="en-US" dirty="0" smtClean="0"/>
              <a:t>I want </a:t>
            </a:r>
            <a:r>
              <a:rPr lang="en-US" dirty="0"/>
              <a:t>to ask you now for your full attention as we are going to introduce one of the most important objective notions: </a:t>
            </a:r>
            <a:endParaRPr lang="en-US" dirty="0" smtClean="0"/>
          </a:p>
          <a:p>
            <a:pPr marL="0" indent="0">
              <a:buNone/>
            </a:pPr>
            <a:endParaRPr lang="en-US" b="1" dirty="0" smtClean="0"/>
          </a:p>
          <a:p>
            <a:pPr marL="0" indent="0" algn="ctr">
              <a:buNone/>
            </a:pPr>
            <a:r>
              <a:rPr lang="en-US" sz="3200" b="1" dirty="0" smtClean="0">
                <a:solidFill>
                  <a:schemeClr val="tx2">
                    <a:lumMod val="50000"/>
                  </a:schemeClr>
                </a:solidFill>
              </a:rPr>
              <a:t>P</a:t>
            </a:r>
            <a:r>
              <a:rPr lang="en-US" sz="3200" b="1" dirty="0" smtClean="0">
                <a:solidFill>
                  <a:schemeClr val="tx2">
                    <a:lumMod val="50000"/>
                  </a:schemeClr>
                </a:solidFill>
              </a:rPr>
              <a:t>olymorphism</a:t>
            </a:r>
            <a:r>
              <a:rPr lang="en-US" dirty="0">
                <a:solidFill>
                  <a:schemeClr val="tx2">
                    <a:lumMod val="50000"/>
                  </a:schemeClr>
                </a:solidFill>
              </a:rPr>
              <a:t>. </a:t>
            </a:r>
            <a:endParaRPr lang="en-US" dirty="0" smtClean="0">
              <a:solidFill>
                <a:schemeClr val="tx2">
                  <a:lumMod val="50000"/>
                </a:schemeClr>
              </a:solidFill>
            </a:endParaRPr>
          </a:p>
          <a:p>
            <a:pPr marL="0" indent="0">
              <a:buNone/>
            </a:pPr>
            <a:endParaRPr lang="en-US" dirty="0" smtClean="0"/>
          </a:p>
          <a:p>
            <a:pPr marL="0" indent="0">
              <a:buNone/>
            </a:pPr>
            <a:r>
              <a:rPr lang="en-US" dirty="0" smtClean="0"/>
              <a:t>This </a:t>
            </a:r>
            <a:r>
              <a:rPr lang="en-US" dirty="0"/>
              <a:t>is </a:t>
            </a:r>
            <a:r>
              <a:rPr lang="en-US" b="1" dirty="0"/>
              <a:t>a method to redefine the </a:t>
            </a:r>
            <a:r>
              <a:rPr lang="en-US" b="1" dirty="0" smtClean="0"/>
              <a:t>behavior </a:t>
            </a:r>
            <a:r>
              <a:rPr lang="en-US" b="1" dirty="0"/>
              <a:t>of a </a:t>
            </a:r>
            <a:r>
              <a:rPr lang="en-US" b="1" dirty="0" err="1" smtClean="0"/>
              <a:t>superclass</a:t>
            </a:r>
            <a:r>
              <a:rPr lang="en-US" dirty="0"/>
              <a:t> </a:t>
            </a:r>
            <a:r>
              <a:rPr lang="en-US" b="1" dirty="0"/>
              <a:t>without touching its implementation</a:t>
            </a:r>
            <a:r>
              <a:rPr lang="en-US" dirty="0"/>
              <a:t>.</a:t>
            </a:r>
          </a:p>
          <a:p>
            <a:endParaRPr lang="en-US" dirty="0"/>
          </a:p>
        </p:txBody>
      </p:sp>
      <p:sp>
        <p:nvSpPr>
          <p:cNvPr id="5" name="Slide Number Placeholder 4"/>
          <p:cNvSpPr>
            <a:spLocks noGrp="1"/>
          </p:cNvSpPr>
          <p:nvPr>
            <p:ph type="sldNum" sz="quarter" idx="12"/>
          </p:nvPr>
        </p:nvSpPr>
        <p:spPr/>
        <p:txBody>
          <a:bodyPr/>
          <a:lstStyle/>
          <a:p>
            <a:fld id="{9DF4E671-2CE7-4BC4-9D6E-ED7B9AC95417}" type="slidenum">
              <a:rPr lang="en-US" smtClean="0"/>
              <a:pPr/>
              <a:t>5</a:t>
            </a:fld>
            <a:endParaRPr lang="en-US" dirty="0"/>
          </a:p>
        </p:txBody>
      </p:sp>
    </p:spTree>
    <p:extLst>
      <p:ext uri="{BB962C8B-B14F-4D97-AF65-F5344CB8AC3E}">
        <p14:creationId xmlns="" xmlns:p14="http://schemas.microsoft.com/office/powerpoint/2010/main" val="116767592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Overriding </a:t>
            </a:r>
            <a:r>
              <a:rPr lang="en-US" dirty="0"/>
              <a:t>a method in the </a:t>
            </a:r>
            <a:r>
              <a:rPr lang="en-US" dirty="0" smtClean="0"/>
              <a:t>subclass</a:t>
            </a:r>
            <a:endParaRPr lang="en-US" dirty="0"/>
          </a:p>
        </p:txBody>
      </p:sp>
      <p:sp>
        <p:nvSpPr>
          <p:cNvPr id="3" name="Content Placeholder 2"/>
          <p:cNvSpPr>
            <a:spLocks noGrp="1"/>
          </p:cNvSpPr>
          <p:nvPr>
            <p:ph idx="1"/>
          </p:nvPr>
        </p:nvSpPr>
        <p:spPr/>
        <p:txBody>
          <a:bodyPr/>
          <a:lstStyle/>
          <a:p>
            <a:r>
              <a:rPr lang="en-US" dirty="0"/>
              <a:t>The word “</a:t>
            </a:r>
            <a:r>
              <a:rPr lang="en-US" b="1" dirty="0"/>
              <a:t>polymorphism</a:t>
            </a:r>
            <a:r>
              <a:rPr lang="en-US" dirty="0"/>
              <a:t>” means that the one and same class may show many (“</a:t>
            </a:r>
            <a:r>
              <a:rPr lang="en-US" dirty="0" smtClean="0"/>
              <a:t>poly”)</a:t>
            </a:r>
            <a:r>
              <a:rPr lang="en-US" b="1" dirty="0" smtClean="0"/>
              <a:t> </a:t>
            </a:r>
            <a:r>
              <a:rPr lang="en-US" dirty="0" smtClean="0"/>
              <a:t>forms </a:t>
            </a:r>
            <a:r>
              <a:rPr lang="en-US" dirty="0"/>
              <a:t>(“</a:t>
            </a:r>
            <a:r>
              <a:rPr lang="en-US" i="1" dirty="0"/>
              <a:t>morphs</a:t>
            </a:r>
            <a:r>
              <a:rPr lang="en-US" dirty="0"/>
              <a:t>”) not defined by the class itself, but </a:t>
            </a:r>
            <a:r>
              <a:rPr lang="en-US" dirty="0">
                <a:solidFill>
                  <a:srgbClr val="FF0000"/>
                </a:solidFill>
              </a:rPr>
              <a:t>by its subclasses</a:t>
            </a:r>
            <a:r>
              <a:rPr lang="en-US" dirty="0" smtClean="0">
                <a:solidFill>
                  <a:srgbClr val="FF0000"/>
                </a:solidFill>
              </a:rPr>
              <a:t>.</a:t>
            </a:r>
          </a:p>
          <a:p>
            <a:pPr>
              <a:buNone/>
            </a:pPr>
            <a:endParaRPr lang="en-US" dirty="0">
              <a:solidFill>
                <a:srgbClr val="FF0000"/>
              </a:solidFill>
            </a:endParaRPr>
          </a:p>
          <a:p>
            <a:r>
              <a:rPr lang="en-US" dirty="0"/>
              <a:t>Another definition says that polymorphism is </a:t>
            </a:r>
            <a:r>
              <a:rPr lang="en-US" b="1" dirty="0"/>
              <a:t>the ability to realize class </a:t>
            </a:r>
            <a:r>
              <a:rPr lang="en-US" b="1" dirty="0" err="1"/>
              <a:t>behaviour</a:t>
            </a:r>
            <a:r>
              <a:rPr lang="en-US" b="1" dirty="0"/>
              <a:t> in multiple ways</a:t>
            </a:r>
            <a:r>
              <a:rPr lang="en-US" dirty="0"/>
              <a:t>. </a:t>
            </a:r>
            <a:endParaRPr lang="en-US" dirty="0" smtClean="0"/>
          </a:p>
          <a:p>
            <a:endParaRPr lang="en-US" dirty="0" smtClean="0"/>
          </a:p>
          <a:p>
            <a:endParaRPr lang="en-US" dirty="0" smtClean="0"/>
          </a:p>
          <a:p>
            <a:r>
              <a:rPr lang="en-US" dirty="0" smtClean="0"/>
              <a:t>Both </a:t>
            </a:r>
            <a:r>
              <a:rPr lang="en-US" dirty="0"/>
              <a:t>definitions are ambiguous and could not actually be used to explain the true nature of the phenomenon. </a:t>
            </a:r>
            <a:r>
              <a:rPr lang="en-US" dirty="0" smtClean="0"/>
              <a:t>I believe </a:t>
            </a:r>
            <a:r>
              <a:rPr lang="en-US" dirty="0"/>
              <a:t>that an example will work better.</a:t>
            </a:r>
          </a:p>
          <a:p>
            <a:endParaRPr lang="en-US" dirty="0"/>
          </a:p>
        </p:txBody>
      </p:sp>
      <p:sp>
        <p:nvSpPr>
          <p:cNvPr id="5" name="Slide Number Placeholder 4"/>
          <p:cNvSpPr>
            <a:spLocks noGrp="1"/>
          </p:cNvSpPr>
          <p:nvPr>
            <p:ph type="sldNum" sz="quarter" idx="12"/>
          </p:nvPr>
        </p:nvSpPr>
        <p:spPr/>
        <p:txBody>
          <a:bodyPr/>
          <a:lstStyle/>
          <a:p>
            <a:fld id="{9DF4E671-2CE7-4BC4-9D6E-ED7B9AC95417}" type="slidenum">
              <a:rPr lang="en-US" smtClean="0"/>
              <a:pPr/>
              <a:t>6</a:t>
            </a:fld>
            <a:endParaRPr lang="en-US" dirty="0"/>
          </a:p>
        </p:txBody>
      </p:sp>
    </p:spTree>
    <p:extLst>
      <p:ext uri="{BB962C8B-B14F-4D97-AF65-F5344CB8AC3E}">
        <p14:creationId xmlns="" xmlns:p14="http://schemas.microsoft.com/office/powerpoint/2010/main" val="142365476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381000"/>
            <a:ext cx="7543801" cy="897466"/>
          </a:xfrm>
        </p:spPr>
        <p:txBody>
          <a:bodyPr>
            <a:normAutofit fontScale="55000" lnSpcReduction="20000"/>
          </a:bodyPr>
          <a:lstStyle/>
          <a:p>
            <a:r>
              <a:rPr lang="en-US" sz="2900" dirty="0">
                <a:latin typeface="Calibri" pitchFamily="34" charset="0"/>
                <a:cs typeface="Calibri" pitchFamily="34" charset="0"/>
              </a:rPr>
              <a:t>Take a look at the code </a:t>
            </a:r>
            <a:r>
              <a:rPr lang="en-US" sz="2900" dirty="0" smtClean="0">
                <a:latin typeface="Calibri" pitchFamily="34" charset="0"/>
                <a:cs typeface="Calibri" pitchFamily="34" charset="0"/>
              </a:rPr>
              <a:t>below. </a:t>
            </a:r>
            <a:r>
              <a:rPr lang="en-US" sz="2900" dirty="0">
                <a:latin typeface="Calibri" pitchFamily="34" charset="0"/>
                <a:cs typeface="Calibri" pitchFamily="34" charset="0"/>
              </a:rPr>
              <a:t>It’s almost the same as the previous one. The </a:t>
            </a:r>
            <a:r>
              <a:rPr lang="en-US" sz="2900" i="1" dirty="0">
                <a:latin typeface="Calibri" pitchFamily="34" charset="0"/>
                <a:cs typeface="Calibri" pitchFamily="34" charset="0"/>
              </a:rPr>
              <a:t>main</a:t>
            </a:r>
            <a:r>
              <a:rPr lang="en-US" sz="2900" dirty="0">
                <a:latin typeface="Calibri" pitchFamily="34" charset="0"/>
                <a:cs typeface="Calibri" pitchFamily="34" charset="0"/>
              </a:rPr>
              <a:t> function may look different but the class definitions are nearly identical. There’s only one difference – one keyword has been added to the code. </a:t>
            </a:r>
            <a:endParaRPr lang="en-US" sz="2900" dirty="0" smtClean="0">
              <a:latin typeface="Calibri" pitchFamily="34" charset="0"/>
              <a:cs typeface="Calibri" pitchFamily="34" charset="0"/>
            </a:endParaRPr>
          </a:p>
          <a:p>
            <a:r>
              <a:rPr lang="en-US" dirty="0" smtClean="0">
                <a:solidFill>
                  <a:srgbClr val="FF0000"/>
                </a:solidFill>
                <a:latin typeface="Calibri" pitchFamily="34" charset="0"/>
                <a:cs typeface="Calibri" pitchFamily="34" charset="0"/>
              </a:rPr>
              <a:t>Can </a:t>
            </a:r>
            <a:r>
              <a:rPr lang="en-US" dirty="0">
                <a:solidFill>
                  <a:srgbClr val="FF0000"/>
                </a:solidFill>
                <a:latin typeface="Calibri" pitchFamily="34" charset="0"/>
                <a:cs typeface="Calibri" pitchFamily="34" charset="0"/>
              </a:rPr>
              <a:t>you find it?</a:t>
            </a:r>
          </a:p>
        </p:txBody>
      </p:sp>
      <p:pic>
        <p:nvPicPr>
          <p:cNvPr id="5" name="Picture 4"/>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152400" y="1371600"/>
            <a:ext cx="4800600" cy="4191000"/>
          </a:xfrm>
          <a:prstGeom prst="rect">
            <a:avLst/>
          </a:prstGeom>
          <a:ln w="3175">
            <a:solidFill>
              <a:schemeClr val="tx1"/>
            </a:solidFill>
          </a:ln>
        </p:spPr>
      </p:pic>
      <p:pic>
        <p:nvPicPr>
          <p:cNvPr id="6" name="Picture 5"/>
          <p:cNvPicPr>
            <a:picLocks noChangeAspect="1"/>
          </p:cNvPicPr>
          <p:nvPr/>
        </p:nvPicPr>
        <p:blipFill>
          <a:blip r:embed="rId3">
            <a:extLst>
              <a:ext uri="{28A0092B-C50C-407E-A947-70E740481C1C}">
                <a14:useLocalDpi xmlns="" xmlns:a14="http://schemas.microsoft.com/office/drawing/2010/main" val="0"/>
              </a:ext>
            </a:extLst>
          </a:blip>
          <a:stretch>
            <a:fillRect/>
          </a:stretch>
        </p:blipFill>
        <p:spPr>
          <a:xfrm>
            <a:off x="5029200" y="1295400"/>
            <a:ext cx="3949700" cy="3302000"/>
          </a:xfrm>
          <a:prstGeom prst="rect">
            <a:avLst/>
          </a:prstGeom>
          <a:ln w="3175">
            <a:solidFill>
              <a:schemeClr val="tx1"/>
            </a:solidFill>
          </a:ln>
        </p:spPr>
      </p:pic>
      <p:sp>
        <p:nvSpPr>
          <p:cNvPr id="7" name="Slide Number Placeholder 6"/>
          <p:cNvSpPr>
            <a:spLocks noGrp="1"/>
          </p:cNvSpPr>
          <p:nvPr>
            <p:ph type="sldNum" sz="quarter" idx="12"/>
          </p:nvPr>
        </p:nvSpPr>
        <p:spPr/>
        <p:txBody>
          <a:bodyPr/>
          <a:lstStyle/>
          <a:p>
            <a:fld id="{9DF4E671-2CE7-4BC4-9D6E-ED7B9AC95417}" type="slidenum">
              <a:rPr lang="en-US" smtClean="0"/>
              <a:pPr/>
              <a:t>7</a:t>
            </a:fld>
            <a:endParaRPr lang="en-US" dirty="0"/>
          </a:p>
        </p:txBody>
      </p:sp>
    </p:spTree>
    <p:extLst>
      <p:ext uri="{BB962C8B-B14F-4D97-AF65-F5344CB8AC3E}">
        <p14:creationId xmlns="" xmlns:p14="http://schemas.microsoft.com/office/powerpoint/2010/main" val="174962424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Overriding </a:t>
            </a:r>
            <a:r>
              <a:rPr lang="en-US" dirty="0"/>
              <a:t>a method in the </a:t>
            </a:r>
            <a:r>
              <a:rPr lang="en-US" dirty="0" smtClean="0"/>
              <a:t>subclass</a:t>
            </a:r>
            <a:endParaRPr lang="en-US" dirty="0"/>
          </a:p>
        </p:txBody>
      </p:sp>
      <p:sp>
        <p:nvSpPr>
          <p:cNvPr id="3" name="Content Placeholder 2"/>
          <p:cNvSpPr>
            <a:spLocks noGrp="1"/>
          </p:cNvSpPr>
          <p:nvPr>
            <p:ph idx="1"/>
          </p:nvPr>
        </p:nvSpPr>
        <p:spPr/>
        <p:txBody>
          <a:bodyPr>
            <a:normAutofit fontScale="92500" lnSpcReduction="20000"/>
          </a:bodyPr>
          <a:lstStyle/>
          <a:p>
            <a:pPr marL="0" indent="0">
              <a:buNone/>
            </a:pPr>
            <a:r>
              <a:rPr lang="en-US" dirty="0"/>
              <a:t>Yes, you’re right – it’s the word “</a:t>
            </a:r>
            <a:r>
              <a:rPr lang="en-US" b="1" dirty="0"/>
              <a:t>virtual</a:t>
            </a:r>
            <a:r>
              <a:rPr lang="en-US" dirty="0"/>
              <a:t>”, placed in front of the </a:t>
            </a:r>
            <a:r>
              <a:rPr lang="en-US" i="1" dirty="0" err="1"/>
              <a:t>MakeSound</a:t>
            </a:r>
            <a:r>
              <a:rPr lang="en-US" dirty="0"/>
              <a:t> member function, inside the </a:t>
            </a:r>
            <a:r>
              <a:rPr lang="en-US" i="1" dirty="0"/>
              <a:t>Pet</a:t>
            </a:r>
            <a:r>
              <a:rPr lang="en-US" dirty="0"/>
              <a:t> class body.</a:t>
            </a:r>
          </a:p>
          <a:p>
            <a:pPr marL="0" indent="0">
              <a:buNone/>
            </a:pPr>
            <a:r>
              <a:rPr lang="en-US" dirty="0"/>
              <a:t>This word means that the method won’t be overridden within any of the possible subclasses. It also means that the method will be </a:t>
            </a:r>
            <a:r>
              <a:rPr lang="en-US" b="1" dirty="0"/>
              <a:t>redefined</a:t>
            </a:r>
            <a:r>
              <a:rPr lang="en-US" dirty="0"/>
              <a:t>(replaced) at the level of the original class. </a:t>
            </a:r>
          </a:p>
          <a:p>
            <a:pPr marL="0" indent="0">
              <a:buNone/>
            </a:pPr>
            <a:r>
              <a:rPr lang="en-US" dirty="0"/>
              <a:t>To make a long story short – the example program will output a somewhat surprising piece of text. This is how it goes:</a:t>
            </a:r>
          </a:p>
          <a:p>
            <a:pPr marL="0" indent="0">
              <a:buNone/>
            </a:pPr>
            <a:r>
              <a:rPr lang="en-US" dirty="0"/>
              <a:t> </a:t>
            </a:r>
          </a:p>
          <a:p>
            <a:pPr marL="0" indent="0">
              <a:buNone/>
            </a:pPr>
            <a:r>
              <a:rPr lang="en-US" dirty="0"/>
              <a:t>Kitty the Cat says: Meow! Meow!</a:t>
            </a:r>
          </a:p>
          <a:p>
            <a:pPr marL="0" indent="0">
              <a:buNone/>
            </a:pPr>
            <a:r>
              <a:rPr lang="en-US" dirty="0"/>
              <a:t>Kitty the Cat says: Meow! Meow!</a:t>
            </a:r>
          </a:p>
          <a:p>
            <a:pPr marL="0" indent="0">
              <a:buNone/>
            </a:pPr>
            <a:r>
              <a:rPr lang="en-US" dirty="0"/>
              <a:t>Kitty the Cat says: Meow! Meow!</a:t>
            </a:r>
          </a:p>
          <a:p>
            <a:pPr marL="0" indent="0">
              <a:buNone/>
            </a:pPr>
            <a:r>
              <a:rPr lang="en-US" dirty="0"/>
              <a:t>Doggie the Dog says: Woof! Woof!</a:t>
            </a:r>
          </a:p>
          <a:p>
            <a:pPr marL="0" indent="0">
              <a:buNone/>
            </a:pPr>
            <a:r>
              <a:rPr lang="en-US" dirty="0"/>
              <a:t>Doggie the Dog says: Woof! Woof!</a:t>
            </a:r>
          </a:p>
          <a:p>
            <a:pPr marL="0" indent="0">
              <a:buNone/>
            </a:pPr>
            <a:r>
              <a:rPr lang="en-US" dirty="0"/>
              <a:t>Doggie the Dog says: Woof! Woof</a:t>
            </a:r>
            <a:r>
              <a:rPr lang="en-US" dirty="0" smtClean="0"/>
              <a:t>!</a:t>
            </a:r>
            <a:endParaRPr lang="en-US" dirty="0"/>
          </a:p>
        </p:txBody>
      </p:sp>
      <p:sp>
        <p:nvSpPr>
          <p:cNvPr id="5" name="Slide Number Placeholder 4"/>
          <p:cNvSpPr>
            <a:spLocks noGrp="1"/>
          </p:cNvSpPr>
          <p:nvPr>
            <p:ph type="sldNum" sz="quarter" idx="12"/>
          </p:nvPr>
        </p:nvSpPr>
        <p:spPr/>
        <p:txBody>
          <a:bodyPr/>
          <a:lstStyle/>
          <a:p>
            <a:fld id="{9DF4E671-2CE7-4BC4-9D6E-ED7B9AC95417}" type="slidenum">
              <a:rPr lang="en-US" smtClean="0"/>
              <a:pPr/>
              <a:t>8</a:t>
            </a:fld>
            <a:endParaRPr lang="en-US" dirty="0"/>
          </a:p>
        </p:txBody>
      </p:sp>
    </p:spTree>
    <p:extLst>
      <p:ext uri="{BB962C8B-B14F-4D97-AF65-F5344CB8AC3E}">
        <p14:creationId xmlns="" xmlns:p14="http://schemas.microsoft.com/office/powerpoint/2010/main" val="44117457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6.3.4 Overriding a method in the subclass (4)</a:t>
            </a:r>
          </a:p>
        </p:txBody>
      </p:sp>
      <p:sp>
        <p:nvSpPr>
          <p:cNvPr id="3" name="Content Placeholder 2"/>
          <p:cNvSpPr>
            <a:spLocks noGrp="1"/>
          </p:cNvSpPr>
          <p:nvPr>
            <p:ph idx="1"/>
          </p:nvPr>
        </p:nvSpPr>
        <p:spPr>
          <a:xfrm>
            <a:off x="822959" y="1845734"/>
            <a:ext cx="7543801" cy="1126066"/>
          </a:xfrm>
        </p:spPr>
        <p:txBody>
          <a:bodyPr>
            <a:normAutofit fontScale="70000" lnSpcReduction="20000"/>
          </a:bodyPr>
          <a:lstStyle/>
          <a:p>
            <a:pPr marL="0" indent="0">
              <a:buNone/>
            </a:pPr>
            <a:r>
              <a:rPr lang="en-US" dirty="0"/>
              <a:t>The next example shows that the binding between the origin of the virtual function (inside the superclass) and its replacement (defined within the subclass) is created dynamically, during the execution of the program. </a:t>
            </a:r>
          </a:p>
          <a:p>
            <a:pPr marL="0" indent="0">
              <a:buNone/>
            </a:pPr>
            <a:r>
              <a:rPr lang="en-US" dirty="0"/>
              <a:t>Take a look at the example →</a:t>
            </a:r>
          </a:p>
          <a:p>
            <a:endParaRPr lang="en-US" dirty="0"/>
          </a:p>
        </p:txBody>
      </p:sp>
      <p:pic>
        <p:nvPicPr>
          <p:cNvPr id="6" name="Picture 5"/>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5826760" y="4038600"/>
            <a:ext cx="2540000" cy="2133600"/>
          </a:xfrm>
          <a:prstGeom prst="rect">
            <a:avLst/>
          </a:prstGeom>
        </p:spPr>
      </p:pic>
      <p:pic>
        <p:nvPicPr>
          <p:cNvPr id="7" name="Picture 6"/>
          <p:cNvPicPr>
            <a:picLocks noChangeAspect="1"/>
          </p:cNvPicPr>
          <p:nvPr/>
        </p:nvPicPr>
        <p:blipFill>
          <a:blip r:embed="rId3">
            <a:extLst>
              <a:ext uri="{28A0092B-C50C-407E-A947-70E740481C1C}">
                <a14:useLocalDpi xmlns="" xmlns:a14="http://schemas.microsoft.com/office/drawing/2010/main" val="0"/>
              </a:ext>
            </a:extLst>
          </a:blip>
          <a:stretch>
            <a:fillRect/>
          </a:stretch>
        </p:blipFill>
        <p:spPr>
          <a:xfrm>
            <a:off x="835510" y="2855609"/>
            <a:ext cx="4498490" cy="3419246"/>
          </a:xfrm>
          <a:prstGeom prst="rect">
            <a:avLst/>
          </a:prstGeom>
        </p:spPr>
      </p:pic>
      <p:sp>
        <p:nvSpPr>
          <p:cNvPr id="8" name="Slide Number Placeholder 7"/>
          <p:cNvSpPr>
            <a:spLocks noGrp="1"/>
          </p:cNvSpPr>
          <p:nvPr>
            <p:ph type="sldNum" sz="quarter" idx="12"/>
          </p:nvPr>
        </p:nvSpPr>
        <p:spPr/>
        <p:txBody>
          <a:bodyPr/>
          <a:lstStyle/>
          <a:p>
            <a:fld id="{9DF4E671-2CE7-4BC4-9D6E-ED7B9AC95417}" type="slidenum">
              <a:rPr lang="en-US" smtClean="0"/>
              <a:pPr/>
              <a:t>9</a:t>
            </a:fld>
            <a:endParaRPr lang="en-US" dirty="0"/>
          </a:p>
        </p:txBody>
      </p:sp>
    </p:spTree>
    <p:extLst>
      <p:ext uri="{BB962C8B-B14F-4D97-AF65-F5344CB8AC3E}">
        <p14:creationId xmlns="" xmlns:p14="http://schemas.microsoft.com/office/powerpoint/2010/main" val="57295200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6.3.4 Overriding a method in the subclass (4)</a:t>
            </a:r>
          </a:p>
        </p:txBody>
      </p:sp>
      <p:sp>
        <p:nvSpPr>
          <p:cNvPr id="3" name="Content Placeholder 2"/>
          <p:cNvSpPr>
            <a:spLocks noGrp="1"/>
          </p:cNvSpPr>
          <p:nvPr>
            <p:ph idx="1"/>
          </p:nvPr>
        </p:nvSpPr>
        <p:spPr/>
        <p:txBody>
          <a:bodyPr>
            <a:normAutofit lnSpcReduction="10000"/>
          </a:bodyPr>
          <a:lstStyle/>
          <a:p>
            <a:pPr marL="0" indent="0">
              <a:buNone/>
            </a:pPr>
            <a:r>
              <a:rPr lang="en-US" dirty="0"/>
              <a:t>We invoke the </a:t>
            </a:r>
            <a:r>
              <a:rPr lang="en-US" i="1" dirty="0" err="1"/>
              <a:t>MakeSound</a:t>
            </a:r>
            <a:r>
              <a:rPr lang="en-US" dirty="0"/>
              <a:t> method as part of the </a:t>
            </a:r>
            <a:r>
              <a:rPr lang="en-US" i="1" dirty="0"/>
              <a:t>Pet</a:t>
            </a:r>
            <a:r>
              <a:rPr lang="en-US" dirty="0"/>
              <a:t> constructor. We already know that the method is </a:t>
            </a:r>
            <a:r>
              <a:rPr lang="en-US" b="1" dirty="0" err="1"/>
              <a:t>polymorphically</a:t>
            </a:r>
            <a:r>
              <a:rPr lang="en-US" dirty="0"/>
              <a:t> replaced by the new implementations presented by the </a:t>
            </a:r>
            <a:r>
              <a:rPr lang="en-US" i="1" dirty="0"/>
              <a:t>Cat</a:t>
            </a:r>
            <a:r>
              <a:rPr lang="en-US" dirty="0"/>
              <a:t> and </a:t>
            </a:r>
            <a:r>
              <a:rPr lang="en-US" i="1" dirty="0"/>
              <a:t>Dog</a:t>
            </a:r>
            <a:r>
              <a:rPr lang="en-US" dirty="0"/>
              <a:t> subclasses. We don’t know yet </a:t>
            </a:r>
            <a:r>
              <a:rPr lang="en-US" b="1" dirty="0"/>
              <a:t>when</a:t>
            </a:r>
            <a:r>
              <a:rPr lang="en-US" dirty="0"/>
              <a:t> the replacement occurs.</a:t>
            </a:r>
          </a:p>
          <a:p>
            <a:pPr marL="0" indent="0">
              <a:buNone/>
            </a:pPr>
            <a:r>
              <a:rPr lang="en-US" dirty="0"/>
              <a:t>The program will output the following lines:</a:t>
            </a:r>
          </a:p>
          <a:p>
            <a:pPr marL="0" indent="0">
              <a:buNone/>
            </a:pPr>
            <a:r>
              <a:rPr lang="en-US" dirty="0"/>
              <a:t> </a:t>
            </a:r>
          </a:p>
          <a:p>
            <a:pPr marL="0" indent="0">
              <a:buNone/>
            </a:pPr>
            <a:r>
              <a:rPr lang="en-US" dirty="0"/>
              <a:t>Kitty the Pet says: </a:t>
            </a:r>
            <a:r>
              <a:rPr lang="en-US" dirty="0" err="1"/>
              <a:t>Shh</a:t>
            </a:r>
            <a:r>
              <a:rPr lang="en-US" dirty="0"/>
              <a:t>! </a:t>
            </a:r>
            <a:r>
              <a:rPr lang="en-US" dirty="0" err="1"/>
              <a:t>Shh</a:t>
            </a:r>
            <a:r>
              <a:rPr lang="en-US" dirty="0"/>
              <a:t>!</a:t>
            </a:r>
          </a:p>
          <a:p>
            <a:pPr marL="0" indent="0">
              <a:buNone/>
            </a:pPr>
            <a:r>
              <a:rPr lang="en-US" dirty="0"/>
              <a:t>Doggie the Pet says: </a:t>
            </a:r>
            <a:r>
              <a:rPr lang="en-US" dirty="0" err="1"/>
              <a:t>Shh</a:t>
            </a:r>
            <a:r>
              <a:rPr lang="en-US" dirty="0"/>
              <a:t>! </a:t>
            </a:r>
            <a:r>
              <a:rPr lang="en-US" dirty="0" err="1"/>
              <a:t>Shh</a:t>
            </a:r>
            <a:r>
              <a:rPr lang="en-US" dirty="0"/>
              <a:t>!</a:t>
            </a:r>
          </a:p>
          <a:p>
            <a:pPr marL="0" indent="0">
              <a:buNone/>
            </a:pPr>
            <a:r>
              <a:rPr lang="en-US" dirty="0"/>
              <a:t> </a:t>
            </a:r>
          </a:p>
          <a:p>
            <a:pPr marL="0" indent="0">
              <a:buNone/>
            </a:pPr>
            <a:r>
              <a:rPr lang="en-US" dirty="0"/>
              <a:t>This means that the binding between the original functions and their polymorphic implementations is established when the subclass object is created, not sooner.</a:t>
            </a:r>
          </a:p>
          <a:p>
            <a:endParaRPr lang="en-US" dirty="0"/>
          </a:p>
        </p:txBody>
      </p:sp>
      <p:sp>
        <p:nvSpPr>
          <p:cNvPr id="5" name="Slide Number Placeholder 4"/>
          <p:cNvSpPr>
            <a:spLocks noGrp="1"/>
          </p:cNvSpPr>
          <p:nvPr>
            <p:ph type="sldNum" sz="quarter" idx="12"/>
          </p:nvPr>
        </p:nvSpPr>
        <p:spPr/>
        <p:txBody>
          <a:bodyPr/>
          <a:lstStyle/>
          <a:p>
            <a:fld id="{9DF4E671-2CE7-4BC4-9D6E-ED7B9AC95417}" type="slidenum">
              <a:rPr lang="en-US" smtClean="0"/>
              <a:pPr/>
              <a:t>10</a:t>
            </a:fld>
            <a:endParaRPr lang="en-US" dirty="0"/>
          </a:p>
        </p:txBody>
      </p:sp>
    </p:spTree>
    <p:extLst>
      <p:ext uri="{BB962C8B-B14F-4D97-AF65-F5344CB8AC3E}">
        <p14:creationId xmlns="" xmlns:p14="http://schemas.microsoft.com/office/powerpoint/2010/main" val="28760765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6.3.5 Overriding a method in the subclass (5)</a:t>
            </a:r>
          </a:p>
        </p:txBody>
      </p:sp>
      <p:sp>
        <p:nvSpPr>
          <p:cNvPr id="3" name="Content Placeholder 2"/>
          <p:cNvSpPr>
            <a:spLocks noGrp="1"/>
          </p:cNvSpPr>
          <p:nvPr>
            <p:ph idx="1"/>
          </p:nvPr>
        </p:nvSpPr>
        <p:spPr>
          <a:xfrm>
            <a:off x="719941" y="1870886"/>
            <a:ext cx="7646820" cy="1126066"/>
          </a:xfrm>
        </p:spPr>
        <p:txBody>
          <a:bodyPr>
            <a:normAutofit fontScale="62500" lnSpcReduction="20000"/>
          </a:bodyPr>
          <a:lstStyle/>
          <a:p>
            <a:r>
              <a:rPr lang="en-US" i="1" dirty="0"/>
              <a:t>Overriding a method in the subclass – </a:t>
            </a:r>
            <a:r>
              <a:rPr lang="en-US" i="1" dirty="0" smtClean="0"/>
              <a:t>continued</a:t>
            </a:r>
            <a:endParaRPr lang="en-US" dirty="0"/>
          </a:p>
          <a:p>
            <a:r>
              <a:rPr lang="en-US" dirty="0"/>
              <a:t>The experiment we’re going to perform using our software guinea pig refers to the fact that the virtual method may be invoked not only from outside the class but also from within. </a:t>
            </a:r>
          </a:p>
          <a:p>
            <a:r>
              <a:rPr lang="en-US" dirty="0"/>
              <a:t>Check out this example, please →</a:t>
            </a:r>
          </a:p>
          <a:p>
            <a:endParaRPr lang="en-US" dirty="0"/>
          </a:p>
        </p:txBody>
      </p:sp>
      <p:pic>
        <p:nvPicPr>
          <p:cNvPr id="5" name="Picture 4"/>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719940" y="2895600"/>
            <a:ext cx="4309260" cy="3440620"/>
          </a:xfrm>
          <a:prstGeom prst="rect">
            <a:avLst/>
          </a:prstGeom>
        </p:spPr>
      </p:pic>
      <p:pic>
        <p:nvPicPr>
          <p:cNvPr id="7" name="Picture 6"/>
          <p:cNvPicPr>
            <a:picLocks noChangeAspect="1"/>
          </p:cNvPicPr>
          <p:nvPr/>
        </p:nvPicPr>
        <p:blipFill>
          <a:blip r:embed="rId3">
            <a:extLst>
              <a:ext uri="{28A0092B-C50C-407E-A947-70E740481C1C}">
                <a14:useLocalDpi xmlns="" xmlns:a14="http://schemas.microsoft.com/office/drawing/2010/main" val="0"/>
              </a:ext>
            </a:extLst>
          </a:blip>
          <a:stretch>
            <a:fillRect/>
          </a:stretch>
        </p:blipFill>
        <p:spPr>
          <a:xfrm>
            <a:off x="5725160" y="3496594"/>
            <a:ext cx="2641600" cy="2438400"/>
          </a:xfrm>
          <a:prstGeom prst="rect">
            <a:avLst/>
          </a:prstGeom>
        </p:spPr>
      </p:pic>
      <p:sp>
        <p:nvSpPr>
          <p:cNvPr id="8" name="Slide Number Placeholder 7"/>
          <p:cNvSpPr>
            <a:spLocks noGrp="1"/>
          </p:cNvSpPr>
          <p:nvPr>
            <p:ph type="sldNum" sz="quarter" idx="12"/>
          </p:nvPr>
        </p:nvSpPr>
        <p:spPr/>
        <p:txBody>
          <a:bodyPr/>
          <a:lstStyle/>
          <a:p>
            <a:fld id="{9DF4E671-2CE7-4BC4-9D6E-ED7B9AC95417}" type="slidenum">
              <a:rPr lang="en-US" smtClean="0"/>
              <a:pPr/>
              <a:t>11</a:t>
            </a:fld>
            <a:endParaRPr lang="en-US" dirty="0"/>
          </a:p>
        </p:txBody>
      </p:sp>
    </p:spTree>
    <p:extLst>
      <p:ext uri="{BB962C8B-B14F-4D97-AF65-F5344CB8AC3E}">
        <p14:creationId xmlns="" xmlns:p14="http://schemas.microsoft.com/office/powerpoint/2010/main" val="198371906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Number Placeholder 5"/>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lr>
                <a:srgbClr val="000066"/>
              </a:buClr>
              <a:buChar char="•"/>
              <a:defRPr sz="2800">
                <a:solidFill>
                  <a:schemeClr val="tx1"/>
                </a:solidFill>
                <a:latin typeface="Arial" charset="0"/>
              </a:defRPr>
            </a:lvl1pPr>
            <a:lvl2pPr marL="742950" indent="-285750">
              <a:spcBef>
                <a:spcPct val="20000"/>
              </a:spcBef>
              <a:buClr>
                <a:schemeClr val="accent1"/>
              </a:buClr>
              <a:buFont typeface="Arial" charset="0"/>
              <a:buChar char="−"/>
              <a:defRPr sz="2600">
                <a:solidFill>
                  <a:schemeClr val="tx1"/>
                </a:solidFill>
                <a:latin typeface="Arial" charset="0"/>
              </a:defRPr>
            </a:lvl2pPr>
            <a:lvl3pPr marL="1143000" indent="-228600">
              <a:spcBef>
                <a:spcPct val="20000"/>
              </a:spcBef>
              <a:buClr>
                <a:srgbClr val="000066"/>
              </a:buClr>
              <a:buChar char="•"/>
              <a:defRPr sz="2300">
                <a:solidFill>
                  <a:schemeClr val="tx1"/>
                </a:solidFill>
                <a:latin typeface="Arial" charset="0"/>
              </a:defRPr>
            </a:lvl3pPr>
            <a:lvl4pPr marL="1600200" indent="-228600">
              <a:spcBef>
                <a:spcPct val="20000"/>
              </a:spcBef>
              <a:buClr>
                <a:srgbClr val="000066"/>
              </a:buClr>
              <a:buChar char="•"/>
              <a:defRPr sz="2000">
                <a:solidFill>
                  <a:schemeClr val="tx1"/>
                </a:solidFill>
                <a:latin typeface="Arial" charset="0"/>
              </a:defRPr>
            </a:lvl4pPr>
            <a:lvl5pPr marL="2057400" indent="-228600">
              <a:spcBef>
                <a:spcPct val="20000"/>
              </a:spcBef>
              <a:buClr>
                <a:srgbClr val="000066"/>
              </a:buClr>
              <a:buChar char="•"/>
              <a:defRPr sz="2000">
                <a:solidFill>
                  <a:schemeClr val="tx1"/>
                </a:solidFill>
                <a:latin typeface="Arial" charset="0"/>
              </a:defRPr>
            </a:lvl5pPr>
            <a:lvl6pPr marL="2514600" indent="-228600" eaLnBrk="0" fontAlgn="base" hangingPunct="0">
              <a:spcBef>
                <a:spcPct val="20000"/>
              </a:spcBef>
              <a:spcAft>
                <a:spcPct val="0"/>
              </a:spcAft>
              <a:buClr>
                <a:srgbClr val="000066"/>
              </a:buClr>
              <a:buChar char="•"/>
              <a:defRPr sz="2000">
                <a:solidFill>
                  <a:schemeClr val="tx1"/>
                </a:solidFill>
                <a:latin typeface="Arial" charset="0"/>
              </a:defRPr>
            </a:lvl6pPr>
            <a:lvl7pPr marL="2971800" indent="-228600" eaLnBrk="0" fontAlgn="base" hangingPunct="0">
              <a:spcBef>
                <a:spcPct val="20000"/>
              </a:spcBef>
              <a:spcAft>
                <a:spcPct val="0"/>
              </a:spcAft>
              <a:buClr>
                <a:srgbClr val="000066"/>
              </a:buClr>
              <a:buChar char="•"/>
              <a:defRPr sz="2000">
                <a:solidFill>
                  <a:schemeClr val="tx1"/>
                </a:solidFill>
                <a:latin typeface="Arial" charset="0"/>
              </a:defRPr>
            </a:lvl7pPr>
            <a:lvl8pPr marL="3429000" indent="-228600" eaLnBrk="0" fontAlgn="base" hangingPunct="0">
              <a:spcBef>
                <a:spcPct val="20000"/>
              </a:spcBef>
              <a:spcAft>
                <a:spcPct val="0"/>
              </a:spcAft>
              <a:buClr>
                <a:srgbClr val="000066"/>
              </a:buClr>
              <a:buChar char="•"/>
              <a:defRPr sz="2000">
                <a:solidFill>
                  <a:schemeClr val="tx1"/>
                </a:solidFill>
                <a:latin typeface="Arial" charset="0"/>
              </a:defRPr>
            </a:lvl8pPr>
            <a:lvl9pPr marL="3886200" indent="-228600" eaLnBrk="0" fontAlgn="base" hangingPunct="0">
              <a:spcBef>
                <a:spcPct val="20000"/>
              </a:spcBef>
              <a:spcAft>
                <a:spcPct val="0"/>
              </a:spcAft>
              <a:buClr>
                <a:srgbClr val="000066"/>
              </a:buClr>
              <a:buChar char="•"/>
              <a:defRPr sz="2000">
                <a:solidFill>
                  <a:schemeClr val="tx1"/>
                </a:solidFill>
                <a:latin typeface="Arial" charset="0"/>
              </a:defRPr>
            </a:lvl9pPr>
          </a:lstStyle>
          <a:p>
            <a:pPr>
              <a:spcBef>
                <a:spcPct val="0"/>
              </a:spcBef>
              <a:buClrTx/>
              <a:buFontTx/>
              <a:buNone/>
            </a:pPr>
            <a:fld id="{E7562D62-363D-1E45-B1B3-E688D7B8EAFD}" type="slidenum">
              <a:rPr lang="en-US" altLang="en-US" sz="1000"/>
              <a:pPr>
                <a:spcBef>
                  <a:spcPct val="0"/>
                </a:spcBef>
                <a:buClrTx/>
                <a:buFontTx/>
                <a:buNone/>
              </a:pPr>
              <a:t>12</a:t>
            </a:fld>
            <a:endParaRPr lang="en-US" altLang="en-US" sz="1000"/>
          </a:p>
        </p:txBody>
      </p:sp>
      <p:sp>
        <p:nvSpPr>
          <p:cNvPr id="92163" name="Rectangle 2"/>
          <p:cNvSpPr>
            <a:spLocks noGrp="1" noChangeArrowheads="1"/>
          </p:cNvSpPr>
          <p:nvPr>
            <p:ph type="title"/>
          </p:nvPr>
        </p:nvSpPr>
        <p:spPr/>
        <p:txBody>
          <a:bodyPr/>
          <a:lstStyle/>
          <a:p>
            <a:pPr eaLnBrk="1" hangingPunct="1"/>
            <a:r>
              <a:rPr lang="en-US" altLang="en-US"/>
              <a:t>Classes and Virtual Destructors</a:t>
            </a:r>
          </a:p>
        </p:txBody>
      </p:sp>
      <p:sp>
        <p:nvSpPr>
          <p:cNvPr id="92164" name="Rectangle 3"/>
          <p:cNvSpPr>
            <a:spLocks noGrp="1" noChangeArrowheads="1"/>
          </p:cNvSpPr>
          <p:nvPr>
            <p:ph type="body" idx="1"/>
          </p:nvPr>
        </p:nvSpPr>
        <p:spPr/>
        <p:txBody>
          <a:bodyPr/>
          <a:lstStyle/>
          <a:p>
            <a:pPr eaLnBrk="1" hangingPunct="1"/>
            <a:r>
              <a:rPr lang="en-US" altLang="en-US"/>
              <a:t>Classes with pointer member variables should have the destructor</a:t>
            </a:r>
          </a:p>
          <a:p>
            <a:pPr lvl="1" eaLnBrk="1" hangingPunct="1"/>
            <a:r>
              <a:rPr lang="en-US" altLang="en-US"/>
              <a:t>Destructor can be designed to deallocate storage for dynamic objects</a:t>
            </a:r>
          </a:p>
          <a:p>
            <a:pPr eaLnBrk="1" hangingPunct="1"/>
            <a:r>
              <a:rPr lang="en-US" altLang="en-US"/>
              <a:t>If a derived class object is passed to a formal parameter of the base class type, destructor of the base class executes</a:t>
            </a:r>
          </a:p>
          <a:p>
            <a:pPr lvl="1" eaLnBrk="1" hangingPunct="1"/>
            <a:r>
              <a:rPr lang="en-US" altLang="en-US"/>
              <a:t>Regardless of whether object is passed by reference or by value</a:t>
            </a:r>
          </a:p>
          <a:p>
            <a:pPr eaLnBrk="1" hangingPunct="1"/>
            <a:r>
              <a:rPr lang="en-US" altLang="en-US"/>
              <a:t>Solution: use a virtual destructor (base class)</a:t>
            </a:r>
          </a:p>
        </p:txBody>
      </p:sp>
    </p:spTree>
    <p:extLst>
      <p:ext uri="{BB962C8B-B14F-4D97-AF65-F5344CB8AC3E}">
        <p14:creationId xmlns="" xmlns:p14="http://schemas.microsoft.com/office/powerpoint/2010/main" val="45541422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8"/>
          <p:cNvSpPr>
            <a:spLocks noGrp="1" noChangeArrowheads="1"/>
          </p:cNvSpPr>
          <p:nvPr>
            <p:ph type="title"/>
          </p:nvPr>
        </p:nvSpPr>
        <p:spPr/>
        <p:txBody>
          <a:bodyPr/>
          <a:lstStyle/>
          <a:p>
            <a:endParaRPr lang="en-US" altLang="en-US"/>
          </a:p>
        </p:txBody>
      </p:sp>
      <p:pic>
        <p:nvPicPr>
          <p:cNvPr id="93186" name="Picture 4" descr="untitled"/>
          <p:cNvPicPr>
            <a:picLocks noGrp="1" noChangeAspect="1" noChangeArrowheads="1"/>
          </p:cNvPicPr>
          <p:nvPr>
            <p:ph sz="half" idx="1"/>
          </p:nvPr>
        </p:nvPicPr>
        <p:blipFill>
          <a:blip r:embed="rId2">
            <a:extLst>
              <a:ext uri="{28A0092B-C50C-407E-A947-70E740481C1C}">
                <a14:useLocalDpi xmlns="" xmlns:a14="http://schemas.microsoft.com/office/drawing/2010/main" val="0"/>
              </a:ext>
            </a:extLst>
          </a:blip>
          <a:srcRect/>
          <a:stretch>
            <a:fillRect/>
          </a:stretch>
        </p:blipFill>
        <p:spPr>
          <a:xfrm>
            <a:off x="304800" y="304800"/>
            <a:ext cx="6781800" cy="6557963"/>
          </a:xfrm>
        </p:spPr>
      </p:pic>
      <p:pic>
        <p:nvPicPr>
          <p:cNvPr id="108551" name="Picture 7" descr="untitled"/>
          <p:cNvPicPr>
            <a:picLocks noGrp="1" noChangeAspect="1" noChangeArrowheads="1"/>
          </p:cNvPicPr>
          <p:nvPr>
            <p:ph sz="half" idx="2"/>
          </p:nvPr>
        </p:nvPicPr>
        <p:blipFill>
          <a:blip r:embed="rId3">
            <a:extLst>
              <a:ext uri="{28A0092B-C50C-407E-A947-70E740481C1C}">
                <a14:useLocalDpi xmlns="" xmlns:a14="http://schemas.microsoft.com/office/drawing/2010/main" val="0"/>
              </a:ext>
            </a:extLst>
          </a:blip>
          <a:srcRect/>
          <a:stretch>
            <a:fillRect/>
          </a:stretch>
        </p:blipFill>
        <p:spPr>
          <a:xfrm>
            <a:off x="4419600" y="4572000"/>
            <a:ext cx="4114800" cy="1933575"/>
          </a:xfrm>
        </p:spPr>
      </p:pic>
      <p:sp>
        <p:nvSpPr>
          <p:cNvPr id="5" name="Slide Number Placeholder 4"/>
          <p:cNvSpPr>
            <a:spLocks noGrp="1"/>
          </p:cNvSpPr>
          <p:nvPr>
            <p:ph type="sldNum" sz="quarter" idx="12"/>
          </p:nvPr>
        </p:nvSpPr>
        <p:spPr/>
        <p:txBody>
          <a:bodyPr/>
          <a:lstStyle/>
          <a:p>
            <a:fld id="{9DF4E671-2CE7-4BC4-9D6E-ED7B9AC95417}" type="slidenum">
              <a:rPr lang="en-US" smtClean="0"/>
              <a:pPr/>
              <a:t>13</a:t>
            </a:fld>
            <a:endParaRPr lang="en-US" dirty="0"/>
          </a:p>
        </p:txBody>
      </p:sp>
    </p:spTree>
    <p:extLst>
      <p:ext uri="{BB962C8B-B14F-4D97-AF65-F5344CB8AC3E}">
        <p14:creationId xmlns="" xmlns:p14="http://schemas.microsoft.com/office/powerpoint/2010/main" val="5152120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08551"/>
                                        </p:tgtEl>
                                        <p:attrNameLst>
                                          <p:attrName>style.visibility</p:attrName>
                                        </p:attrNameLst>
                                      </p:cBhvr>
                                      <p:to>
                                        <p:strVal val="visible"/>
                                      </p:to>
                                    </p:set>
                                    <p:animEffect transition="in" filter="blinds(horizontal)">
                                      <p:cBhvr>
                                        <p:cTn id="7" dur="500"/>
                                        <p:tgtEl>
                                          <p:spTgt spid="1085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p:cNvSpPr>
            <a:spLocks noGrp="1" noChangeArrowheads="1"/>
          </p:cNvSpPr>
          <p:nvPr>
            <p:ph type="title"/>
          </p:nvPr>
        </p:nvSpPr>
        <p:spPr/>
        <p:txBody>
          <a:bodyPr/>
          <a:lstStyle/>
          <a:p>
            <a:endParaRPr lang="en-US" altLang="en-US"/>
          </a:p>
        </p:txBody>
      </p:sp>
      <p:pic>
        <p:nvPicPr>
          <p:cNvPr id="94210" name="Picture 6" descr="untitled"/>
          <p:cNvPicPr>
            <a:picLocks noGrp="1" noChangeAspect="1" noChangeArrowheads="1"/>
          </p:cNvPicPr>
          <p:nvPr>
            <p:ph sz="half" idx="1"/>
          </p:nvPr>
        </p:nvPicPr>
        <p:blipFill>
          <a:blip r:embed="rId2">
            <a:extLst>
              <a:ext uri="{28A0092B-C50C-407E-A947-70E740481C1C}">
                <a14:useLocalDpi xmlns="" xmlns:a14="http://schemas.microsoft.com/office/drawing/2010/main" val="0"/>
              </a:ext>
            </a:extLst>
          </a:blip>
          <a:srcRect/>
          <a:stretch>
            <a:fillRect/>
          </a:stretch>
        </p:blipFill>
        <p:spPr>
          <a:xfrm>
            <a:off x="304800" y="0"/>
            <a:ext cx="6553200" cy="6521450"/>
          </a:xfrm>
        </p:spPr>
      </p:pic>
      <p:pic>
        <p:nvPicPr>
          <p:cNvPr id="111624" name="Picture 8" descr="untitled"/>
          <p:cNvPicPr>
            <a:picLocks noGrp="1" noChangeAspect="1" noChangeArrowheads="1"/>
          </p:cNvPicPr>
          <p:nvPr>
            <p:ph sz="half" idx="2"/>
          </p:nvPr>
        </p:nvPicPr>
        <p:blipFill>
          <a:blip r:embed="rId3">
            <a:extLst>
              <a:ext uri="{28A0092B-C50C-407E-A947-70E740481C1C}">
                <a14:useLocalDpi xmlns="" xmlns:a14="http://schemas.microsoft.com/office/drawing/2010/main" val="0"/>
              </a:ext>
            </a:extLst>
          </a:blip>
          <a:srcRect/>
          <a:stretch>
            <a:fillRect/>
          </a:stretch>
        </p:blipFill>
        <p:spPr>
          <a:xfrm>
            <a:off x="4876800" y="4419600"/>
            <a:ext cx="4114800" cy="2173288"/>
          </a:xfrm>
        </p:spPr>
      </p:pic>
      <p:sp>
        <p:nvSpPr>
          <p:cNvPr id="5" name="Slide Number Placeholder 4"/>
          <p:cNvSpPr>
            <a:spLocks noGrp="1"/>
          </p:cNvSpPr>
          <p:nvPr>
            <p:ph type="sldNum" sz="quarter" idx="12"/>
          </p:nvPr>
        </p:nvSpPr>
        <p:spPr/>
        <p:txBody>
          <a:bodyPr/>
          <a:lstStyle/>
          <a:p>
            <a:fld id="{9DF4E671-2CE7-4BC4-9D6E-ED7B9AC95417}" type="slidenum">
              <a:rPr lang="en-US" smtClean="0"/>
              <a:pPr/>
              <a:t>14</a:t>
            </a:fld>
            <a:endParaRPr lang="en-US" dirty="0"/>
          </a:p>
        </p:txBody>
      </p:sp>
    </p:spTree>
    <p:extLst>
      <p:ext uri="{BB962C8B-B14F-4D97-AF65-F5344CB8AC3E}">
        <p14:creationId xmlns="" xmlns:p14="http://schemas.microsoft.com/office/powerpoint/2010/main" val="5154983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111624"/>
                                        </p:tgtEl>
                                        <p:attrNameLst>
                                          <p:attrName>style.visibility</p:attrName>
                                        </p:attrNameLst>
                                      </p:cBhvr>
                                      <p:to>
                                        <p:strVal val="visible"/>
                                      </p:to>
                                    </p:set>
                                    <p:anim calcmode="lin" valueType="num">
                                      <p:cBhvr>
                                        <p:cTn id="7" dur="1000" fill="hold"/>
                                        <p:tgtEl>
                                          <p:spTgt spid="111624"/>
                                        </p:tgtEl>
                                        <p:attrNameLst>
                                          <p:attrName>ppt_w</p:attrName>
                                        </p:attrNameLst>
                                      </p:cBhvr>
                                      <p:tavLst>
                                        <p:tav tm="0">
                                          <p:val>
                                            <p:strVal val="#ppt_w*0.70"/>
                                          </p:val>
                                        </p:tav>
                                        <p:tav tm="100000">
                                          <p:val>
                                            <p:strVal val="#ppt_w"/>
                                          </p:val>
                                        </p:tav>
                                      </p:tavLst>
                                    </p:anim>
                                    <p:anim calcmode="lin" valueType="num">
                                      <p:cBhvr>
                                        <p:cTn id="8" dur="1000" fill="hold"/>
                                        <p:tgtEl>
                                          <p:spTgt spid="111624"/>
                                        </p:tgtEl>
                                        <p:attrNameLst>
                                          <p:attrName>ppt_h</p:attrName>
                                        </p:attrNameLst>
                                      </p:cBhvr>
                                      <p:tavLst>
                                        <p:tav tm="0">
                                          <p:val>
                                            <p:strVal val="#ppt_h"/>
                                          </p:val>
                                        </p:tav>
                                        <p:tav tm="100000">
                                          <p:val>
                                            <p:strVal val="#ppt_h"/>
                                          </p:val>
                                        </p:tav>
                                      </p:tavLst>
                                    </p:anim>
                                    <p:animEffect transition="in" filter="fade">
                                      <p:cBhvr>
                                        <p:cTn id="9" dur="1000"/>
                                        <p:tgtEl>
                                          <p:spTgt spid="1116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5233" name="Picture 4" descr="untitled"/>
          <p:cNvPicPr>
            <a:picLocks noGrp="1" noChangeAspect="1" noChangeArrowheads="1"/>
          </p:cNvPicPr>
          <p:nvPr>
            <p:ph sz="half" idx="1"/>
          </p:nvPr>
        </p:nvPicPr>
        <p:blipFill>
          <a:blip r:embed="rId2">
            <a:extLst>
              <a:ext uri="{28A0092B-C50C-407E-A947-70E740481C1C}">
                <a14:useLocalDpi xmlns="" xmlns:a14="http://schemas.microsoft.com/office/drawing/2010/main" val="0"/>
              </a:ext>
            </a:extLst>
          </a:blip>
          <a:srcRect/>
          <a:stretch>
            <a:fillRect/>
          </a:stretch>
        </p:blipFill>
        <p:spPr>
          <a:xfrm>
            <a:off x="0" y="0"/>
            <a:ext cx="6096000" cy="6858000"/>
          </a:xfrm>
        </p:spPr>
      </p:pic>
      <p:pic>
        <p:nvPicPr>
          <p:cNvPr id="112647" name="Picture 7" descr="untitled"/>
          <p:cNvPicPr>
            <a:picLocks noGrp="1" noChangeAspect="1" noChangeArrowheads="1"/>
          </p:cNvPicPr>
          <p:nvPr>
            <p:ph sz="half" idx="2"/>
          </p:nvPr>
        </p:nvPicPr>
        <p:blipFill>
          <a:blip r:embed="rId3">
            <a:extLst>
              <a:ext uri="{28A0092B-C50C-407E-A947-70E740481C1C}">
                <a14:useLocalDpi xmlns="" xmlns:a14="http://schemas.microsoft.com/office/drawing/2010/main" val="0"/>
              </a:ext>
            </a:extLst>
          </a:blip>
          <a:srcRect/>
          <a:stretch>
            <a:fillRect/>
          </a:stretch>
        </p:blipFill>
        <p:spPr>
          <a:xfrm>
            <a:off x="5562600" y="4330700"/>
            <a:ext cx="3429000" cy="2527300"/>
          </a:xfrm>
        </p:spPr>
      </p:pic>
      <p:sp>
        <p:nvSpPr>
          <p:cNvPr id="112650" name="Text Box 10"/>
          <p:cNvSpPr txBox="1">
            <a:spLocks noChangeArrowheads="1"/>
          </p:cNvSpPr>
          <p:nvPr/>
        </p:nvSpPr>
        <p:spPr bwMode="auto">
          <a:xfrm>
            <a:off x="6096000" y="1524000"/>
            <a:ext cx="3048000" cy="808038"/>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spcBef>
                <a:spcPct val="50000"/>
              </a:spcBef>
              <a:defRPr/>
            </a:pPr>
            <a:r>
              <a:rPr lang="en-US" altLang="en-US"/>
              <a:t>Virtual functions for class B:</a:t>
            </a:r>
          </a:p>
          <a:p>
            <a:pPr algn="ctr">
              <a:spcBef>
                <a:spcPct val="50000"/>
              </a:spcBef>
              <a:defRPr/>
            </a:pPr>
            <a:r>
              <a:rPr lang="en-US" altLang="en-US"/>
              <a:t>fun1 and fun2</a:t>
            </a:r>
          </a:p>
        </p:txBody>
      </p:sp>
      <p:sp>
        <p:nvSpPr>
          <p:cNvPr id="112651" name="Text Box 11"/>
          <p:cNvSpPr txBox="1">
            <a:spLocks noChangeArrowheads="1"/>
          </p:cNvSpPr>
          <p:nvPr/>
        </p:nvSpPr>
        <p:spPr bwMode="auto">
          <a:xfrm>
            <a:off x="6096000" y="228600"/>
            <a:ext cx="3048000" cy="808038"/>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spcBef>
                <a:spcPct val="50000"/>
              </a:spcBef>
              <a:defRPr/>
            </a:pPr>
            <a:r>
              <a:rPr lang="en-US" altLang="en-US"/>
              <a:t>Virtual functions for class A:</a:t>
            </a:r>
          </a:p>
          <a:p>
            <a:pPr algn="ctr">
              <a:spcBef>
                <a:spcPct val="50000"/>
              </a:spcBef>
              <a:defRPr/>
            </a:pPr>
            <a:r>
              <a:rPr lang="en-US" altLang="en-US"/>
              <a:t>fun2</a:t>
            </a:r>
          </a:p>
        </p:txBody>
      </p:sp>
      <p:sp>
        <p:nvSpPr>
          <p:cNvPr id="112652" name="Text Box 12"/>
          <p:cNvSpPr txBox="1">
            <a:spLocks noChangeArrowheads="1"/>
          </p:cNvSpPr>
          <p:nvPr/>
        </p:nvSpPr>
        <p:spPr bwMode="auto">
          <a:xfrm>
            <a:off x="6096000" y="3200400"/>
            <a:ext cx="3048000" cy="808038"/>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spcBef>
                <a:spcPct val="50000"/>
              </a:spcBef>
              <a:defRPr/>
            </a:pPr>
            <a:r>
              <a:rPr lang="en-US" altLang="en-US"/>
              <a:t>Virtual functions for class C:</a:t>
            </a:r>
          </a:p>
          <a:p>
            <a:pPr algn="ctr">
              <a:spcBef>
                <a:spcPct val="50000"/>
              </a:spcBef>
              <a:defRPr/>
            </a:pPr>
            <a:r>
              <a:rPr lang="en-US" altLang="en-US"/>
              <a:t>fun1 and fun2 and fun3</a:t>
            </a:r>
          </a:p>
        </p:txBody>
      </p:sp>
      <p:sp>
        <p:nvSpPr>
          <p:cNvPr id="7" name="Slide Number Placeholder 6"/>
          <p:cNvSpPr>
            <a:spLocks noGrp="1"/>
          </p:cNvSpPr>
          <p:nvPr>
            <p:ph type="sldNum" sz="quarter" idx="12"/>
          </p:nvPr>
        </p:nvSpPr>
        <p:spPr/>
        <p:txBody>
          <a:bodyPr/>
          <a:lstStyle/>
          <a:p>
            <a:fld id="{9DF4E671-2CE7-4BC4-9D6E-ED7B9AC95417}" type="slidenum">
              <a:rPr lang="en-US" smtClean="0"/>
              <a:pPr/>
              <a:t>15</a:t>
            </a:fld>
            <a:endParaRPr lang="en-US" dirty="0"/>
          </a:p>
        </p:txBody>
      </p:sp>
    </p:spTree>
    <p:extLst>
      <p:ext uri="{BB962C8B-B14F-4D97-AF65-F5344CB8AC3E}">
        <p14:creationId xmlns="" xmlns:p14="http://schemas.microsoft.com/office/powerpoint/2010/main" val="10310977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12647"/>
                                        </p:tgtEl>
                                        <p:attrNameLst>
                                          <p:attrName>style.visibility</p:attrName>
                                        </p:attrNameLst>
                                      </p:cBhvr>
                                      <p:to>
                                        <p:strVal val="visible"/>
                                      </p:to>
                                    </p:set>
                                    <p:anim calcmode="lin" valueType="num">
                                      <p:cBhvr additive="base">
                                        <p:cTn id="7" dur="500" fill="hold"/>
                                        <p:tgtEl>
                                          <p:spTgt spid="112647"/>
                                        </p:tgtEl>
                                        <p:attrNameLst>
                                          <p:attrName>ppt_x</p:attrName>
                                        </p:attrNameLst>
                                      </p:cBhvr>
                                      <p:tavLst>
                                        <p:tav tm="0">
                                          <p:val>
                                            <p:strVal val="#ppt_x"/>
                                          </p:val>
                                        </p:tav>
                                        <p:tav tm="100000">
                                          <p:val>
                                            <p:strVal val="#ppt_x"/>
                                          </p:val>
                                        </p:tav>
                                      </p:tavLst>
                                    </p:anim>
                                    <p:anim calcmode="lin" valueType="num">
                                      <p:cBhvr additive="base">
                                        <p:cTn id="8" dur="500" fill="hold"/>
                                        <p:tgtEl>
                                          <p:spTgt spid="11264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5" presetClass="entr" presetSubtype="10" fill="hold" grpId="0" nodeType="clickEffect">
                                  <p:stCondLst>
                                    <p:cond delay="0"/>
                                  </p:stCondLst>
                                  <p:childTnLst>
                                    <p:set>
                                      <p:cBhvr>
                                        <p:cTn id="12" dur="1" fill="hold">
                                          <p:stCondLst>
                                            <p:cond delay="0"/>
                                          </p:stCondLst>
                                        </p:cTn>
                                        <p:tgtEl>
                                          <p:spTgt spid="112651"/>
                                        </p:tgtEl>
                                        <p:attrNameLst>
                                          <p:attrName>style.visibility</p:attrName>
                                        </p:attrNameLst>
                                      </p:cBhvr>
                                      <p:to>
                                        <p:strVal val="visible"/>
                                      </p:to>
                                    </p:set>
                                    <p:animEffect transition="in" filter="checkerboard(across)">
                                      <p:cBhvr>
                                        <p:cTn id="13" dur="500"/>
                                        <p:tgtEl>
                                          <p:spTgt spid="112651"/>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112650"/>
                                        </p:tgtEl>
                                        <p:attrNameLst>
                                          <p:attrName>style.visibility</p:attrName>
                                        </p:attrNameLst>
                                      </p:cBhvr>
                                      <p:to>
                                        <p:strVal val="visible"/>
                                      </p:to>
                                    </p:set>
                                    <p:animEffect transition="in" filter="checkerboard(across)">
                                      <p:cBhvr>
                                        <p:cTn id="18" dur="500"/>
                                        <p:tgtEl>
                                          <p:spTgt spid="11265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112652"/>
                                        </p:tgtEl>
                                        <p:attrNameLst>
                                          <p:attrName>style.visibility</p:attrName>
                                        </p:attrNameLst>
                                      </p:cBhvr>
                                      <p:to>
                                        <p:strVal val="visible"/>
                                      </p:to>
                                    </p:set>
                                    <p:animEffect transition="in" filter="checkerboard(across)">
                                      <p:cBhvr>
                                        <p:cTn id="23" dur="500"/>
                                        <p:tgtEl>
                                          <p:spTgt spid="1126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50" grpId="0" animBg="1"/>
      <p:bldP spid="112651" grpId="0" animBg="1"/>
      <p:bldP spid="11265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Number Placeholder 5"/>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lr>
                <a:srgbClr val="000066"/>
              </a:buClr>
              <a:buChar char="•"/>
              <a:defRPr sz="2800">
                <a:solidFill>
                  <a:schemeClr val="tx1"/>
                </a:solidFill>
                <a:latin typeface="Arial" charset="0"/>
              </a:defRPr>
            </a:lvl1pPr>
            <a:lvl2pPr marL="742950" indent="-285750">
              <a:spcBef>
                <a:spcPct val="20000"/>
              </a:spcBef>
              <a:buClr>
                <a:schemeClr val="accent1"/>
              </a:buClr>
              <a:buFont typeface="Arial" charset="0"/>
              <a:buChar char="−"/>
              <a:defRPr sz="2600">
                <a:solidFill>
                  <a:schemeClr val="tx1"/>
                </a:solidFill>
                <a:latin typeface="Arial" charset="0"/>
              </a:defRPr>
            </a:lvl2pPr>
            <a:lvl3pPr marL="1143000" indent="-228600">
              <a:spcBef>
                <a:spcPct val="20000"/>
              </a:spcBef>
              <a:buClr>
                <a:srgbClr val="000066"/>
              </a:buClr>
              <a:buChar char="•"/>
              <a:defRPr sz="2300">
                <a:solidFill>
                  <a:schemeClr val="tx1"/>
                </a:solidFill>
                <a:latin typeface="Arial" charset="0"/>
              </a:defRPr>
            </a:lvl3pPr>
            <a:lvl4pPr marL="1600200" indent="-228600">
              <a:spcBef>
                <a:spcPct val="20000"/>
              </a:spcBef>
              <a:buClr>
                <a:srgbClr val="000066"/>
              </a:buClr>
              <a:buChar char="•"/>
              <a:defRPr sz="2000">
                <a:solidFill>
                  <a:schemeClr val="tx1"/>
                </a:solidFill>
                <a:latin typeface="Arial" charset="0"/>
              </a:defRPr>
            </a:lvl4pPr>
            <a:lvl5pPr marL="2057400" indent="-228600">
              <a:spcBef>
                <a:spcPct val="20000"/>
              </a:spcBef>
              <a:buClr>
                <a:srgbClr val="000066"/>
              </a:buClr>
              <a:buChar char="•"/>
              <a:defRPr sz="2000">
                <a:solidFill>
                  <a:schemeClr val="tx1"/>
                </a:solidFill>
                <a:latin typeface="Arial" charset="0"/>
              </a:defRPr>
            </a:lvl5pPr>
            <a:lvl6pPr marL="2514600" indent="-228600" eaLnBrk="0" fontAlgn="base" hangingPunct="0">
              <a:spcBef>
                <a:spcPct val="20000"/>
              </a:spcBef>
              <a:spcAft>
                <a:spcPct val="0"/>
              </a:spcAft>
              <a:buClr>
                <a:srgbClr val="000066"/>
              </a:buClr>
              <a:buChar char="•"/>
              <a:defRPr sz="2000">
                <a:solidFill>
                  <a:schemeClr val="tx1"/>
                </a:solidFill>
                <a:latin typeface="Arial" charset="0"/>
              </a:defRPr>
            </a:lvl6pPr>
            <a:lvl7pPr marL="2971800" indent="-228600" eaLnBrk="0" fontAlgn="base" hangingPunct="0">
              <a:spcBef>
                <a:spcPct val="20000"/>
              </a:spcBef>
              <a:spcAft>
                <a:spcPct val="0"/>
              </a:spcAft>
              <a:buClr>
                <a:srgbClr val="000066"/>
              </a:buClr>
              <a:buChar char="•"/>
              <a:defRPr sz="2000">
                <a:solidFill>
                  <a:schemeClr val="tx1"/>
                </a:solidFill>
                <a:latin typeface="Arial" charset="0"/>
              </a:defRPr>
            </a:lvl7pPr>
            <a:lvl8pPr marL="3429000" indent="-228600" eaLnBrk="0" fontAlgn="base" hangingPunct="0">
              <a:spcBef>
                <a:spcPct val="20000"/>
              </a:spcBef>
              <a:spcAft>
                <a:spcPct val="0"/>
              </a:spcAft>
              <a:buClr>
                <a:srgbClr val="000066"/>
              </a:buClr>
              <a:buChar char="•"/>
              <a:defRPr sz="2000">
                <a:solidFill>
                  <a:schemeClr val="tx1"/>
                </a:solidFill>
                <a:latin typeface="Arial" charset="0"/>
              </a:defRPr>
            </a:lvl8pPr>
            <a:lvl9pPr marL="3886200" indent="-228600" eaLnBrk="0" fontAlgn="base" hangingPunct="0">
              <a:spcBef>
                <a:spcPct val="20000"/>
              </a:spcBef>
              <a:spcAft>
                <a:spcPct val="0"/>
              </a:spcAft>
              <a:buClr>
                <a:srgbClr val="000066"/>
              </a:buClr>
              <a:buChar char="•"/>
              <a:defRPr sz="2000">
                <a:solidFill>
                  <a:schemeClr val="tx1"/>
                </a:solidFill>
                <a:latin typeface="Arial" charset="0"/>
              </a:defRPr>
            </a:lvl9pPr>
          </a:lstStyle>
          <a:p>
            <a:pPr>
              <a:spcBef>
                <a:spcPct val="0"/>
              </a:spcBef>
              <a:buClrTx/>
              <a:buFontTx/>
              <a:buNone/>
            </a:pPr>
            <a:fld id="{2025F77D-BA43-CB42-A7CA-8B74BC2666FD}" type="slidenum">
              <a:rPr lang="en-US" altLang="en-US" sz="1000"/>
              <a:pPr>
                <a:spcBef>
                  <a:spcPct val="0"/>
                </a:spcBef>
                <a:buClrTx/>
                <a:buFontTx/>
                <a:buNone/>
              </a:pPr>
              <a:t>16</a:t>
            </a:fld>
            <a:endParaRPr lang="en-US" altLang="en-US" sz="1000"/>
          </a:p>
        </p:txBody>
      </p:sp>
      <p:sp>
        <p:nvSpPr>
          <p:cNvPr id="96259" name="Rectangle 2"/>
          <p:cNvSpPr>
            <a:spLocks noGrp="1" noChangeArrowheads="1"/>
          </p:cNvSpPr>
          <p:nvPr>
            <p:ph type="title"/>
          </p:nvPr>
        </p:nvSpPr>
        <p:spPr/>
        <p:txBody>
          <a:bodyPr>
            <a:normAutofit/>
          </a:bodyPr>
          <a:lstStyle/>
          <a:p>
            <a:pPr eaLnBrk="1" hangingPunct="1"/>
            <a:r>
              <a:rPr lang="en-US" altLang="en-US"/>
              <a:t>Classes and Virtual Destructors (continued)</a:t>
            </a:r>
          </a:p>
        </p:txBody>
      </p:sp>
      <p:sp>
        <p:nvSpPr>
          <p:cNvPr id="96260" name="Rectangle 3"/>
          <p:cNvSpPr>
            <a:spLocks noGrp="1" noChangeArrowheads="1"/>
          </p:cNvSpPr>
          <p:nvPr>
            <p:ph type="body" idx="1"/>
          </p:nvPr>
        </p:nvSpPr>
        <p:spPr/>
        <p:txBody>
          <a:bodyPr/>
          <a:lstStyle/>
          <a:p>
            <a:pPr eaLnBrk="1" hangingPunct="1"/>
            <a:r>
              <a:rPr lang="en-US" altLang="en-US"/>
              <a:t>The </a:t>
            </a:r>
            <a:r>
              <a:rPr lang="en-US" altLang="en-US" b="1"/>
              <a:t>virtual destructor</a:t>
            </a:r>
            <a:r>
              <a:rPr lang="en-US" altLang="en-US"/>
              <a:t> of a base class automatically makes the destructor of a derived class virtual</a:t>
            </a:r>
          </a:p>
          <a:p>
            <a:pPr lvl="1" eaLnBrk="1" hangingPunct="1"/>
            <a:r>
              <a:rPr lang="en-US" altLang="en-US"/>
              <a:t>After executing the destructor of the derived class, the destructor of the base class executes</a:t>
            </a:r>
          </a:p>
          <a:p>
            <a:pPr eaLnBrk="1" hangingPunct="1"/>
            <a:r>
              <a:rPr lang="en-US" altLang="en-US"/>
              <a:t>If a base class contains virtual functions, make the destructor of the base class virtual</a:t>
            </a:r>
          </a:p>
        </p:txBody>
      </p:sp>
    </p:spTree>
    <p:extLst>
      <p:ext uri="{BB962C8B-B14F-4D97-AF65-F5344CB8AC3E}">
        <p14:creationId xmlns="" xmlns:p14="http://schemas.microsoft.com/office/powerpoint/2010/main" val="161494165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7282" name="Picture 4" descr="untitled"/>
          <p:cNvPicPr>
            <a:picLocks noGrp="1" noChangeAspect="1" noChangeArrowheads="1"/>
          </p:cNvPicPr>
          <p:nvPr>
            <p:ph idx="1"/>
          </p:nvPr>
        </p:nvPicPr>
        <p:blipFill>
          <a:blip r:embed="rId2">
            <a:extLst>
              <a:ext uri="{28A0092B-C50C-407E-A947-70E740481C1C}">
                <a14:useLocalDpi xmlns="" xmlns:a14="http://schemas.microsoft.com/office/drawing/2010/main" val="0"/>
              </a:ext>
            </a:extLst>
          </a:blip>
          <a:srcRect/>
          <a:stretch>
            <a:fillRect/>
          </a:stretch>
        </p:blipFill>
        <p:spPr>
          <a:xfrm>
            <a:off x="533400" y="0"/>
            <a:ext cx="6096000" cy="6858000"/>
          </a:xfrm>
        </p:spPr>
      </p:pic>
      <p:sp>
        <p:nvSpPr>
          <p:cNvPr id="3" name="Slide Number Placeholder 2"/>
          <p:cNvSpPr>
            <a:spLocks noGrp="1"/>
          </p:cNvSpPr>
          <p:nvPr>
            <p:ph type="sldNum" sz="quarter" idx="12"/>
          </p:nvPr>
        </p:nvSpPr>
        <p:spPr/>
        <p:txBody>
          <a:bodyPr/>
          <a:lstStyle/>
          <a:p>
            <a:fld id="{9DF4E671-2CE7-4BC4-9D6E-ED7B9AC95417}" type="slidenum">
              <a:rPr lang="en-US" smtClean="0"/>
              <a:pPr/>
              <a:t>17</a:t>
            </a:fld>
            <a:endParaRPr lang="en-US" dirty="0"/>
          </a:p>
        </p:txBody>
      </p:sp>
    </p:spTree>
    <p:extLst>
      <p:ext uri="{BB962C8B-B14F-4D97-AF65-F5344CB8AC3E}">
        <p14:creationId xmlns="" xmlns:p14="http://schemas.microsoft.com/office/powerpoint/2010/main" val="27864838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Number Placeholder 5"/>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lr>
                <a:srgbClr val="000066"/>
              </a:buClr>
              <a:buChar char="•"/>
              <a:defRPr sz="2800">
                <a:solidFill>
                  <a:schemeClr val="tx1"/>
                </a:solidFill>
                <a:latin typeface="Arial" charset="0"/>
              </a:defRPr>
            </a:lvl1pPr>
            <a:lvl2pPr marL="742950" indent="-285750">
              <a:spcBef>
                <a:spcPct val="20000"/>
              </a:spcBef>
              <a:buClr>
                <a:schemeClr val="accent1"/>
              </a:buClr>
              <a:buFont typeface="Arial" charset="0"/>
              <a:buChar char="−"/>
              <a:defRPr sz="2600">
                <a:solidFill>
                  <a:schemeClr val="tx1"/>
                </a:solidFill>
                <a:latin typeface="Arial" charset="0"/>
              </a:defRPr>
            </a:lvl2pPr>
            <a:lvl3pPr marL="1143000" indent="-228600">
              <a:spcBef>
                <a:spcPct val="20000"/>
              </a:spcBef>
              <a:buClr>
                <a:srgbClr val="000066"/>
              </a:buClr>
              <a:buChar char="•"/>
              <a:defRPr sz="2300">
                <a:solidFill>
                  <a:schemeClr val="tx1"/>
                </a:solidFill>
                <a:latin typeface="Arial" charset="0"/>
              </a:defRPr>
            </a:lvl3pPr>
            <a:lvl4pPr marL="1600200" indent="-228600">
              <a:spcBef>
                <a:spcPct val="20000"/>
              </a:spcBef>
              <a:buClr>
                <a:srgbClr val="000066"/>
              </a:buClr>
              <a:buChar char="•"/>
              <a:defRPr sz="2000">
                <a:solidFill>
                  <a:schemeClr val="tx1"/>
                </a:solidFill>
                <a:latin typeface="Arial" charset="0"/>
              </a:defRPr>
            </a:lvl4pPr>
            <a:lvl5pPr marL="2057400" indent="-228600">
              <a:spcBef>
                <a:spcPct val="20000"/>
              </a:spcBef>
              <a:buClr>
                <a:srgbClr val="000066"/>
              </a:buClr>
              <a:buChar char="•"/>
              <a:defRPr sz="2000">
                <a:solidFill>
                  <a:schemeClr val="tx1"/>
                </a:solidFill>
                <a:latin typeface="Arial" charset="0"/>
              </a:defRPr>
            </a:lvl5pPr>
            <a:lvl6pPr marL="2514600" indent="-228600" eaLnBrk="0" fontAlgn="base" hangingPunct="0">
              <a:spcBef>
                <a:spcPct val="20000"/>
              </a:spcBef>
              <a:spcAft>
                <a:spcPct val="0"/>
              </a:spcAft>
              <a:buClr>
                <a:srgbClr val="000066"/>
              </a:buClr>
              <a:buChar char="•"/>
              <a:defRPr sz="2000">
                <a:solidFill>
                  <a:schemeClr val="tx1"/>
                </a:solidFill>
                <a:latin typeface="Arial" charset="0"/>
              </a:defRPr>
            </a:lvl6pPr>
            <a:lvl7pPr marL="2971800" indent="-228600" eaLnBrk="0" fontAlgn="base" hangingPunct="0">
              <a:spcBef>
                <a:spcPct val="20000"/>
              </a:spcBef>
              <a:spcAft>
                <a:spcPct val="0"/>
              </a:spcAft>
              <a:buClr>
                <a:srgbClr val="000066"/>
              </a:buClr>
              <a:buChar char="•"/>
              <a:defRPr sz="2000">
                <a:solidFill>
                  <a:schemeClr val="tx1"/>
                </a:solidFill>
                <a:latin typeface="Arial" charset="0"/>
              </a:defRPr>
            </a:lvl7pPr>
            <a:lvl8pPr marL="3429000" indent="-228600" eaLnBrk="0" fontAlgn="base" hangingPunct="0">
              <a:spcBef>
                <a:spcPct val="20000"/>
              </a:spcBef>
              <a:spcAft>
                <a:spcPct val="0"/>
              </a:spcAft>
              <a:buClr>
                <a:srgbClr val="000066"/>
              </a:buClr>
              <a:buChar char="•"/>
              <a:defRPr sz="2000">
                <a:solidFill>
                  <a:schemeClr val="tx1"/>
                </a:solidFill>
                <a:latin typeface="Arial" charset="0"/>
              </a:defRPr>
            </a:lvl8pPr>
            <a:lvl9pPr marL="3886200" indent="-228600" eaLnBrk="0" fontAlgn="base" hangingPunct="0">
              <a:spcBef>
                <a:spcPct val="20000"/>
              </a:spcBef>
              <a:spcAft>
                <a:spcPct val="0"/>
              </a:spcAft>
              <a:buClr>
                <a:srgbClr val="000066"/>
              </a:buClr>
              <a:buChar char="•"/>
              <a:defRPr sz="2000">
                <a:solidFill>
                  <a:schemeClr val="tx1"/>
                </a:solidFill>
                <a:latin typeface="Arial" charset="0"/>
              </a:defRPr>
            </a:lvl9pPr>
          </a:lstStyle>
          <a:p>
            <a:pPr>
              <a:spcBef>
                <a:spcPct val="0"/>
              </a:spcBef>
              <a:buClrTx/>
              <a:buFontTx/>
              <a:buNone/>
            </a:pPr>
            <a:fld id="{90CD785E-EC2B-B54A-95F5-FBBDDB564A83}" type="slidenum">
              <a:rPr lang="en-US" altLang="en-US" sz="1000"/>
              <a:pPr>
                <a:spcBef>
                  <a:spcPct val="0"/>
                </a:spcBef>
                <a:buClrTx/>
                <a:buFontTx/>
                <a:buNone/>
              </a:pPr>
              <a:t>18</a:t>
            </a:fld>
            <a:endParaRPr lang="en-US" altLang="en-US" sz="1000"/>
          </a:p>
        </p:txBody>
      </p:sp>
      <p:sp>
        <p:nvSpPr>
          <p:cNvPr id="98307" name="Rectangle 2"/>
          <p:cNvSpPr>
            <a:spLocks noGrp="1" noChangeArrowheads="1"/>
          </p:cNvSpPr>
          <p:nvPr>
            <p:ph type="title"/>
          </p:nvPr>
        </p:nvSpPr>
        <p:spPr/>
        <p:txBody>
          <a:bodyPr>
            <a:normAutofit/>
          </a:bodyPr>
          <a:lstStyle/>
          <a:p>
            <a:pPr eaLnBrk="1" hangingPunct="1"/>
            <a:r>
              <a:rPr lang="en-US" altLang="en-US"/>
              <a:t>Abstract Classes and Pure Virtual Functions</a:t>
            </a:r>
          </a:p>
        </p:txBody>
      </p:sp>
      <p:sp>
        <p:nvSpPr>
          <p:cNvPr id="98308" name="Rectangle 3"/>
          <p:cNvSpPr>
            <a:spLocks noGrp="1" noChangeArrowheads="1"/>
          </p:cNvSpPr>
          <p:nvPr>
            <p:ph type="body" idx="1"/>
          </p:nvPr>
        </p:nvSpPr>
        <p:spPr/>
        <p:txBody>
          <a:bodyPr/>
          <a:lstStyle/>
          <a:p>
            <a:pPr eaLnBrk="1" hangingPunct="1"/>
            <a:r>
              <a:rPr lang="en-US" altLang="en-US"/>
              <a:t>Through inheritance, we can derive new classes without designing them from scratch</a:t>
            </a:r>
          </a:p>
          <a:p>
            <a:pPr lvl="1" eaLnBrk="1" hangingPunct="1"/>
            <a:r>
              <a:rPr lang="en-US" altLang="en-US"/>
              <a:t>Derived classes inherit existing members of base class, can add their own members, and also redefine or override public and protected member functions</a:t>
            </a:r>
          </a:p>
          <a:p>
            <a:pPr lvl="1" eaLnBrk="1" hangingPunct="1"/>
            <a:r>
              <a:rPr lang="en-US" altLang="en-US"/>
              <a:t>Base class can contain functions that you would want each derived class to implement</a:t>
            </a:r>
          </a:p>
          <a:p>
            <a:pPr lvl="2" eaLnBrk="1" hangingPunct="1"/>
            <a:r>
              <a:rPr lang="en-US" altLang="en-US"/>
              <a:t>Base class may contain functions that may not have meaningful definitions in the base class</a:t>
            </a:r>
          </a:p>
        </p:txBody>
      </p:sp>
    </p:spTree>
    <p:extLst>
      <p:ext uri="{BB962C8B-B14F-4D97-AF65-F5344CB8AC3E}">
        <p14:creationId xmlns="" xmlns:p14="http://schemas.microsoft.com/office/powerpoint/2010/main" val="172897220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1" name="Rectangle 2"/>
          <p:cNvSpPr>
            <a:spLocks noGrp="1" noChangeArrowheads="1"/>
          </p:cNvSpPr>
          <p:nvPr>
            <p:ph type="title"/>
          </p:nvPr>
        </p:nvSpPr>
        <p:spPr/>
        <p:txBody>
          <a:bodyPr>
            <a:normAutofit fontScale="90000"/>
          </a:bodyPr>
          <a:lstStyle/>
          <a:p>
            <a:pPr eaLnBrk="1" hangingPunct="1"/>
            <a:r>
              <a:rPr lang="en-US" altLang="en-US"/>
              <a:t>Abstract Classes and Pure Virtual Functions (continued)</a:t>
            </a:r>
          </a:p>
        </p:txBody>
      </p:sp>
      <p:sp>
        <p:nvSpPr>
          <p:cNvPr id="99332" name="Rectangle 3"/>
          <p:cNvSpPr>
            <a:spLocks noGrp="1" noChangeArrowheads="1"/>
          </p:cNvSpPr>
          <p:nvPr>
            <p:ph type="body" idx="1"/>
          </p:nvPr>
        </p:nvSpPr>
        <p:spPr>
          <a:xfrm>
            <a:off x="395536" y="3645024"/>
            <a:ext cx="7869560" cy="3004592"/>
          </a:xfrm>
        </p:spPr>
        <p:txBody>
          <a:bodyPr>
            <a:normAutofit lnSpcReduction="10000"/>
          </a:bodyPr>
          <a:lstStyle/>
          <a:p>
            <a:pPr eaLnBrk="1" hangingPunct="1"/>
            <a:endParaRPr lang="en-US" altLang="en-US" dirty="0"/>
          </a:p>
          <a:p>
            <a:pPr eaLnBrk="1" hangingPunct="1"/>
            <a:endParaRPr lang="en-US" altLang="en-US" dirty="0"/>
          </a:p>
          <a:p>
            <a:pPr eaLnBrk="1" hangingPunct="1"/>
            <a:endParaRPr lang="en-US" altLang="en-US" dirty="0"/>
          </a:p>
          <a:p>
            <a:pPr eaLnBrk="1" hangingPunct="1"/>
            <a:endParaRPr lang="en-US" altLang="en-US" dirty="0"/>
          </a:p>
          <a:p>
            <a:pPr eaLnBrk="1" hangingPunct="1"/>
            <a:endParaRPr lang="en-US" altLang="en-US" dirty="0"/>
          </a:p>
          <a:p>
            <a:pPr eaLnBrk="1" hangingPunct="1">
              <a:lnSpc>
                <a:spcPct val="140000"/>
              </a:lnSpc>
            </a:pPr>
            <a:endParaRPr lang="en-US" altLang="en-US" dirty="0"/>
          </a:p>
          <a:p>
            <a:pPr eaLnBrk="1" hangingPunct="1"/>
            <a:r>
              <a:rPr lang="en-US" altLang="en-US" dirty="0"/>
              <a:t>To make them </a:t>
            </a:r>
            <a:r>
              <a:rPr lang="en-US" altLang="en-US" b="1" dirty="0"/>
              <a:t>pure virtual functions</a:t>
            </a:r>
            <a:r>
              <a:rPr lang="en-US" altLang="en-US" dirty="0"/>
              <a:t>:</a:t>
            </a:r>
          </a:p>
        </p:txBody>
      </p:sp>
      <p:pic>
        <p:nvPicPr>
          <p:cNvPr id="99333" name="Picture 5"/>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1371600" y="1571625"/>
            <a:ext cx="6794500" cy="36353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99334" name="Picture 6"/>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1371600" y="5589588"/>
            <a:ext cx="6380163" cy="6588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 name="Slide Number Placeholder 5"/>
          <p:cNvSpPr>
            <a:spLocks noGrp="1"/>
          </p:cNvSpPr>
          <p:nvPr>
            <p:ph type="sldNum" sz="quarter" idx="12"/>
          </p:nvPr>
        </p:nvSpPr>
        <p:spPr/>
        <p:txBody>
          <a:bodyPr/>
          <a:lstStyle/>
          <a:p>
            <a:fld id="{9DF4E671-2CE7-4BC4-9D6E-ED7B9AC95417}" type="slidenum">
              <a:rPr lang="en-US" smtClean="0"/>
              <a:pPr/>
              <a:t>19</a:t>
            </a:fld>
            <a:endParaRPr lang="en-US" dirty="0"/>
          </a:p>
        </p:txBody>
      </p:sp>
    </p:spTree>
    <p:extLst>
      <p:ext uri="{BB962C8B-B14F-4D97-AF65-F5344CB8AC3E}">
        <p14:creationId xmlns="" xmlns:p14="http://schemas.microsoft.com/office/powerpoint/2010/main" val="123453784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2"/>
          <p:cNvSpPr>
            <a:spLocks noGrp="1" noChangeArrowheads="1"/>
          </p:cNvSpPr>
          <p:nvPr>
            <p:ph type="title"/>
          </p:nvPr>
        </p:nvSpPr>
        <p:spPr/>
        <p:txBody>
          <a:bodyPr/>
          <a:lstStyle/>
          <a:p>
            <a:endParaRPr lang="en-US" altLang="en-US"/>
          </a:p>
        </p:txBody>
      </p:sp>
      <p:pic>
        <p:nvPicPr>
          <p:cNvPr id="106499" name="Picture 3" descr="untitled"/>
          <p:cNvPicPr>
            <a:picLocks noGrp="1" noChangeAspect="1" noChangeArrowheads="1"/>
          </p:cNvPicPr>
          <p:nvPr>
            <p:ph idx="1"/>
          </p:nvPr>
        </p:nvPicPr>
        <p:blipFill>
          <a:blip r:embed="rId2">
            <a:extLst>
              <a:ext uri="{28A0092B-C50C-407E-A947-70E740481C1C}">
                <a14:useLocalDpi xmlns="" xmlns:a14="http://schemas.microsoft.com/office/drawing/2010/main" val="0"/>
              </a:ext>
            </a:extLst>
          </a:blip>
          <a:srcRect/>
          <a:stretch>
            <a:fillRect/>
          </a:stretch>
        </p:blipFill>
        <p:spPr>
          <a:xfrm>
            <a:off x="152400" y="914400"/>
            <a:ext cx="4729163" cy="5724525"/>
          </a:xfrm>
          <a:ln w="12700">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808080">
                      <a:alpha val="74998"/>
                    </a:srgbClr>
                  </a:outerShdw>
                </a:effectLst>
              </a14:hiddenEffects>
            </a:ext>
          </a:extLst>
        </p:spPr>
      </p:pic>
      <p:sp>
        <p:nvSpPr>
          <p:cNvPr id="106500" name="Rectangle 4"/>
          <p:cNvSpPr>
            <a:spLocks noChangeArrowheads="1"/>
          </p:cNvSpPr>
          <p:nvPr/>
        </p:nvSpPr>
        <p:spPr bwMode="auto">
          <a:xfrm>
            <a:off x="5867400" y="1295400"/>
            <a:ext cx="1600200" cy="7620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p>
        </p:txBody>
      </p:sp>
      <p:sp>
        <p:nvSpPr>
          <p:cNvPr id="106501" name="Rectangle 5"/>
          <p:cNvSpPr>
            <a:spLocks noChangeArrowheads="1"/>
          </p:cNvSpPr>
          <p:nvPr/>
        </p:nvSpPr>
        <p:spPr bwMode="auto">
          <a:xfrm>
            <a:off x="5105400" y="3200400"/>
            <a:ext cx="1524000" cy="990600"/>
          </a:xfrm>
          <a:prstGeom prst="rect">
            <a:avLst/>
          </a:prstGeom>
          <a:solidFill>
            <a:srgbClr val="B2B2B2"/>
          </a:solidFill>
          <a:ln w="12700">
            <a:solidFill>
              <a:schemeClr val="tx1"/>
            </a:solidFill>
            <a:miter lim="800000"/>
            <a:headEnd type="none" w="sm" len="sm"/>
            <a:tailEnd type="none" w="sm" len="sm"/>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p>
        </p:txBody>
      </p:sp>
      <p:sp>
        <p:nvSpPr>
          <p:cNvPr id="106502" name="Rectangle 6"/>
          <p:cNvSpPr>
            <a:spLocks noChangeArrowheads="1"/>
          </p:cNvSpPr>
          <p:nvPr/>
        </p:nvSpPr>
        <p:spPr bwMode="auto">
          <a:xfrm>
            <a:off x="7162800" y="3200400"/>
            <a:ext cx="1524000" cy="914400"/>
          </a:xfrm>
          <a:prstGeom prst="rect">
            <a:avLst/>
          </a:prstGeom>
          <a:solidFill>
            <a:srgbClr val="B2B2B2"/>
          </a:solidFill>
          <a:ln w="12700">
            <a:solidFill>
              <a:schemeClr val="tx1"/>
            </a:solidFill>
            <a:miter lim="800000"/>
            <a:headEnd type="none" w="sm" len="sm"/>
            <a:tailEnd type="none" w="sm" len="sm"/>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p>
        </p:txBody>
      </p:sp>
      <p:sp>
        <p:nvSpPr>
          <p:cNvPr id="106503" name="Text Box 7"/>
          <p:cNvSpPr txBox="1">
            <a:spLocks noChangeArrowheads="1"/>
          </p:cNvSpPr>
          <p:nvPr/>
        </p:nvSpPr>
        <p:spPr bwMode="auto">
          <a:xfrm>
            <a:off x="5486400" y="3352800"/>
            <a:ext cx="533400" cy="7794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type="none" w="sm" len="sm"/>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altLang="en-US">
                <a:ea typeface="Osaka" charset="-128"/>
                <a:cs typeface="Arial" charset="0"/>
              </a:rPr>
              <a:t>Y</a:t>
            </a:r>
          </a:p>
          <a:p>
            <a:pPr>
              <a:spcBef>
                <a:spcPct val="50000"/>
              </a:spcBef>
              <a:defRPr/>
            </a:pPr>
            <a:r>
              <a:rPr lang="en-US" altLang="en-US">
                <a:ea typeface="Osaka" charset="-128"/>
                <a:cs typeface="Arial" charset="0"/>
              </a:rPr>
              <a:t> </a:t>
            </a:r>
          </a:p>
        </p:txBody>
      </p:sp>
      <p:sp>
        <p:nvSpPr>
          <p:cNvPr id="106504" name="Text Box 8"/>
          <p:cNvSpPr txBox="1">
            <a:spLocks noChangeArrowheads="1"/>
          </p:cNvSpPr>
          <p:nvPr/>
        </p:nvSpPr>
        <p:spPr bwMode="auto">
          <a:xfrm>
            <a:off x="7543800" y="3352800"/>
            <a:ext cx="533400" cy="7794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type="none" w="sm" len="sm"/>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altLang="en-US">
                <a:ea typeface="Osaka" charset="-128"/>
                <a:cs typeface="Arial" charset="0"/>
              </a:rPr>
              <a:t>Z</a:t>
            </a:r>
          </a:p>
          <a:p>
            <a:pPr>
              <a:spcBef>
                <a:spcPct val="50000"/>
              </a:spcBef>
              <a:defRPr/>
            </a:pPr>
            <a:endParaRPr lang="en-US" altLang="en-US">
              <a:ea typeface="Osaka" charset="-128"/>
              <a:cs typeface="Arial" charset="0"/>
            </a:endParaRPr>
          </a:p>
        </p:txBody>
      </p:sp>
      <p:sp>
        <p:nvSpPr>
          <p:cNvPr id="106505" name="Text Box 9"/>
          <p:cNvSpPr txBox="1">
            <a:spLocks noChangeArrowheads="1"/>
          </p:cNvSpPr>
          <p:nvPr/>
        </p:nvSpPr>
        <p:spPr bwMode="auto">
          <a:xfrm>
            <a:off x="5181600" y="2833688"/>
            <a:ext cx="304800"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type="none" w="sm" len="sm"/>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altLang="en-US">
                <a:ea typeface="Osaka" charset="-128"/>
                <a:cs typeface="Arial" charset="0"/>
              </a:rPr>
              <a:t>B</a:t>
            </a:r>
          </a:p>
        </p:txBody>
      </p:sp>
      <p:sp>
        <p:nvSpPr>
          <p:cNvPr id="106506" name="Text Box 10"/>
          <p:cNvSpPr txBox="1">
            <a:spLocks noChangeArrowheads="1"/>
          </p:cNvSpPr>
          <p:nvPr/>
        </p:nvSpPr>
        <p:spPr bwMode="auto">
          <a:xfrm>
            <a:off x="7315200" y="2895600"/>
            <a:ext cx="457200"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type="none" w="sm" len="sm"/>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altLang="en-US">
                <a:ea typeface="Osaka" charset="-128"/>
                <a:cs typeface="Arial" charset="0"/>
              </a:rPr>
              <a:t>C</a:t>
            </a:r>
          </a:p>
        </p:txBody>
      </p:sp>
      <p:sp>
        <p:nvSpPr>
          <p:cNvPr id="106507" name="Text Box 11"/>
          <p:cNvSpPr txBox="1">
            <a:spLocks noChangeArrowheads="1"/>
          </p:cNvSpPr>
          <p:nvPr/>
        </p:nvSpPr>
        <p:spPr bwMode="auto">
          <a:xfrm>
            <a:off x="6324600" y="990600"/>
            <a:ext cx="304800"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type="none" w="sm" len="sm"/>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altLang="en-US">
                <a:ea typeface="Osaka" charset="-128"/>
                <a:cs typeface="Arial" charset="0"/>
              </a:rPr>
              <a:t>A</a:t>
            </a:r>
          </a:p>
        </p:txBody>
      </p:sp>
      <p:sp>
        <p:nvSpPr>
          <p:cNvPr id="106508" name="Line 12"/>
          <p:cNvSpPr>
            <a:spLocks noChangeShapeType="1"/>
          </p:cNvSpPr>
          <p:nvPr/>
        </p:nvSpPr>
        <p:spPr bwMode="auto">
          <a:xfrm flipV="1">
            <a:off x="5715000" y="2057400"/>
            <a:ext cx="609600" cy="1143000"/>
          </a:xfrm>
          <a:prstGeom prst="line">
            <a:avLst/>
          </a:prstGeom>
          <a:noFill/>
          <a:ln w="12700">
            <a:solidFill>
              <a:schemeClr val="tx1"/>
            </a:solidFill>
            <a:miter lim="800000"/>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p>
        </p:txBody>
      </p:sp>
      <p:sp>
        <p:nvSpPr>
          <p:cNvPr id="106509" name="Line 13"/>
          <p:cNvSpPr>
            <a:spLocks noChangeShapeType="1"/>
          </p:cNvSpPr>
          <p:nvPr/>
        </p:nvSpPr>
        <p:spPr bwMode="auto">
          <a:xfrm flipH="1" flipV="1">
            <a:off x="7086600" y="2057400"/>
            <a:ext cx="685800" cy="1143000"/>
          </a:xfrm>
          <a:prstGeom prst="line">
            <a:avLst/>
          </a:prstGeom>
          <a:noFill/>
          <a:ln w="12700">
            <a:solidFill>
              <a:schemeClr val="tx1"/>
            </a:solidFill>
            <a:miter lim="800000"/>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p>
        </p:txBody>
      </p:sp>
      <p:sp>
        <p:nvSpPr>
          <p:cNvPr id="14" name="Slide Number Placeholder 13"/>
          <p:cNvSpPr>
            <a:spLocks noGrp="1"/>
          </p:cNvSpPr>
          <p:nvPr>
            <p:ph type="sldNum" sz="quarter" idx="12"/>
          </p:nvPr>
        </p:nvSpPr>
        <p:spPr/>
        <p:txBody>
          <a:bodyPr/>
          <a:lstStyle/>
          <a:p>
            <a:fld id="{9DF4E671-2CE7-4BC4-9D6E-ED7B9AC95417}" type="slidenum">
              <a:rPr lang="en-US" smtClean="0"/>
              <a:pPr/>
              <a:t>20</a:t>
            </a:fld>
            <a:endParaRPr lang="en-US" dirty="0"/>
          </a:p>
        </p:txBody>
      </p:sp>
    </p:spTree>
    <p:extLst>
      <p:ext uri="{BB962C8B-B14F-4D97-AF65-F5344CB8AC3E}">
        <p14:creationId xmlns="" xmlns:p14="http://schemas.microsoft.com/office/powerpoint/2010/main" val="2038013634"/>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2"/>
          <p:cNvSpPr>
            <a:spLocks noGrp="1" noChangeArrowheads="1"/>
          </p:cNvSpPr>
          <p:nvPr>
            <p:ph type="title"/>
          </p:nvPr>
        </p:nvSpPr>
        <p:spPr/>
        <p:txBody>
          <a:bodyPr/>
          <a:lstStyle/>
          <a:p>
            <a:r>
              <a:rPr lang="en-US" altLang="en-US"/>
              <a:t>Virtual functions </a:t>
            </a:r>
          </a:p>
        </p:txBody>
      </p:sp>
      <p:pic>
        <p:nvPicPr>
          <p:cNvPr id="107523" name="Picture 3" descr="untitled"/>
          <p:cNvPicPr>
            <a:picLocks noGrp="1" noChangeAspect="1" noChangeArrowheads="1"/>
          </p:cNvPicPr>
          <p:nvPr>
            <p:ph idx="1"/>
          </p:nvPr>
        </p:nvPicPr>
        <p:blipFill>
          <a:blip r:embed="rId2">
            <a:extLst>
              <a:ext uri="{28A0092B-C50C-407E-A947-70E740481C1C}">
                <a14:useLocalDpi xmlns="" xmlns:a14="http://schemas.microsoft.com/office/drawing/2010/main" val="0"/>
              </a:ext>
            </a:extLst>
          </a:blip>
          <a:srcRect/>
          <a:stretch>
            <a:fillRect/>
          </a:stretch>
        </p:blipFill>
        <p:spPr>
          <a:xfrm>
            <a:off x="228600" y="1346200"/>
            <a:ext cx="5638800" cy="5511800"/>
          </a:xfrm>
          <a:extLst>
            <a:ext uri="{AF507438-7753-43e0-B8FC-AC1667EBCBE1}">
              <a14:hiddenEffects xmlns="" xmlns:a14="http://schemas.microsoft.com/office/drawing/2010/main">
                <a:effectLst>
                  <a:outerShdw blurRad="63500" dist="38099" dir="2700000" algn="ctr" rotWithShape="0">
                    <a:srgbClr val="808080">
                      <a:alpha val="74998"/>
                    </a:srgbClr>
                  </a:outerShdw>
                </a:effectLst>
              </a14:hiddenEffects>
            </a:ext>
          </a:extLst>
        </p:spPr>
      </p:pic>
      <p:sp>
        <p:nvSpPr>
          <p:cNvPr id="107524" name="Text Box 4"/>
          <p:cNvSpPr txBox="1">
            <a:spLocks noChangeArrowheads="1"/>
          </p:cNvSpPr>
          <p:nvPr/>
        </p:nvSpPr>
        <p:spPr bwMode="auto">
          <a:xfrm>
            <a:off x="5867400" y="1219200"/>
            <a:ext cx="3276600" cy="16049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type="none" w="sm" len="sm"/>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altLang="en-US">
                <a:ea typeface="Osaka" charset="-128"/>
                <a:cs typeface="Arial" charset="0"/>
              </a:rPr>
              <a:t>Class A is Abstract class</a:t>
            </a:r>
          </a:p>
          <a:p>
            <a:pPr>
              <a:spcBef>
                <a:spcPct val="50000"/>
              </a:spcBef>
              <a:defRPr/>
            </a:pPr>
            <a:endParaRPr lang="en-US" altLang="en-US">
              <a:ea typeface="Osaka" charset="-128"/>
              <a:cs typeface="Arial" charset="0"/>
            </a:endParaRPr>
          </a:p>
          <a:p>
            <a:pPr>
              <a:spcBef>
                <a:spcPct val="50000"/>
              </a:spcBef>
              <a:defRPr/>
            </a:pPr>
            <a:endParaRPr lang="en-US" altLang="en-US">
              <a:ea typeface="Osaka" charset="-128"/>
              <a:cs typeface="Arial" charset="0"/>
            </a:endParaRPr>
          </a:p>
          <a:p>
            <a:pPr>
              <a:spcBef>
                <a:spcPct val="50000"/>
              </a:spcBef>
              <a:defRPr/>
            </a:pPr>
            <a:r>
              <a:rPr lang="en-US" altLang="en-US">
                <a:ea typeface="Osaka" charset="-128"/>
                <a:cs typeface="Arial" charset="0"/>
              </a:rPr>
              <a:t>Class B is non abstract class</a:t>
            </a:r>
          </a:p>
        </p:txBody>
      </p:sp>
      <p:sp>
        <p:nvSpPr>
          <p:cNvPr id="5" name="Slide Number Placeholder 4"/>
          <p:cNvSpPr>
            <a:spLocks noGrp="1"/>
          </p:cNvSpPr>
          <p:nvPr>
            <p:ph type="sldNum" sz="quarter" idx="12"/>
          </p:nvPr>
        </p:nvSpPr>
        <p:spPr/>
        <p:txBody>
          <a:bodyPr/>
          <a:lstStyle/>
          <a:p>
            <a:fld id="{9DF4E671-2CE7-4BC4-9D6E-ED7B9AC95417}" type="slidenum">
              <a:rPr lang="en-US" smtClean="0"/>
              <a:pPr/>
              <a:t>21</a:t>
            </a:fld>
            <a:endParaRPr lang="en-US" dirty="0"/>
          </a:p>
        </p:txBody>
      </p:sp>
    </p:spTree>
    <p:extLst>
      <p:ext uri="{BB962C8B-B14F-4D97-AF65-F5344CB8AC3E}">
        <p14:creationId xmlns="" xmlns:p14="http://schemas.microsoft.com/office/powerpoint/2010/main" val="530976988"/>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3" name="Rectangle 2"/>
          <p:cNvSpPr>
            <a:spLocks noGrp="1" noChangeArrowheads="1"/>
          </p:cNvSpPr>
          <p:nvPr>
            <p:ph type="title"/>
          </p:nvPr>
        </p:nvSpPr>
        <p:spPr/>
        <p:txBody>
          <a:bodyPr>
            <a:normAutofit fontScale="90000"/>
          </a:bodyPr>
          <a:lstStyle/>
          <a:p>
            <a:pPr eaLnBrk="1" hangingPunct="1"/>
            <a:r>
              <a:rPr lang="en-US" altLang="en-US"/>
              <a:t>Abstract Classes and Pure Virtual Functions (continued)</a:t>
            </a:r>
          </a:p>
        </p:txBody>
      </p:sp>
      <p:sp>
        <p:nvSpPr>
          <p:cNvPr id="102404" name="Rectangle 3"/>
          <p:cNvSpPr>
            <a:spLocks noGrp="1" noChangeArrowheads="1"/>
          </p:cNvSpPr>
          <p:nvPr>
            <p:ph type="body" idx="1"/>
          </p:nvPr>
        </p:nvSpPr>
        <p:spPr/>
        <p:txBody>
          <a:bodyPr/>
          <a:lstStyle/>
          <a:p>
            <a:pPr eaLnBrk="1" hangingPunct="1"/>
            <a:r>
              <a:rPr lang="en-US" altLang="en-US" u="sng"/>
              <a:t>Abstract class</a:t>
            </a:r>
            <a:r>
              <a:rPr lang="en-US" altLang="en-US"/>
              <a:t>: contains one or more pure virtual functions</a:t>
            </a:r>
          </a:p>
          <a:p>
            <a:pPr eaLnBrk="1" hangingPunct="1"/>
            <a:endParaRPr lang="en-US" altLang="en-US"/>
          </a:p>
        </p:txBody>
      </p:sp>
      <p:grpSp>
        <p:nvGrpSpPr>
          <p:cNvPr id="102405" name="Group 6"/>
          <p:cNvGrpSpPr>
            <a:grpSpLocks/>
          </p:cNvGrpSpPr>
          <p:nvPr/>
        </p:nvGrpSpPr>
        <p:grpSpPr bwMode="auto">
          <a:xfrm>
            <a:off x="1331913" y="2708275"/>
            <a:ext cx="7443787" cy="3819525"/>
            <a:chOff x="535" y="1674"/>
            <a:chExt cx="4689" cy="2406"/>
          </a:xfrm>
        </p:grpSpPr>
        <p:pic>
          <p:nvPicPr>
            <p:cNvPr id="102409" name="Picture 4"/>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535" y="1674"/>
              <a:ext cx="4689" cy="9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02410" name="Picture 5"/>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568" y="2640"/>
              <a:ext cx="4258" cy="144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grpSp>
        <p:nvGrpSpPr>
          <p:cNvPr id="102406" name="Group 9"/>
          <p:cNvGrpSpPr>
            <a:grpSpLocks/>
          </p:cNvGrpSpPr>
          <p:nvPr/>
        </p:nvGrpSpPr>
        <p:grpSpPr bwMode="auto">
          <a:xfrm>
            <a:off x="2971800" y="2716213"/>
            <a:ext cx="5222875" cy="366712"/>
            <a:chOff x="1824" y="1695"/>
            <a:chExt cx="3290" cy="231"/>
          </a:xfrm>
        </p:grpSpPr>
        <p:sp>
          <p:nvSpPr>
            <p:cNvPr id="102407" name="Line 7"/>
            <p:cNvSpPr>
              <a:spLocks noChangeShapeType="1"/>
            </p:cNvSpPr>
            <p:nvPr/>
          </p:nvSpPr>
          <p:spPr bwMode="auto">
            <a:xfrm flipH="1">
              <a:off x="1824" y="1816"/>
              <a:ext cx="192" cy="0"/>
            </a:xfrm>
            <a:prstGeom prst="line">
              <a:avLst/>
            </a:prstGeom>
            <a:noFill/>
            <a:ln w="9525">
              <a:solidFill>
                <a:srgbClr val="FF0000"/>
              </a:solidFill>
              <a:miter lim="800000"/>
              <a:headEnd/>
              <a:tailEnd type="triangle" w="med" len="med"/>
            </a:ln>
            <a:extLst>
              <a:ext uri="{909E8E84-426E-40dd-AFC4-6F175D3DCCD1}">
                <a14:hiddenFill xmlns="" xmlns:a14="http://schemas.microsoft.com/office/drawing/2010/main">
                  <a:noFill/>
                </a14:hiddenFill>
              </a:ext>
            </a:extLst>
          </p:spPr>
          <p:txBody>
            <a:bodyPr wrap="none"/>
            <a:lstStyle/>
            <a:p>
              <a:endParaRPr lang="en-US"/>
            </a:p>
          </p:txBody>
        </p:sp>
        <p:sp>
          <p:nvSpPr>
            <p:cNvPr id="102408" name="Text Box 8"/>
            <p:cNvSpPr txBox="1">
              <a:spLocks noChangeArrowheads="1"/>
            </p:cNvSpPr>
            <p:nvPr/>
          </p:nvSpPr>
          <p:spPr bwMode="auto">
            <a:xfrm>
              <a:off x="2054" y="1695"/>
              <a:ext cx="3060"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0066"/>
                </a:buClr>
                <a:buChar char="•"/>
                <a:defRPr sz="2800">
                  <a:solidFill>
                    <a:schemeClr val="tx1"/>
                  </a:solidFill>
                  <a:latin typeface="Arial" charset="0"/>
                </a:defRPr>
              </a:lvl1pPr>
              <a:lvl2pPr marL="742950" indent="-285750">
                <a:spcBef>
                  <a:spcPct val="20000"/>
                </a:spcBef>
                <a:buClr>
                  <a:schemeClr val="accent1"/>
                </a:buClr>
                <a:buFont typeface="Arial" charset="0"/>
                <a:buChar char="−"/>
                <a:defRPr sz="2600">
                  <a:solidFill>
                    <a:schemeClr val="tx1"/>
                  </a:solidFill>
                  <a:latin typeface="Arial" charset="0"/>
                </a:defRPr>
              </a:lvl2pPr>
              <a:lvl3pPr marL="1143000" indent="-228600">
                <a:spcBef>
                  <a:spcPct val="20000"/>
                </a:spcBef>
                <a:buClr>
                  <a:srgbClr val="000066"/>
                </a:buClr>
                <a:buChar char="•"/>
                <a:defRPr sz="2300">
                  <a:solidFill>
                    <a:schemeClr val="tx1"/>
                  </a:solidFill>
                  <a:latin typeface="Arial" charset="0"/>
                </a:defRPr>
              </a:lvl3pPr>
              <a:lvl4pPr marL="1600200" indent="-228600">
                <a:spcBef>
                  <a:spcPct val="20000"/>
                </a:spcBef>
                <a:buClr>
                  <a:srgbClr val="000066"/>
                </a:buClr>
                <a:buChar char="•"/>
                <a:defRPr sz="2000">
                  <a:solidFill>
                    <a:schemeClr val="tx1"/>
                  </a:solidFill>
                  <a:latin typeface="Arial" charset="0"/>
                </a:defRPr>
              </a:lvl4pPr>
              <a:lvl5pPr marL="2057400" indent="-228600">
                <a:spcBef>
                  <a:spcPct val="20000"/>
                </a:spcBef>
                <a:buClr>
                  <a:srgbClr val="000066"/>
                </a:buClr>
                <a:buChar char="•"/>
                <a:defRPr sz="2000">
                  <a:solidFill>
                    <a:schemeClr val="tx1"/>
                  </a:solidFill>
                  <a:latin typeface="Arial" charset="0"/>
                </a:defRPr>
              </a:lvl5pPr>
              <a:lvl6pPr marL="2514600" indent="-228600" eaLnBrk="0" fontAlgn="base" hangingPunct="0">
                <a:spcBef>
                  <a:spcPct val="20000"/>
                </a:spcBef>
                <a:spcAft>
                  <a:spcPct val="0"/>
                </a:spcAft>
                <a:buClr>
                  <a:srgbClr val="000066"/>
                </a:buClr>
                <a:buChar char="•"/>
                <a:defRPr sz="2000">
                  <a:solidFill>
                    <a:schemeClr val="tx1"/>
                  </a:solidFill>
                  <a:latin typeface="Arial" charset="0"/>
                </a:defRPr>
              </a:lvl6pPr>
              <a:lvl7pPr marL="2971800" indent="-228600" eaLnBrk="0" fontAlgn="base" hangingPunct="0">
                <a:spcBef>
                  <a:spcPct val="20000"/>
                </a:spcBef>
                <a:spcAft>
                  <a:spcPct val="0"/>
                </a:spcAft>
                <a:buClr>
                  <a:srgbClr val="000066"/>
                </a:buClr>
                <a:buChar char="•"/>
                <a:defRPr sz="2000">
                  <a:solidFill>
                    <a:schemeClr val="tx1"/>
                  </a:solidFill>
                  <a:latin typeface="Arial" charset="0"/>
                </a:defRPr>
              </a:lvl7pPr>
              <a:lvl8pPr marL="3429000" indent="-228600" eaLnBrk="0" fontAlgn="base" hangingPunct="0">
                <a:spcBef>
                  <a:spcPct val="20000"/>
                </a:spcBef>
                <a:spcAft>
                  <a:spcPct val="0"/>
                </a:spcAft>
                <a:buClr>
                  <a:srgbClr val="000066"/>
                </a:buClr>
                <a:buChar char="•"/>
                <a:defRPr sz="2000">
                  <a:solidFill>
                    <a:schemeClr val="tx1"/>
                  </a:solidFill>
                  <a:latin typeface="Arial" charset="0"/>
                </a:defRPr>
              </a:lvl8pPr>
              <a:lvl9pPr marL="3886200" indent="-228600" eaLnBrk="0" fontAlgn="base" hangingPunct="0">
                <a:spcBef>
                  <a:spcPct val="20000"/>
                </a:spcBef>
                <a:spcAft>
                  <a:spcPct val="0"/>
                </a:spcAft>
                <a:buClr>
                  <a:srgbClr val="000066"/>
                </a:buClr>
                <a:buChar char="•"/>
                <a:defRPr sz="2000">
                  <a:solidFill>
                    <a:schemeClr val="tx1"/>
                  </a:solidFill>
                  <a:latin typeface="Arial" charset="0"/>
                </a:defRPr>
              </a:lvl9pPr>
            </a:lstStyle>
            <a:p>
              <a:pPr eaLnBrk="1" hangingPunct="1">
                <a:spcBef>
                  <a:spcPct val="0"/>
                </a:spcBef>
                <a:buClrTx/>
                <a:buFontTx/>
                <a:buNone/>
              </a:pPr>
              <a:r>
                <a:rPr lang="en-US" altLang="en-US" sz="1800">
                  <a:solidFill>
                    <a:srgbClr val="FF0000"/>
                  </a:solidFill>
                </a:rPr>
                <a:t>You cannot create objects of an abstract class</a:t>
              </a:r>
            </a:p>
          </p:txBody>
        </p:sp>
      </p:grpSp>
      <p:sp>
        <p:nvSpPr>
          <p:cNvPr id="10" name="Slide Number Placeholder 9"/>
          <p:cNvSpPr>
            <a:spLocks noGrp="1"/>
          </p:cNvSpPr>
          <p:nvPr>
            <p:ph type="sldNum" sz="quarter" idx="12"/>
          </p:nvPr>
        </p:nvSpPr>
        <p:spPr/>
        <p:txBody>
          <a:bodyPr/>
          <a:lstStyle/>
          <a:p>
            <a:fld id="{9DF4E671-2CE7-4BC4-9D6E-ED7B9AC95417}" type="slidenum">
              <a:rPr lang="en-US" smtClean="0"/>
              <a:pPr/>
              <a:t>22</a:t>
            </a:fld>
            <a:endParaRPr lang="en-US" dirty="0"/>
          </a:p>
        </p:txBody>
      </p:sp>
    </p:spTree>
    <p:extLst>
      <p:ext uri="{BB962C8B-B14F-4D97-AF65-F5344CB8AC3E}">
        <p14:creationId xmlns="" xmlns:p14="http://schemas.microsoft.com/office/powerpoint/2010/main" val="133568403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7" name="Rectangle 2"/>
          <p:cNvSpPr>
            <a:spLocks noGrp="1" noChangeArrowheads="1"/>
          </p:cNvSpPr>
          <p:nvPr>
            <p:ph type="title"/>
          </p:nvPr>
        </p:nvSpPr>
        <p:spPr/>
        <p:txBody>
          <a:bodyPr>
            <a:normAutofit fontScale="90000"/>
          </a:bodyPr>
          <a:lstStyle/>
          <a:p>
            <a:pPr eaLnBrk="1" hangingPunct="1"/>
            <a:r>
              <a:rPr lang="en-US" altLang="en-US"/>
              <a:t>Abstract Classes and Pure Virtual Functions (continued)</a:t>
            </a:r>
          </a:p>
        </p:txBody>
      </p:sp>
      <p:sp>
        <p:nvSpPr>
          <p:cNvPr id="103428" name="Rectangle 3"/>
          <p:cNvSpPr>
            <a:spLocks noGrp="1" noChangeArrowheads="1"/>
          </p:cNvSpPr>
          <p:nvPr>
            <p:ph type="body" idx="1"/>
          </p:nvPr>
        </p:nvSpPr>
        <p:spPr/>
        <p:txBody>
          <a:bodyPr/>
          <a:lstStyle/>
          <a:p>
            <a:pPr eaLnBrk="1" hangingPunct="1"/>
            <a:r>
              <a:rPr lang="en-US" altLang="en-US"/>
              <a:t>If we derive </a:t>
            </a:r>
            <a:r>
              <a:rPr lang="en-US" altLang="en-US">
                <a:latin typeface="Courier New" charset="0"/>
              </a:rPr>
              <a:t>rectangle</a:t>
            </a:r>
            <a:r>
              <a:rPr lang="en-US" altLang="en-US"/>
              <a:t> from </a:t>
            </a:r>
            <a:r>
              <a:rPr lang="en-US" altLang="en-US">
                <a:latin typeface="Courier New" charset="0"/>
              </a:rPr>
              <a:t>shape</a:t>
            </a:r>
            <a:r>
              <a:rPr lang="en-US" altLang="en-US"/>
              <a:t>, and want to make it a nonabstract class:</a:t>
            </a:r>
          </a:p>
          <a:p>
            <a:pPr lvl="1" eaLnBrk="1" hangingPunct="1"/>
            <a:r>
              <a:rPr lang="en-US" altLang="en-US"/>
              <a:t>We must provide the definitions of the pure virtual functions of its base class</a:t>
            </a:r>
          </a:p>
          <a:p>
            <a:pPr eaLnBrk="1" hangingPunct="1"/>
            <a:r>
              <a:rPr lang="en-US" altLang="en-US"/>
              <a:t>Note that an abstract class can contain instance variables, constructors, and functions that are not pure virtual</a:t>
            </a:r>
          </a:p>
          <a:p>
            <a:pPr lvl="1" eaLnBrk="1" hangingPunct="1"/>
            <a:r>
              <a:rPr lang="en-US" altLang="en-US"/>
              <a:t>The class must provide the definitions of constructor/functions that are not pure virtual</a:t>
            </a:r>
          </a:p>
        </p:txBody>
      </p:sp>
      <p:sp>
        <p:nvSpPr>
          <p:cNvPr id="4" name="Slide Number Placeholder 3"/>
          <p:cNvSpPr>
            <a:spLocks noGrp="1"/>
          </p:cNvSpPr>
          <p:nvPr>
            <p:ph type="sldNum" sz="quarter" idx="12"/>
          </p:nvPr>
        </p:nvSpPr>
        <p:spPr/>
        <p:txBody>
          <a:bodyPr/>
          <a:lstStyle/>
          <a:p>
            <a:fld id="{9DF4E671-2CE7-4BC4-9D6E-ED7B9AC95417}" type="slidenum">
              <a:rPr lang="en-US" smtClean="0"/>
              <a:pPr/>
              <a:t>23</a:t>
            </a:fld>
            <a:endParaRPr lang="en-US" dirty="0"/>
          </a:p>
        </p:txBody>
      </p:sp>
    </p:spTree>
    <p:extLst>
      <p:ext uri="{BB962C8B-B14F-4D97-AF65-F5344CB8AC3E}">
        <p14:creationId xmlns="" xmlns:p14="http://schemas.microsoft.com/office/powerpoint/2010/main" val="119494692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8"/>
          <p:cNvSpPr>
            <a:spLocks noGrp="1" noChangeArrowheads="1"/>
          </p:cNvSpPr>
          <p:nvPr>
            <p:ph type="title"/>
          </p:nvPr>
        </p:nvSpPr>
        <p:spPr/>
        <p:txBody>
          <a:bodyPr/>
          <a:lstStyle/>
          <a:p>
            <a:endParaRPr lang="en-US" altLang="en-US"/>
          </a:p>
        </p:txBody>
      </p:sp>
      <p:pic>
        <p:nvPicPr>
          <p:cNvPr id="104450" name="Picture 11" descr="untitled"/>
          <p:cNvPicPr>
            <a:picLocks noGrp="1" noChangeAspect="1" noChangeArrowheads="1"/>
          </p:cNvPicPr>
          <p:nvPr>
            <p:ph sz="half" idx="1"/>
          </p:nvPr>
        </p:nvPicPr>
        <p:blipFill>
          <a:blip r:embed="rId2">
            <a:extLst>
              <a:ext uri="{28A0092B-C50C-407E-A947-70E740481C1C}">
                <a14:useLocalDpi xmlns="" xmlns:a14="http://schemas.microsoft.com/office/drawing/2010/main" val="0"/>
              </a:ext>
            </a:extLst>
          </a:blip>
          <a:srcRect/>
          <a:stretch>
            <a:fillRect/>
          </a:stretch>
        </p:blipFill>
        <p:spPr>
          <a:xfrm>
            <a:off x="0" y="0"/>
            <a:ext cx="6172200" cy="6858000"/>
          </a:xfrm>
        </p:spPr>
      </p:pic>
      <p:pic>
        <p:nvPicPr>
          <p:cNvPr id="117767" name="Picture 7" descr="untitled"/>
          <p:cNvPicPr>
            <a:picLocks noGrp="1" noChangeAspect="1" noChangeArrowheads="1"/>
          </p:cNvPicPr>
          <p:nvPr>
            <p:ph sz="half" idx="2"/>
          </p:nvPr>
        </p:nvPicPr>
        <p:blipFill>
          <a:blip r:embed="rId3">
            <a:extLst>
              <a:ext uri="{28A0092B-C50C-407E-A947-70E740481C1C}">
                <a14:useLocalDpi xmlns="" xmlns:a14="http://schemas.microsoft.com/office/drawing/2010/main" val="0"/>
              </a:ext>
            </a:extLst>
          </a:blip>
          <a:srcRect/>
          <a:stretch>
            <a:fillRect/>
          </a:stretch>
        </p:blipFill>
        <p:spPr>
          <a:xfrm>
            <a:off x="4876800" y="4495800"/>
            <a:ext cx="3886200" cy="1858963"/>
          </a:xfrm>
        </p:spPr>
      </p:pic>
      <p:sp>
        <p:nvSpPr>
          <p:cNvPr id="5" name="Slide Number Placeholder 4"/>
          <p:cNvSpPr>
            <a:spLocks noGrp="1"/>
          </p:cNvSpPr>
          <p:nvPr>
            <p:ph type="sldNum" sz="quarter" idx="12"/>
          </p:nvPr>
        </p:nvSpPr>
        <p:spPr/>
        <p:txBody>
          <a:bodyPr/>
          <a:lstStyle/>
          <a:p>
            <a:fld id="{9DF4E671-2CE7-4BC4-9D6E-ED7B9AC95417}" type="slidenum">
              <a:rPr lang="en-US" smtClean="0"/>
              <a:pPr/>
              <a:t>24</a:t>
            </a:fld>
            <a:endParaRPr lang="en-US" dirty="0"/>
          </a:p>
        </p:txBody>
      </p:sp>
    </p:spTree>
    <p:extLst>
      <p:ext uri="{BB962C8B-B14F-4D97-AF65-F5344CB8AC3E}">
        <p14:creationId xmlns="" xmlns:p14="http://schemas.microsoft.com/office/powerpoint/2010/main" val="2059185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17767"/>
                                        </p:tgtEl>
                                        <p:attrNameLst>
                                          <p:attrName>style.visibility</p:attrName>
                                        </p:attrNameLst>
                                      </p:cBhvr>
                                      <p:to>
                                        <p:strVal val="visible"/>
                                      </p:to>
                                    </p:set>
                                    <p:animEffect transition="in" filter="box(in)">
                                      <p:cBhvr>
                                        <p:cTn id="7" dur="500"/>
                                        <p:tgtEl>
                                          <p:spTgt spid="1177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cs101</Template>
  <TotalTime>26322</TotalTime>
  <Words>623</Words>
  <Application>Microsoft Macintosh PowerPoint</Application>
  <PresentationFormat>On-screen Show (4:3)</PresentationFormat>
  <Paragraphs>120</Paragraphs>
  <Slides>24</Slides>
  <Notes>1</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Clarity</vt:lpstr>
      <vt:lpstr>Slide 1</vt:lpstr>
      <vt:lpstr>Overriding a functions in the subclass </vt:lpstr>
      <vt:lpstr>Slide 3</vt:lpstr>
      <vt:lpstr>Overriding a function in the subclass </vt:lpstr>
      <vt:lpstr>Overriding a method in the subclass </vt:lpstr>
      <vt:lpstr>Overriding a method in the subclass</vt:lpstr>
      <vt:lpstr>Slide 7</vt:lpstr>
      <vt:lpstr>Overriding a method in the subclass</vt:lpstr>
      <vt:lpstr>6.3.4 Overriding a method in the subclass (4)</vt:lpstr>
      <vt:lpstr>6.3.4 Overriding a method in the subclass (4)</vt:lpstr>
      <vt:lpstr>6.3.5 Overriding a method in the subclass (5)</vt:lpstr>
      <vt:lpstr>Classes and Virtual Destructors</vt:lpstr>
      <vt:lpstr>Slide 13</vt:lpstr>
      <vt:lpstr>Slide 14</vt:lpstr>
      <vt:lpstr>Slide 15</vt:lpstr>
      <vt:lpstr>Classes and Virtual Destructors (continued)</vt:lpstr>
      <vt:lpstr>Slide 17</vt:lpstr>
      <vt:lpstr>Abstract Classes and Pure Virtual Functions</vt:lpstr>
      <vt:lpstr>Abstract Classes and Pure Virtual Functions (continued)</vt:lpstr>
      <vt:lpstr>Slide 20</vt:lpstr>
      <vt:lpstr>Virtual functions </vt:lpstr>
      <vt:lpstr>Abstract Classes and Pure Virtual Functions (continued)</vt:lpstr>
      <vt:lpstr>Abstract Classes and Pure Virtual Functions (continued)</vt:lpstr>
      <vt:lpstr>Slide 24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Dr Wail Mardini</dc:creator>
  <cp:lastModifiedBy>ibrahim nadir</cp:lastModifiedBy>
  <cp:revision>1594</cp:revision>
  <cp:lastPrinted>2018-11-18T16:27:40Z</cp:lastPrinted>
  <dcterms:created xsi:type="dcterms:W3CDTF">2017-12-20T08:30:18Z</dcterms:created>
  <dcterms:modified xsi:type="dcterms:W3CDTF">2020-12-06T16:08:36Z</dcterms:modified>
</cp:coreProperties>
</file>