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587CEA5-5E9B-4FCD-AD53-2901CF7F9E60}"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1D423F-273E-41E9-8592-7C3E52DA085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3195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587CEA5-5E9B-4FCD-AD53-2901CF7F9E60}"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229703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587CEA5-5E9B-4FCD-AD53-2901CF7F9E60}"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1D423F-273E-41E9-8592-7C3E52DA085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98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587CEA5-5E9B-4FCD-AD53-2901CF7F9E60}" type="datetimeFigureOut">
              <a:rPr lang="en-US" smtClean="0"/>
              <a:t>10/3/2022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3989277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587CEA5-5E9B-4FCD-AD53-2901CF7F9E60}" type="datetimeFigureOut">
              <a:rPr lang="en-US" smtClean="0"/>
              <a:t>10/3/2022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2110071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587CEA5-5E9B-4FCD-AD53-2901CF7F9E60}" type="datetimeFigureOut">
              <a:rPr lang="en-US" smtClean="0"/>
              <a:t>10/3/2022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2975261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587CEA5-5E9B-4FCD-AD53-2901CF7F9E60}" type="datetimeFigureOut">
              <a:rPr lang="en-US" smtClean="0"/>
              <a:t>10/3/2022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3419459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587CEA5-5E9B-4FCD-AD53-2901CF7F9E60}" type="datetimeFigureOut">
              <a:rPr lang="en-US" smtClean="0"/>
              <a:t>10/3/2022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81D423F-273E-41E9-8592-7C3E52DA0856}" type="slidenum">
              <a:rPr lang="en-US" smtClean="0"/>
              <a:t>‹#›</a:t>
            </a:fld>
            <a:endParaRPr lang="en-US"/>
          </a:p>
        </p:txBody>
      </p:sp>
    </p:spTree>
    <p:extLst>
      <p:ext uri="{BB962C8B-B14F-4D97-AF65-F5344CB8AC3E}">
        <p14:creationId xmlns:p14="http://schemas.microsoft.com/office/powerpoint/2010/main" val="1241413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87CEA5-5E9B-4FCD-AD53-2901CF7F9E60}" type="datetimeFigureOut">
              <a:rPr lang="en-US" smtClean="0"/>
              <a:t>10/3/2022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3544092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587CEA5-5E9B-4FCD-AD53-2901CF7F9E60}"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3497119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587CEA5-5E9B-4FCD-AD53-2901CF7F9E60}" type="datetimeFigureOut">
              <a:rPr lang="en-US" smtClean="0"/>
              <a:t>10/3/2022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1D423F-273E-41E9-8592-7C3E52DA0856}" type="slidenum">
              <a:rPr lang="en-US" smtClean="0"/>
              <a:t>‹#›</a:t>
            </a:fld>
            <a:endParaRPr lang="en-US"/>
          </a:p>
        </p:txBody>
      </p:sp>
    </p:spTree>
    <p:extLst>
      <p:ext uri="{BB962C8B-B14F-4D97-AF65-F5344CB8AC3E}">
        <p14:creationId xmlns:p14="http://schemas.microsoft.com/office/powerpoint/2010/main" val="130593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587CEA5-5E9B-4FCD-AD53-2901CF7F9E60}" type="datetimeFigureOut">
              <a:rPr lang="en-US" smtClean="0"/>
              <a:t>10/3/2022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81D423F-273E-41E9-8592-7C3E52DA085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123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static-data-members-c/"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Copy </a:t>
            </a:r>
            <a:r>
              <a:rPr lang="en-US" b="1" dirty="0" smtClean="0"/>
              <a:t>constructor, this, static </a:t>
            </a:r>
            <a:r>
              <a:rPr lang="en-US" b="1" dirty="0"/>
              <a:t>in C++</a:t>
            </a:r>
            <a:br>
              <a:rPr lang="en-US" b="1" dirty="0"/>
            </a:br>
            <a:endParaRPr lang="en-US" dirty="0"/>
          </a:p>
        </p:txBody>
      </p:sp>
      <p:sp>
        <p:nvSpPr>
          <p:cNvPr id="3" name="Subtitle 2"/>
          <p:cNvSpPr>
            <a:spLocks noGrp="1"/>
          </p:cNvSpPr>
          <p:nvPr>
            <p:ph type="subTitle" idx="1"/>
          </p:nvPr>
        </p:nvSpPr>
        <p:spPr/>
        <p:txBody>
          <a:bodyPr/>
          <a:lstStyle/>
          <a:p>
            <a:r>
              <a:rPr lang="en-US" smtClean="0"/>
              <a:t>Week 6</a:t>
            </a:r>
            <a:endParaRPr lang="en-US"/>
          </a:p>
        </p:txBody>
      </p:sp>
    </p:spTree>
    <p:extLst>
      <p:ext uri="{BB962C8B-B14F-4D97-AF65-F5344CB8AC3E}">
        <p14:creationId xmlns:p14="http://schemas.microsoft.com/office/powerpoint/2010/main" val="1972776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Copy constructor in C</a:t>
            </a:r>
            <a:r>
              <a:rPr lang="en-US" b="1" dirty="0" smtClean="0"/>
              <a:t>++</a:t>
            </a:r>
            <a:endParaRPr lang="en-US" dirty="0"/>
          </a:p>
        </p:txBody>
      </p:sp>
      <p:sp>
        <p:nvSpPr>
          <p:cNvPr id="3" name="Content Placeholder 2"/>
          <p:cNvSpPr>
            <a:spLocks noGrp="1"/>
          </p:cNvSpPr>
          <p:nvPr>
            <p:ph idx="1"/>
          </p:nvPr>
        </p:nvSpPr>
        <p:spPr/>
        <p:txBody>
          <a:bodyPr>
            <a:normAutofit/>
          </a:bodyPr>
          <a:lstStyle/>
          <a:p>
            <a:r>
              <a:rPr lang="en-US" sz="2800" dirty="0"/>
              <a:t>A copy constructor is a member function of a class that uses another object within the same class to initialize the data members of the class within the class. In other words, it creates a copy of an existing object of the class</a:t>
            </a:r>
            <a:r>
              <a:rPr lang="en-US" sz="2800" dirty="0" smtClean="0"/>
              <a:t>.</a:t>
            </a:r>
          </a:p>
          <a:p>
            <a:r>
              <a:rPr lang="en-US" sz="2800" dirty="0"/>
              <a:t>A copy constructor is a member function of a class that initializes an object with an existing object of the same class. In other words, it creates an exact copy of an already existing object and stores it in a new object.</a:t>
            </a:r>
            <a:endParaRPr lang="en-US" sz="2800" dirty="0"/>
          </a:p>
        </p:txBody>
      </p:sp>
    </p:spTree>
    <p:extLst>
      <p:ext uri="{BB962C8B-B14F-4D97-AF65-F5344CB8AC3E}">
        <p14:creationId xmlns:p14="http://schemas.microsoft.com/office/powerpoint/2010/main" val="1596397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Copy Constructors in C</a:t>
            </a:r>
            <a:r>
              <a:rPr lang="en-US" b="1" dirty="0" smtClean="0"/>
              <a:t>++</a:t>
            </a:r>
            <a:endParaRPr lang="en-US" dirty="0"/>
          </a:p>
        </p:txBody>
      </p:sp>
      <p:sp>
        <p:nvSpPr>
          <p:cNvPr id="3" name="Content Placeholder 2"/>
          <p:cNvSpPr>
            <a:spLocks noGrp="1"/>
          </p:cNvSpPr>
          <p:nvPr>
            <p:ph idx="1"/>
          </p:nvPr>
        </p:nvSpPr>
        <p:spPr/>
        <p:txBody>
          <a:bodyPr>
            <a:normAutofit/>
          </a:bodyPr>
          <a:lstStyle/>
          <a:p>
            <a:r>
              <a:rPr lang="en-US" sz="2800" b="1" dirty="0"/>
              <a:t>Default Copy constructor</a:t>
            </a:r>
          </a:p>
          <a:p>
            <a:r>
              <a:rPr lang="en-US" sz="2800" dirty="0"/>
              <a:t>Just like the default constructor, each class has its default Copy constructor in C++. It creates a member-wise shallow copy of objects of that class. The default </a:t>
            </a:r>
            <a:r>
              <a:rPr lang="en-US" sz="2800" b="1" dirty="0"/>
              <a:t>copy constructor in C++</a:t>
            </a:r>
            <a:r>
              <a:rPr lang="en-US" sz="2800" dirty="0"/>
              <a:t> can only create a shallow copy of an object.</a:t>
            </a:r>
            <a:endParaRPr lang="en-US" sz="2800" dirty="0"/>
          </a:p>
        </p:txBody>
      </p:sp>
    </p:spTree>
    <p:extLst>
      <p:ext uri="{BB962C8B-B14F-4D97-AF65-F5344CB8AC3E}">
        <p14:creationId xmlns:p14="http://schemas.microsoft.com/office/powerpoint/2010/main" val="3178101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Shallow copy of an </a:t>
            </a:r>
            <a:r>
              <a:rPr lang="en-US" b="1" dirty="0" smtClean="0"/>
              <a:t>object</a:t>
            </a:r>
            <a:endParaRPr lang="en-US" dirty="0"/>
          </a:p>
        </p:txBody>
      </p:sp>
      <p:sp>
        <p:nvSpPr>
          <p:cNvPr id="3" name="Content Placeholder 2"/>
          <p:cNvSpPr>
            <a:spLocks noGrp="1"/>
          </p:cNvSpPr>
          <p:nvPr>
            <p:ph idx="1"/>
          </p:nvPr>
        </p:nvSpPr>
        <p:spPr/>
        <p:txBody>
          <a:bodyPr>
            <a:normAutofit/>
          </a:bodyPr>
          <a:lstStyle/>
          <a:p>
            <a:r>
              <a:rPr lang="en-US" sz="2800" dirty="0" smtClean="0"/>
              <a:t>A shallow copy is a reference to the object it is created from, i.e. it creates a new copy of an already existing object, but any changes made to the original object would be reflected in the newly created copy and vice-versa.</a:t>
            </a:r>
          </a:p>
          <a:p>
            <a:r>
              <a:rPr lang="en-US" sz="2800" dirty="0" smtClean="0"/>
              <a:t>All objects created using the default copy constructor for an object share the exact memory location. In the new objects, which are called shallow copies, only the memory address of the original object is copied. Hence, they do not acquire any memory of their own.</a:t>
            </a:r>
          </a:p>
          <a:p>
            <a:endParaRPr lang="en-US" sz="2800" dirty="0"/>
          </a:p>
        </p:txBody>
      </p:sp>
    </p:spTree>
    <p:extLst>
      <p:ext uri="{BB962C8B-B14F-4D97-AF65-F5344CB8AC3E}">
        <p14:creationId xmlns:p14="http://schemas.microsoft.com/office/powerpoint/2010/main" val="3291247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48640" y="272955"/>
            <a:ext cx="11155680" cy="6571397"/>
          </a:xfrm>
        </p:spPr>
        <p:txBody>
          <a:bodyPr>
            <a:normAutofit fontScale="85000" lnSpcReduction="20000"/>
          </a:bodyPr>
          <a:lstStyle/>
          <a:p>
            <a:pPr>
              <a:lnSpc>
                <a:spcPct val="120000"/>
              </a:lnSpc>
              <a:spcBef>
                <a:spcPts val="0"/>
              </a:spcBef>
              <a:spcAft>
                <a:spcPts val="0"/>
              </a:spcAft>
            </a:pPr>
            <a:r>
              <a:rPr lang="en-US" dirty="0"/>
              <a:t>#include &lt;</a:t>
            </a:r>
            <a:r>
              <a:rPr lang="en-US" dirty="0" err="1"/>
              <a:t>iostream</a:t>
            </a:r>
            <a:r>
              <a:rPr lang="en-US" dirty="0"/>
              <a:t>&gt;  </a:t>
            </a:r>
          </a:p>
          <a:p>
            <a:pPr>
              <a:lnSpc>
                <a:spcPct val="120000"/>
              </a:lnSpc>
              <a:spcBef>
                <a:spcPts val="0"/>
              </a:spcBef>
              <a:spcAft>
                <a:spcPts val="0"/>
              </a:spcAft>
            </a:pPr>
            <a:r>
              <a:rPr lang="en-US" dirty="0"/>
              <a:t>using namespace </a:t>
            </a:r>
            <a:r>
              <a:rPr lang="en-US" dirty="0" err="1"/>
              <a:t>std</a:t>
            </a:r>
            <a:r>
              <a:rPr lang="en-US" dirty="0"/>
              <a:t>;</a:t>
            </a:r>
          </a:p>
          <a:p>
            <a:pPr>
              <a:lnSpc>
                <a:spcPct val="120000"/>
              </a:lnSpc>
              <a:spcBef>
                <a:spcPts val="0"/>
              </a:spcBef>
              <a:spcAft>
                <a:spcPts val="0"/>
              </a:spcAft>
            </a:pPr>
            <a:r>
              <a:rPr lang="en-US" dirty="0"/>
              <a:t>class Demo</a:t>
            </a:r>
          </a:p>
          <a:p>
            <a:pPr>
              <a:lnSpc>
                <a:spcPct val="120000"/>
              </a:lnSpc>
              <a:spcBef>
                <a:spcPts val="0"/>
              </a:spcBef>
              <a:spcAft>
                <a:spcPts val="0"/>
              </a:spcAft>
            </a:pPr>
            <a:r>
              <a:rPr lang="en-US" dirty="0"/>
              <a:t>{</a:t>
            </a:r>
          </a:p>
          <a:p>
            <a:pPr>
              <a:lnSpc>
                <a:spcPct val="120000"/>
              </a:lnSpc>
              <a:spcBef>
                <a:spcPts val="0"/>
              </a:spcBef>
              <a:spcAft>
                <a:spcPts val="0"/>
              </a:spcAft>
            </a:pPr>
            <a:r>
              <a:rPr lang="en-US" dirty="0"/>
              <a:t>    </a:t>
            </a:r>
            <a:r>
              <a:rPr lang="en-US" dirty="0" err="1"/>
              <a:t>int</a:t>
            </a:r>
            <a:r>
              <a:rPr lang="en-US" dirty="0"/>
              <a:t> a;</a:t>
            </a:r>
          </a:p>
          <a:p>
            <a:pPr>
              <a:lnSpc>
                <a:spcPct val="120000"/>
              </a:lnSpc>
              <a:spcBef>
                <a:spcPts val="0"/>
              </a:spcBef>
              <a:spcAft>
                <a:spcPts val="0"/>
              </a:spcAft>
            </a:pPr>
            <a:r>
              <a:rPr lang="en-US" dirty="0"/>
              <a:t>    </a:t>
            </a:r>
            <a:r>
              <a:rPr lang="en-US" dirty="0" err="1"/>
              <a:t>int</a:t>
            </a:r>
            <a:r>
              <a:rPr lang="en-US" dirty="0"/>
              <a:t> b;</a:t>
            </a:r>
          </a:p>
          <a:p>
            <a:pPr>
              <a:lnSpc>
                <a:spcPct val="120000"/>
              </a:lnSpc>
              <a:spcBef>
                <a:spcPts val="0"/>
              </a:spcBef>
              <a:spcAft>
                <a:spcPts val="0"/>
              </a:spcAft>
            </a:pPr>
            <a:r>
              <a:rPr lang="en-US" dirty="0"/>
              <a:t>    </a:t>
            </a:r>
            <a:r>
              <a:rPr lang="en-US" dirty="0" err="1"/>
              <a:t>int</a:t>
            </a:r>
            <a:r>
              <a:rPr lang="en-US" dirty="0"/>
              <a:t>* p;</a:t>
            </a:r>
          </a:p>
          <a:p>
            <a:pPr>
              <a:lnSpc>
                <a:spcPct val="120000"/>
              </a:lnSpc>
              <a:spcBef>
                <a:spcPts val="0"/>
              </a:spcBef>
              <a:spcAft>
                <a:spcPts val="0"/>
              </a:spcAft>
            </a:pPr>
            <a:r>
              <a:rPr lang="en-US" dirty="0"/>
              <a:t>public:</a:t>
            </a:r>
          </a:p>
          <a:p>
            <a:pPr>
              <a:lnSpc>
                <a:spcPct val="120000"/>
              </a:lnSpc>
              <a:spcBef>
                <a:spcPts val="0"/>
              </a:spcBef>
              <a:spcAft>
                <a:spcPts val="0"/>
              </a:spcAft>
            </a:pPr>
            <a:r>
              <a:rPr lang="en-US" dirty="0"/>
              <a:t>    Demo()</a:t>
            </a:r>
          </a:p>
          <a:p>
            <a:pPr>
              <a:lnSpc>
                <a:spcPct val="120000"/>
              </a:lnSpc>
              <a:spcBef>
                <a:spcPts val="0"/>
              </a:spcBef>
              <a:spcAft>
                <a:spcPts val="0"/>
              </a:spcAft>
            </a:pPr>
            <a:r>
              <a:rPr lang="en-US" dirty="0"/>
              <a:t>    {</a:t>
            </a:r>
          </a:p>
          <a:p>
            <a:pPr>
              <a:lnSpc>
                <a:spcPct val="120000"/>
              </a:lnSpc>
              <a:spcBef>
                <a:spcPts val="0"/>
              </a:spcBef>
              <a:spcAft>
                <a:spcPts val="0"/>
              </a:spcAft>
            </a:pPr>
            <a:r>
              <a:rPr lang="en-US" dirty="0"/>
              <a:t>        p = new </a:t>
            </a:r>
            <a:r>
              <a:rPr lang="en-US" dirty="0" err="1"/>
              <a:t>int</a:t>
            </a:r>
            <a:r>
              <a:rPr lang="en-US" dirty="0"/>
              <a:t>;</a:t>
            </a:r>
          </a:p>
          <a:p>
            <a:pPr>
              <a:lnSpc>
                <a:spcPct val="120000"/>
              </a:lnSpc>
              <a:spcBef>
                <a:spcPts val="0"/>
              </a:spcBef>
              <a:spcAft>
                <a:spcPts val="0"/>
              </a:spcAft>
            </a:pPr>
            <a:r>
              <a:rPr lang="en-US" dirty="0"/>
              <a:t>    }</a:t>
            </a:r>
          </a:p>
          <a:p>
            <a:pPr>
              <a:lnSpc>
                <a:spcPct val="120000"/>
              </a:lnSpc>
              <a:spcBef>
                <a:spcPts val="0"/>
              </a:spcBef>
              <a:spcAft>
                <a:spcPts val="0"/>
              </a:spcAft>
            </a:pPr>
            <a:r>
              <a:rPr lang="en-US" dirty="0"/>
              <a:t>    void </a:t>
            </a:r>
            <a:r>
              <a:rPr lang="en-US" dirty="0" err="1"/>
              <a:t>setdata</a:t>
            </a:r>
            <a:r>
              <a:rPr lang="en-US" dirty="0"/>
              <a:t>(</a:t>
            </a:r>
            <a:r>
              <a:rPr lang="en-US" dirty="0" err="1"/>
              <a:t>int</a:t>
            </a:r>
            <a:r>
              <a:rPr lang="en-US" dirty="0"/>
              <a:t> x, </a:t>
            </a:r>
            <a:r>
              <a:rPr lang="en-US" dirty="0" err="1"/>
              <a:t>int</a:t>
            </a:r>
            <a:r>
              <a:rPr lang="en-US" dirty="0"/>
              <a:t> y, </a:t>
            </a:r>
            <a:r>
              <a:rPr lang="en-US" dirty="0" err="1"/>
              <a:t>int</a:t>
            </a:r>
            <a:r>
              <a:rPr lang="en-US" dirty="0"/>
              <a:t> z)</a:t>
            </a:r>
          </a:p>
          <a:p>
            <a:pPr>
              <a:lnSpc>
                <a:spcPct val="120000"/>
              </a:lnSpc>
              <a:spcBef>
                <a:spcPts val="0"/>
              </a:spcBef>
              <a:spcAft>
                <a:spcPts val="0"/>
              </a:spcAft>
            </a:pPr>
            <a:r>
              <a:rPr lang="en-US" dirty="0"/>
              <a:t>    {</a:t>
            </a:r>
          </a:p>
          <a:p>
            <a:pPr>
              <a:lnSpc>
                <a:spcPct val="120000"/>
              </a:lnSpc>
              <a:spcBef>
                <a:spcPts val="0"/>
              </a:spcBef>
              <a:spcAft>
                <a:spcPts val="0"/>
              </a:spcAft>
            </a:pPr>
            <a:r>
              <a:rPr lang="en-US" dirty="0"/>
              <a:t>        a = x;</a:t>
            </a:r>
          </a:p>
          <a:p>
            <a:pPr>
              <a:lnSpc>
                <a:spcPct val="120000"/>
              </a:lnSpc>
              <a:spcBef>
                <a:spcPts val="0"/>
              </a:spcBef>
              <a:spcAft>
                <a:spcPts val="0"/>
              </a:spcAft>
            </a:pPr>
            <a:r>
              <a:rPr lang="en-US" dirty="0"/>
              <a:t>        b = y;</a:t>
            </a:r>
          </a:p>
          <a:p>
            <a:pPr>
              <a:lnSpc>
                <a:spcPct val="120000"/>
              </a:lnSpc>
              <a:spcBef>
                <a:spcPts val="0"/>
              </a:spcBef>
              <a:spcAft>
                <a:spcPts val="0"/>
              </a:spcAft>
            </a:pPr>
            <a:r>
              <a:rPr lang="en-US" dirty="0"/>
              <a:t>        *p = z;</a:t>
            </a:r>
          </a:p>
          <a:p>
            <a:pPr>
              <a:lnSpc>
                <a:spcPct val="120000"/>
              </a:lnSpc>
              <a:spcBef>
                <a:spcPts val="0"/>
              </a:spcBef>
              <a:spcAft>
                <a:spcPts val="0"/>
              </a:spcAft>
            </a:pPr>
            <a:r>
              <a:rPr lang="en-US" dirty="0"/>
              <a:t>    }</a:t>
            </a:r>
          </a:p>
          <a:p>
            <a:pPr>
              <a:lnSpc>
                <a:spcPct val="120000"/>
              </a:lnSpc>
              <a:spcBef>
                <a:spcPts val="0"/>
              </a:spcBef>
              <a:spcAft>
                <a:spcPts val="0"/>
              </a:spcAft>
            </a:pPr>
            <a:r>
              <a:rPr lang="en-US" dirty="0"/>
              <a:t>    void </a:t>
            </a:r>
            <a:r>
              <a:rPr lang="en-US" dirty="0" err="1"/>
              <a:t>showdata</a:t>
            </a:r>
            <a:r>
              <a:rPr lang="en-US" dirty="0"/>
              <a:t>()</a:t>
            </a:r>
          </a:p>
          <a:p>
            <a:pPr>
              <a:lnSpc>
                <a:spcPct val="120000"/>
              </a:lnSpc>
              <a:spcBef>
                <a:spcPts val="0"/>
              </a:spcBef>
              <a:spcAft>
                <a:spcPts val="0"/>
              </a:spcAft>
            </a:pPr>
            <a:r>
              <a:rPr lang="en-US" dirty="0"/>
              <a:t>    {</a:t>
            </a:r>
          </a:p>
          <a:p>
            <a:pPr>
              <a:lnSpc>
                <a:spcPct val="120000"/>
              </a:lnSpc>
              <a:spcBef>
                <a:spcPts val="0"/>
              </a:spcBef>
              <a:spcAft>
                <a:spcPts val="0"/>
              </a:spcAft>
            </a:pPr>
            <a:r>
              <a:rPr lang="en-US" dirty="0"/>
              <a:t>        </a:t>
            </a:r>
            <a:r>
              <a:rPr lang="en-US" dirty="0" err="1"/>
              <a:t>cout</a:t>
            </a:r>
            <a:r>
              <a:rPr lang="en-US" dirty="0"/>
              <a:t> &lt;&lt; "value of a is : " &lt;&lt; a &lt;&lt; </a:t>
            </a:r>
            <a:r>
              <a:rPr lang="en-US" dirty="0" err="1"/>
              <a:t>endl</a:t>
            </a:r>
            <a:r>
              <a:rPr lang="en-US" dirty="0"/>
              <a:t>;</a:t>
            </a:r>
          </a:p>
          <a:p>
            <a:pPr>
              <a:lnSpc>
                <a:spcPct val="120000"/>
              </a:lnSpc>
              <a:spcBef>
                <a:spcPts val="0"/>
              </a:spcBef>
              <a:spcAft>
                <a:spcPts val="0"/>
              </a:spcAft>
            </a:pPr>
            <a:r>
              <a:rPr lang="en-US" dirty="0"/>
              <a:t>        </a:t>
            </a:r>
            <a:r>
              <a:rPr lang="en-US" dirty="0" err="1"/>
              <a:t>cout</a:t>
            </a:r>
            <a:r>
              <a:rPr lang="en-US" dirty="0"/>
              <a:t> &lt;&lt; "value of b is : " &lt;&lt; b &lt;&lt; </a:t>
            </a:r>
            <a:r>
              <a:rPr lang="en-US" dirty="0" err="1"/>
              <a:t>endl</a:t>
            </a:r>
            <a:r>
              <a:rPr lang="en-US" dirty="0"/>
              <a:t>;</a:t>
            </a:r>
          </a:p>
          <a:p>
            <a:pPr>
              <a:lnSpc>
                <a:spcPct val="120000"/>
              </a:lnSpc>
              <a:spcBef>
                <a:spcPts val="0"/>
              </a:spcBef>
              <a:spcAft>
                <a:spcPts val="0"/>
              </a:spcAft>
            </a:pPr>
            <a:r>
              <a:rPr lang="en-US" dirty="0"/>
              <a:t>        </a:t>
            </a:r>
            <a:r>
              <a:rPr lang="en-US" dirty="0" err="1"/>
              <a:t>cout</a:t>
            </a:r>
            <a:r>
              <a:rPr lang="en-US" dirty="0"/>
              <a:t> &lt;&lt; "value of *p is : " &lt;&lt; *p &lt;&lt; </a:t>
            </a:r>
            <a:r>
              <a:rPr lang="en-US" dirty="0" err="1"/>
              <a:t>endl</a:t>
            </a:r>
            <a:r>
              <a:rPr lang="en-US" dirty="0"/>
              <a:t>;</a:t>
            </a:r>
          </a:p>
          <a:p>
            <a:pPr>
              <a:lnSpc>
                <a:spcPct val="120000"/>
              </a:lnSpc>
              <a:spcBef>
                <a:spcPts val="0"/>
              </a:spcBef>
              <a:spcAft>
                <a:spcPts val="0"/>
              </a:spcAft>
            </a:pPr>
            <a:r>
              <a:rPr lang="en-US" dirty="0"/>
              <a:t>    }</a:t>
            </a:r>
          </a:p>
          <a:p>
            <a:pPr>
              <a:lnSpc>
                <a:spcPct val="120000"/>
              </a:lnSpc>
              <a:spcBef>
                <a:spcPts val="0"/>
              </a:spcBef>
              <a:spcAft>
                <a:spcPts val="0"/>
              </a:spcAft>
            </a:pPr>
            <a:r>
              <a:rPr lang="en-US" dirty="0" smtClean="0"/>
              <a:t>};</a:t>
            </a:r>
            <a:endParaRPr lang="en-US" dirty="0"/>
          </a:p>
        </p:txBody>
      </p:sp>
      <p:sp>
        <p:nvSpPr>
          <p:cNvPr id="4" name="Rectangle 3"/>
          <p:cNvSpPr/>
          <p:nvPr/>
        </p:nvSpPr>
        <p:spPr>
          <a:xfrm>
            <a:off x="4748056" y="474732"/>
            <a:ext cx="6096000" cy="3083921"/>
          </a:xfrm>
          <a:prstGeom prst="rect">
            <a:avLst/>
          </a:prstGeom>
        </p:spPr>
        <p:txBody>
          <a:bodyPr>
            <a:spAutoFit/>
          </a:bodyPr>
          <a:lstStyle/>
          <a:p>
            <a:pPr>
              <a:lnSpc>
                <a:spcPct val="120000"/>
              </a:lnSpc>
              <a:spcBef>
                <a:spcPts val="0"/>
              </a:spcBef>
              <a:spcAft>
                <a:spcPts val="0"/>
              </a:spcAft>
            </a:pPr>
            <a:r>
              <a:rPr lang="en-US" dirty="0" err="1" smtClean="0"/>
              <a:t>int</a:t>
            </a:r>
            <a:r>
              <a:rPr lang="en-US" dirty="0" smtClean="0"/>
              <a:t> main()</a:t>
            </a:r>
          </a:p>
          <a:p>
            <a:pPr>
              <a:lnSpc>
                <a:spcPct val="120000"/>
              </a:lnSpc>
              <a:spcBef>
                <a:spcPts val="0"/>
              </a:spcBef>
              <a:spcAft>
                <a:spcPts val="0"/>
              </a:spcAft>
            </a:pPr>
            <a:r>
              <a:rPr lang="en-US" dirty="0" smtClean="0"/>
              <a:t>{</a:t>
            </a:r>
          </a:p>
          <a:p>
            <a:pPr>
              <a:lnSpc>
                <a:spcPct val="120000"/>
              </a:lnSpc>
              <a:spcBef>
                <a:spcPts val="0"/>
              </a:spcBef>
              <a:spcAft>
                <a:spcPts val="0"/>
              </a:spcAft>
            </a:pPr>
            <a:r>
              <a:rPr lang="en-US" dirty="0" smtClean="0"/>
              <a:t>    Demo d1;</a:t>
            </a:r>
          </a:p>
          <a:p>
            <a:pPr>
              <a:lnSpc>
                <a:spcPct val="120000"/>
              </a:lnSpc>
              <a:spcBef>
                <a:spcPts val="0"/>
              </a:spcBef>
              <a:spcAft>
                <a:spcPts val="0"/>
              </a:spcAft>
            </a:pPr>
            <a:r>
              <a:rPr lang="en-US" dirty="0" smtClean="0"/>
              <a:t>    d1.setdata(4, 5, 7);</a:t>
            </a:r>
          </a:p>
          <a:p>
            <a:pPr>
              <a:lnSpc>
                <a:spcPct val="120000"/>
              </a:lnSpc>
              <a:spcBef>
                <a:spcPts val="0"/>
              </a:spcBef>
              <a:spcAft>
                <a:spcPts val="0"/>
              </a:spcAft>
            </a:pPr>
            <a:r>
              <a:rPr lang="en-US" dirty="0" smtClean="0"/>
              <a:t>    Demo d2 = d1;</a:t>
            </a:r>
          </a:p>
          <a:p>
            <a:pPr>
              <a:lnSpc>
                <a:spcPct val="120000"/>
              </a:lnSpc>
              <a:spcBef>
                <a:spcPts val="0"/>
              </a:spcBef>
              <a:spcAft>
                <a:spcPts val="0"/>
              </a:spcAft>
            </a:pPr>
            <a:r>
              <a:rPr lang="en-US" dirty="0" smtClean="0"/>
              <a:t>    d1.setdata(3, 5, 5);</a:t>
            </a:r>
          </a:p>
          <a:p>
            <a:pPr>
              <a:lnSpc>
                <a:spcPct val="120000"/>
              </a:lnSpc>
              <a:spcBef>
                <a:spcPts val="0"/>
              </a:spcBef>
              <a:spcAft>
                <a:spcPts val="0"/>
              </a:spcAft>
            </a:pPr>
            <a:r>
              <a:rPr lang="en-US" dirty="0" smtClean="0"/>
              <a:t>    d2.showdata();</a:t>
            </a:r>
          </a:p>
          <a:p>
            <a:pPr>
              <a:lnSpc>
                <a:spcPct val="120000"/>
              </a:lnSpc>
              <a:spcBef>
                <a:spcPts val="0"/>
              </a:spcBef>
              <a:spcAft>
                <a:spcPts val="0"/>
              </a:spcAft>
            </a:pPr>
            <a:r>
              <a:rPr lang="en-US" dirty="0" smtClean="0"/>
              <a:t>    return 0;</a:t>
            </a:r>
          </a:p>
          <a:p>
            <a:pPr>
              <a:lnSpc>
                <a:spcPct val="120000"/>
              </a:lnSpc>
              <a:spcBef>
                <a:spcPts val="0"/>
              </a:spcBef>
              <a:spcAft>
                <a:spcPts val="0"/>
              </a:spcAft>
            </a:pPr>
            <a:r>
              <a:rPr lang="en-US" dirty="0" smtClean="0"/>
              <a:t>}</a:t>
            </a:r>
            <a:endParaRPr lang="en-US" dirty="0"/>
          </a:p>
        </p:txBody>
      </p:sp>
      <p:sp>
        <p:nvSpPr>
          <p:cNvPr id="5" name="Rectangle 4"/>
          <p:cNvSpPr/>
          <p:nvPr/>
        </p:nvSpPr>
        <p:spPr>
          <a:xfrm>
            <a:off x="5764132" y="3210468"/>
            <a:ext cx="6096000" cy="3139321"/>
          </a:xfrm>
          <a:prstGeom prst="rect">
            <a:avLst/>
          </a:prstGeom>
        </p:spPr>
        <p:txBody>
          <a:bodyPr>
            <a:spAutoFit/>
          </a:bodyPr>
          <a:lstStyle/>
          <a:p>
            <a:r>
              <a:rPr lang="en-US" b="0" i="0" dirty="0" smtClean="0">
                <a:solidFill>
                  <a:srgbClr val="333333"/>
                </a:solidFill>
                <a:effectLst/>
                <a:latin typeface="inter-regular"/>
              </a:rPr>
              <a:t>In the above case, a programmer has not defined any constructor, therefore, the statement </a:t>
            </a:r>
            <a:r>
              <a:rPr lang="en-US" b="1" i="0" dirty="0" smtClean="0">
                <a:solidFill>
                  <a:srgbClr val="333333"/>
                </a:solidFill>
                <a:effectLst/>
                <a:latin typeface="inter-bold"/>
              </a:rPr>
              <a:t>Demo d2 = d1;</a:t>
            </a:r>
            <a:r>
              <a:rPr lang="en-US" b="0" i="0" dirty="0" smtClean="0">
                <a:solidFill>
                  <a:srgbClr val="333333"/>
                </a:solidFill>
                <a:effectLst/>
                <a:latin typeface="inter-regular"/>
              </a:rPr>
              <a:t> calls the default constructor defined by the compiler. The default constructor creates the exact copy or shallow copy of the existing object. Thus, the pointer p of both the objects point to the same memory location. Therefore, when the memory of a field is freed, the memory of another field is also automatically freed as both the fields point to the same memory location. This problem is solved by the </a:t>
            </a:r>
            <a:r>
              <a:rPr lang="en-US" b="1" i="0" dirty="0" smtClean="0">
                <a:solidFill>
                  <a:srgbClr val="333333"/>
                </a:solidFill>
                <a:effectLst/>
                <a:latin typeface="inter-bold"/>
              </a:rPr>
              <a:t>user-defined constructor</a:t>
            </a:r>
            <a:r>
              <a:rPr lang="en-US" b="0" i="0" dirty="0" smtClean="0">
                <a:solidFill>
                  <a:srgbClr val="333333"/>
                </a:solidFill>
                <a:effectLst/>
                <a:latin typeface="inter-regular"/>
              </a:rPr>
              <a:t> that creates the </a:t>
            </a:r>
            <a:r>
              <a:rPr lang="en-US" b="1" i="0" dirty="0" smtClean="0">
                <a:solidFill>
                  <a:srgbClr val="333333"/>
                </a:solidFill>
                <a:effectLst/>
                <a:latin typeface="inter-bold"/>
              </a:rPr>
              <a:t>Deep copy</a:t>
            </a:r>
            <a:r>
              <a:rPr lang="en-US" b="0" i="0" dirty="0" smtClean="0">
                <a:solidFill>
                  <a:srgbClr val="333333"/>
                </a:solidFill>
                <a:effectLst/>
                <a:latin typeface="inter-regular"/>
              </a:rPr>
              <a:t>.</a:t>
            </a:r>
            <a:endParaRPr lang="en-US" dirty="0"/>
          </a:p>
        </p:txBody>
      </p:sp>
      <p:pic>
        <p:nvPicPr>
          <p:cNvPr id="1026" name="Picture 2" descr="C++ Copy Constr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4862" y="474732"/>
            <a:ext cx="3467100" cy="201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06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Deep </a:t>
            </a:r>
            <a:r>
              <a:rPr lang="en-US" dirty="0" smtClean="0"/>
              <a:t>copy</a:t>
            </a:r>
            <a:endParaRPr lang="en-US" dirty="0"/>
          </a:p>
        </p:txBody>
      </p:sp>
      <p:sp>
        <p:nvSpPr>
          <p:cNvPr id="3" name="Content Placeholder 2"/>
          <p:cNvSpPr>
            <a:spLocks noGrp="1"/>
          </p:cNvSpPr>
          <p:nvPr>
            <p:ph idx="1"/>
          </p:nvPr>
        </p:nvSpPr>
        <p:spPr/>
        <p:txBody>
          <a:bodyPr>
            <a:normAutofit/>
          </a:bodyPr>
          <a:lstStyle/>
          <a:p>
            <a:r>
              <a:rPr lang="en-US" sz="2800" dirty="0"/>
              <a:t>Deep copy dynamically allocates the memory for the copy and then copies the actual value, both the source and copy have distinct memory locations. In this way, both the source and copy are distinct and will not share the same memory location. Deep copy requires us to write the user-defined constructor.</a:t>
            </a:r>
          </a:p>
          <a:p>
            <a:r>
              <a:rPr lang="en-US" sz="2800" dirty="0"/>
              <a:t>Let's understand this through a simple example.</a:t>
            </a:r>
          </a:p>
          <a:p>
            <a:endParaRPr lang="en-US" sz="2800" dirty="0"/>
          </a:p>
        </p:txBody>
      </p:sp>
    </p:spTree>
    <p:extLst>
      <p:ext uri="{BB962C8B-B14F-4D97-AF65-F5344CB8AC3E}">
        <p14:creationId xmlns:p14="http://schemas.microsoft.com/office/powerpoint/2010/main" val="45860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0125" y="1"/>
            <a:ext cx="11005555" cy="5869094"/>
          </a:xfrm>
        </p:spPr>
        <p:txBody>
          <a:bodyPr>
            <a:noAutofit/>
          </a:bodyPr>
          <a:lstStyle/>
          <a:p>
            <a:pPr>
              <a:lnSpc>
                <a:spcPct val="120000"/>
              </a:lnSpc>
              <a:spcBef>
                <a:spcPts val="0"/>
              </a:spcBef>
              <a:spcAft>
                <a:spcPts val="0"/>
              </a:spcAft>
            </a:pPr>
            <a:r>
              <a:rPr lang="en-US" sz="1400" dirty="0"/>
              <a:t>#include &lt;</a:t>
            </a:r>
            <a:r>
              <a:rPr lang="en-US" sz="1400" dirty="0" err="1"/>
              <a:t>iostream</a:t>
            </a:r>
            <a:r>
              <a:rPr lang="en-US" sz="1400" dirty="0"/>
              <a:t>&gt;  </a:t>
            </a:r>
          </a:p>
          <a:p>
            <a:pPr>
              <a:lnSpc>
                <a:spcPct val="120000"/>
              </a:lnSpc>
              <a:spcBef>
                <a:spcPts val="0"/>
              </a:spcBef>
              <a:spcAft>
                <a:spcPts val="0"/>
              </a:spcAft>
            </a:pPr>
            <a:r>
              <a:rPr lang="en-US" sz="1400" dirty="0"/>
              <a:t>using namespace </a:t>
            </a:r>
            <a:r>
              <a:rPr lang="en-US" sz="1400" dirty="0" err="1"/>
              <a:t>std</a:t>
            </a:r>
            <a:r>
              <a:rPr lang="en-US" sz="1400" dirty="0"/>
              <a:t>;</a:t>
            </a:r>
          </a:p>
          <a:p>
            <a:pPr>
              <a:lnSpc>
                <a:spcPct val="120000"/>
              </a:lnSpc>
              <a:spcBef>
                <a:spcPts val="0"/>
              </a:spcBef>
              <a:spcAft>
                <a:spcPts val="0"/>
              </a:spcAft>
            </a:pPr>
            <a:r>
              <a:rPr lang="en-US" sz="1400" dirty="0"/>
              <a:t>class Demo</a:t>
            </a:r>
          </a:p>
          <a:p>
            <a:pPr>
              <a:lnSpc>
                <a:spcPct val="120000"/>
              </a:lnSpc>
              <a:spcBef>
                <a:spcPts val="0"/>
              </a:spcBef>
              <a:spcAft>
                <a:spcPts val="0"/>
              </a:spcAft>
            </a:pPr>
            <a:r>
              <a:rPr lang="en-US" sz="1400" dirty="0"/>
              <a:t>{</a:t>
            </a:r>
          </a:p>
          <a:p>
            <a:pPr>
              <a:lnSpc>
                <a:spcPct val="120000"/>
              </a:lnSpc>
              <a:spcBef>
                <a:spcPts val="0"/>
              </a:spcBef>
              <a:spcAft>
                <a:spcPts val="0"/>
              </a:spcAft>
            </a:pPr>
            <a:r>
              <a:rPr lang="en-US" sz="1400" dirty="0"/>
              <a:t>public:</a:t>
            </a:r>
          </a:p>
          <a:p>
            <a:pPr>
              <a:lnSpc>
                <a:spcPct val="120000"/>
              </a:lnSpc>
              <a:spcBef>
                <a:spcPts val="0"/>
              </a:spcBef>
              <a:spcAft>
                <a:spcPts val="0"/>
              </a:spcAft>
            </a:pPr>
            <a:r>
              <a:rPr lang="en-US" sz="1400" dirty="0"/>
              <a:t>    </a:t>
            </a:r>
            <a:r>
              <a:rPr lang="en-US" sz="1400" dirty="0" err="1"/>
              <a:t>int</a:t>
            </a:r>
            <a:r>
              <a:rPr lang="en-US" sz="1400" dirty="0"/>
              <a:t> a;</a:t>
            </a:r>
          </a:p>
          <a:p>
            <a:pPr>
              <a:lnSpc>
                <a:spcPct val="120000"/>
              </a:lnSpc>
              <a:spcBef>
                <a:spcPts val="0"/>
              </a:spcBef>
              <a:spcAft>
                <a:spcPts val="0"/>
              </a:spcAft>
            </a:pPr>
            <a:r>
              <a:rPr lang="en-US" sz="1400" dirty="0"/>
              <a:t>    </a:t>
            </a:r>
            <a:r>
              <a:rPr lang="en-US" sz="1400" dirty="0" err="1"/>
              <a:t>int</a:t>
            </a:r>
            <a:r>
              <a:rPr lang="en-US" sz="1400" dirty="0"/>
              <a:t> b;</a:t>
            </a:r>
          </a:p>
          <a:p>
            <a:pPr>
              <a:lnSpc>
                <a:spcPct val="120000"/>
              </a:lnSpc>
              <a:spcBef>
                <a:spcPts val="0"/>
              </a:spcBef>
              <a:spcAft>
                <a:spcPts val="0"/>
              </a:spcAft>
            </a:pPr>
            <a:r>
              <a:rPr lang="en-US" sz="1400" dirty="0"/>
              <a:t>    </a:t>
            </a:r>
            <a:r>
              <a:rPr lang="en-US" sz="1400" dirty="0" err="1"/>
              <a:t>int</a:t>
            </a:r>
            <a:r>
              <a:rPr lang="en-US" sz="1400" dirty="0"/>
              <a:t>* p;</a:t>
            </a:r>
          </a:p>
          <a:p>
            <a:pPr>
              <a:lnSpc>
                <a:spcPct val="120000"/>
              </a:lnSpc>
              <a:spcBef>
                <a:spcPts val="0"/>
              </a:spcBef>
              <a:spcAft>
                <a:spcPts val="0"/>
              </a:spcAft>
            </a:pPr>
            <a:r>
              <a:rPr lang="en-US" sz="1400" dirty="0" smtClean="0"/>
              <a:t>    </a:t>
            </a:r>
            <a:r>
              <a:rPr lang="en-US" sz="1400" dirty="0"/>
              <a:t>Demo()</a:t>
            </a:r>
          </a:p>
          <a:p>
            <a:pPr>
              <a:lnSpc>
                <a:spcPct val="120000"/>
              </a:lnSpc>
              <a:spcBef>
                <a:spcPts val="0"/>
              </a:spcBef>
              <a:spcAft>
                <a:spcPts val="0"/>
              </a:spcAft>
            </a:pPr>
            <a:r>
              <a:rPr lang="en-US" sz="1400" dirty="0"/>
              <a:t>    {</a:t>
            </a:r>
          </a:p>
          <a:p>
            <a:pPr>
              <a:lnSpc>
                <a:spcPct val="120000"/>
              </a:lnSpc>
              <a:spcBef>
                <a:spcPts val="0"/>
              </a:spcBef>
              <a:spcAft>
                <a:spcPts val="0"/>
              </a:spcAft>
            </a:pPr>
            <a:r>
              <a:rPr lang="en-US" sz="1400" dirty="0"/>
              <a:t>        p = new </a:t>
            </a:r>
            <a:r>
              <a:rPr lang="en-US" sz="1400" dirty="0" err="1"/>
              <a:t>int</a:t>
            </a:r>
            <a:r>
              <a:rPr lang="en-US" sz="1400" dirty="0"/>
              <a:t>;</a:t>
            </a:r>
          </a:p>
          <a:p>
            <a:pPr>
              <a:lnSpc>
                <a:spcPct val="120000"/>
              </a:lnSpc>
              <a:spcBef>
                <a:spcPts val="0"/>
              </a:spcBef>
              <a:spcAft>
                <a:spcPts val="0"/>
              </a:spcAft>
            </a:pPr>
            <a:r>
              <a:rPr lang="en-US" sz="1400" dirty="0"/>
              <a:t>    }</a:t>
            </a:r>
          </a:p>
          <a:p>
            <a:pPr>
              <a:lnSpc>
                <a:spcPct val="120000"/>
              </a:lnSpc>
              <a:spcBef>
                <a:spcPts val="0"/>
              </a:spcBef>
              <a:spcAft>
                <a:spcPts val="0"/>
              </a:spcAft>
            </a:pPr>
            <a:r>
              <a:rPr lang="en-US" sz="1400" dirty="0"/>
              <a:t>    Demo(Demo&amp; d)</a:t>
            </a:r>
          </a:p>
          <a:p>
            <a:pPr>
              <a:lnSpc>
                <a:spcPct val="120000"/>
              </a:lnSpc>
              <a:spcBef>
                <a:spcPts val="0"/>
              </a:spcBef>
              <a:spcAft>
                <a:spcPts val="0"/>
              </a:spcAft>
            </a:pPr>
            <a:r>
              <a:rPr lang="en-US" sz="1400" dirty="0"/>
              <a:t>    {</a:t>
            </a:r>
          </a:p>
          <a:p>
            <a:pPr>
              <a:lnSpc>
                <a:spcPct val="120000"/>
              </a:lnSpc>
              <a:spcBef>
                <a:spcPts val="0"/>
              </a:spcBef>
              <a:spcAft>
                <a:spcPts val="0"/>
              </a:spcAft>
            </a:pPr>
            <a:r>
              <a:rPr lang="en-US" sz="1400" dirty="0"/>
              <a:t>        a = </a:t>
            </a:r>
            <a:r>
              <a:rPr lang="en-US" sz="1400" dirty="0" err="1"/>
              <a:t>d.a</a:t>
            </a:r>
            <a:r>
              <a:rPr lang="en-US" sz="1400" dirty="0"/>
              <a:t>;</a:t>
            </a:r>
          </a:p>
          <a:p>
            <a:pPr>
              <a:lnSpc>
                <a:spcPct val="120000"/>
              </a:lnSpc>
              <a:spcBef>
                <a:spcPts val="0"/>
              </a:spcBef>
              <a:spcAft>
                <a:spcPts val="0"/>
              </a:spcAft>
            </a:pPr>
            <a:r>
              <a:rPr lang="en-US" sz="1400" dirty="0"/>
              <a:t>        b = </a:t>
            </a:r>
            <a:r>
              <a:rPr lang="en-US" sz="1400" dirty="0" err="1"/>
              <a:t>d.b</a:t>
            </a:r>
            <a:r>
              <a:rPr lang="en-US" sz="1400" dirty="0"/>
              <a:t>;</a:t>
            </a:r>
          </a:p>
          <a:p>
            <a:pPr>
              <a:lnSpc>
                <a:spcPct val="120000"/>
              </a:lnSpc>
              <a:spcBef>
                <a:spcPts val="0"/>
              </a:spcBef>
              <a:spcAft>
                <a:spcPts val="0"/>
              </a:spcAft>
            </a:pPr>
            <a:r>
              <a:rPr lang="en-US" sz="1400" dirty="0"/>
              <a:t>        p = new </a:t>
            </a:r>
            <a:r>
              <a:rPr lang="en-US" sz="1400" dirty="0" err="1"/>
              <a:t>int</a:t>
            </a:r>
            <a:r>
              <a:rPr lang="en-US" sz="1400" dirty="0"/>
              <a:t>;</a:t>
            </a:r>
          </a:p>
          <a:p>
            <a:pPr>
              <a:lnSpc>
                <a:spcPct val="120000"/>
              </a:lnSpc>
              <a:spcBef>
                <a:spcPts val="0"/>
              </a:spcBef>
              <a:spcAft>
                <a:spcPts val="0"/>
              </a:spcAft>
            </a:pPr>
            <a:r>
              <a:rPr lang="en-US" sz="1400" dirty="0"/>
              <a:t>        *p = *(</a:t>
            </a:r>
            <a:r>
              <a:rPr lang="en-US" sz="1400" dirty="0" err="1"/>
              <a:t>d.p</a:t>
            </a:r>
            <a:r>
              <a:rPr lang="en-US" sz="1400" dirty="0"/>
              <a:t>);</a:t>
            </a:r>
          </a:p>
          <a:p>
            <a:pPr>
              <a:lnSpc>
                <a:spcPct val="120000"/>
              </a:lnSpc>
              <a:spcBef>
                <a:spcPts val="0"/>
              </a:spcBef>
              <a:spcAft>
                <a:spcPts val="0"/>
              </a:spcAft>
            </a:pPr>
            <a:r>
              <a:rPr lang="en-US" sz="1400" dirty="0"/>
              <a:t>    }</a:t>
            </a:r>
          </a:p>
          <a:p>
            <a:pPr>
              <a:lnSpc>
                <a:spcPct val="120000"/>
              </a:lnSpc>
              <a:spcBef>
                <a:spcPts val="0"/>
              </a:spcBef>
              <a:spcAft>
                <a:spcPts val="0"/>
              </a:spcAft>
            </a:pPr>
            <a:r>
              <a:rPr lang="en-US" sz="1400" dirty="0"/>
              <a:t>    void </a:t>
            </a:r>
            <a:r>
              <a:rPr lang="en-US" sz="1400" dirty="0" err="1"/>
              <a:t>setdata</a:t>
            </a:r>
            <a:r>
              <a:rPr lang="en-US" sz="1400" dirty="0"/>
              <a:t>(</a:t>
            </a:r>
            <a:r>
              <a:rPr lang="en-US" sz="1400" dirty="0" err="1"/>
              <a:t>int</a:t>
            </a:r>
            <a:r>
              <a:rPr lang="en-US" sz="1400" dirty="0"/>
              <a:t> x, </a:t>
            </a:r>
            <a:r>
              <a:rPr lang="en-US" sz="1400" dirty="0" err="1"/>
              <a:t>int</a:t>
            </a:r>
            <a:r>
              <a:rPr lang="en-US" sz="1400" dirty="0"/>
              <a:t> y, </a:t>
            </a:r>
            <a:r>
              <a:rPr lang="en-US" sz="1400" dirty="0" err="1"/>
              <a:t>int</a:t>
            </a:r>
            <a:r>
              <a:rPr lang="en-US" sz="1400" dirty="0"/>
              <a:t> z)</a:t>
            </a:r>
          </a:p>
          <a:p>
            <a:pPr>
              <a:lnSpc>
                <a:spcPct val="120000"/>
              </a:lnSpc>
              <a:spcBef>
                <a:spcPts val="0"/>
              </a:spcBef>
              <a:spcAft>
                <a:spcPts val="0"/>
              </a:spcAft>
            </a:pPr>
            <a:r>
              <a:rPr lang="en-US" sz="1400" dirty="0"/>
              <a:t>    {</a:t>
            </a:r>
          </a:p>
          <a:p>
            <a:pPr>
              <a:lnSpc>
                <a:spcPct val="120000"/>
              </a:lnSpc>
              <a:spcBef>
                <a:spcPts val="0"/>
              </a:spcBef>
              <a:spcAft>
                <a:spcPts val="0"/>
              </a:spcAft>
            </a:pPr>
            <a:r>
              <a:rPr lang="en-US" sz="1400" dirty="0"/>
              <a:t>        a = x;</a:t>
            </a:r>
          </a:p>
          <a:p>
            <a:pPr>
              <a:lnSpc>
                <a:spcPct val="120000"/>
              </a:lnSpc>
              <a:spcBef>
                <a:spcPts val="0"/>
              </a:spcBef>
              <a:spcAft>
                <a:spcPts val="0"/>
              </a:spcAft>
            </a:pPr>
            <a:r>
              <a:rPr lang="en-US" sz="1400" dirty="0"/>
              <a:t>        b = y;</a:t>
            </a:r>
          </a:p>
          <a:p>
            <a:pPr>
              <a:lnSpc>
                <a:spcPct val="120000"/>
              </a:lnSpc>
              <a:spcBef>
                <a:spcPts val="0"/>
              </a:spcBef>
              <a:spcAft>
                <a:spcPts val="0"/>
              </a:spcAft>
            </a:pPr>
            <a:r>
              <a:rPr lang="en-US" sz="1400" dirty="0"/>
              <a:t>        *p = z;</a:t>
            </a:r>
          </a:p>
          <a:p>
            <a:pPr>
              <a:lnSpc>
                <a:spcPct val="120000"/>
              </a:lnSpc>
              <a:spcBef>
                <a:spcPts val="0"/>
              </a:spcBef>
              <a:spcAft>
                <a:spcPts val="0"/>
              </a:spcAft>
            </a:pPr>
            <a:r>
              <a:rPr lang="en-US" sz="1400" dirty="0"/>
              <a:t>    </a:t>
            </a:r>
            <a:r>
              <a:rPr lang="en-US" sz="1400" dirty="0" smtClean="0"/>
              <a:t>}</a:t>
            </a:r>
            <a:endParaRPr lang="en-US" sz="1400" dirty="0"/>
          </a:p>
        </p:txBody>
      </p:sp>
      <p:sp>
        <p:nvSpPr>
          <p:cNvPr id="4" name="Rectangle 3"/>
          <p:cNvSpPr/>
          <p:nvPr/>
        </p:nvSpPr>
        <p:spPr>
          <a:xfrm>
            <a:off x="2947916" y="372492"/>
            <a:ext cx="9018441" cy="5410712"/>
          </a:xfrm>
          <a:prstGeom prst="rect">
            <a:avLst/>
          </a:prstGeom>
        </p:spPr>
        <p:txBody>
          <a:bodyPr wrap="square">
            <a:spAutoFit/>
          </a:bodyPr>
          <a:lstStyle/>
          <a:p>
            <a:pPr>
              <a:lnSpc>
                <a:spcPct val="120000"/>
              </a:lnSpc>
              <a:spcBef>
                <a:spcPts val="0"/>
              </a:spcBef>
              <a:spcAft>
                <a:spcPts val="0"/>
              </a:spcAft>
            </a:pPr>
            <a:r>
              <a:rPr lang="en-US" dirty="0" smtClean="0"/>
              <a:t> void </a:t>
            </a:r>
            <a:r>
              <a:rPr lang="en-US" dirty="0" err="1" smtClean="0"/>
              <a:t>showdata</a:t>
            </a:r>
            <a:r>
              <a:rPr lang="en-US" dirty="0" smtClean="0"/>
              <a:t>()</a:t>
            </a:r>
          </a:p>
          <a:p>
            <a:pPr>
              <a:lnSpc>
                <a:spcPct val="120000"/>
              </a:lnSpc>
              <a:spcBef>
                <a:spcPts val="0"/>
              </a:spcBef>
              <a:spcAft>
                <a:spcPts val="0"/>
              </a:spcAft>
            </a:pPr>
            <a:r>
              <a:rPr lang="en-US" dirty="0" smtClean="0"/>
              <a:t>    {</a:t>
            </a:r>
          </a:p>
          <a:p>
            <a:pPr>
              <a:lnSpc>
                <a:spcPct val="120000"/>
              </a:lnSpc>
              <a:spcBef>
                <a:spcPts val="0"/>
              </a:spcBef>
              <a:spcAft>
                <a:spcPts val="0"/>
              </a:spcAft>
            </a:pPr>
            <a:r>
              <a:rPr lang="en-US" dirty="0" smtClean="0"/>
              <a:t>        </a:t>
            </a:r>
            <a:r>
              <a:rPr lang="en-US" dirty="0" err="1" smtClean="0"/>
              <a:t>cout</a:t>
            </a:r>
            <a:r>
              <a:rPr lang="en-US" dirty="0" smtClean="0"/>
              <a:t> &lt;&lt; "value of a is : " &lt;&lt; a &lt;&lt; </a:t>
            </a:r>
            <a:r>
              <a:rPr lang="en-US" dirty="0" err="1" smtClean="0"/>
              <a:t>endl</a:t>
            </a:r>
            <a:r>
              <a:rPr lang="en-US" dirty="0" smtClean="0"/>
              <a:t>;</a:t>
            </a:r>
          </a:p>
          <a:p>
            <a:pPr>
              <a:lnSpc>
                <a:spcPct val="120000"/>
              </a:lnSpc>
              <a:spcBef>
                <a:spcPts val="0"/>
              </a:spcBef>
              <a:spcAft>
                <a:spcPts val="0"/>
              </a:spcAft>
            </a:pPr>
            <a:r>
              <a:rPr lang="en-US" dirty="0" smtClean="0"/>
              <a:t>        </a:t>
            </a:r>
            <a:r>
              <a:rPr lang="en-US" dirty="0" err="1" smtClean="0"/>
              <a:t>cout</a:t>
            </a:r>
            <a:r>
              <a:rPr lang="en-US" dirty="0" smtClean="0"/>
              <a:t> &lt;&lt; "value of b is : " &lt;&lt; b &lt;&lt; </a:t>
            </a:r>
            <a:r>
              <a:rPr lang="en-US" dirty="0" err="1" smtClean="0"/>
              <a:t>endl</a:t>
            </a:r>
            <a:r>
              <a:rPr lang="en-US" dirty="0" smtClean="0"/>
              <a:t>;</a:t>
            </a:r>
          </a:p>
          <a:p>
            <a:pPr>
              <a:lnSpc>
                <a:spcPct val="120000"/>
              </a:lnSpc>
              <a:spcBef>
                <a:spcPts val="0"/>
              </a:spcBef>
              <a:spcAft>
                <a:spcPts val="0"/>
              </a:spcAft>
            </a:pPr>
            <a:r>
              <a:rPr lang="en-US" dirty="0" smtClean="0"/>
              <a:t>        </a:t>
            </a:r>
            <a:r>
              <a:rPr lang="en-US" dirty="0" err="1" smtClean="0"/>
              <a:t>cout</a:t>
            </a:r>
            <a:r>
              <a:rPr lang="en-US" dirty="0" smtClean="0"/>
              <a:t> &lt;&lt; "value of *p is : " &lt;&lt; *p &lt;&lt; </a:t>
            </a:r>
            <a:r>
              <a:rPr lang="en-US" dirty="0" err="1" smtClean="0"/>
              <a:t>endl</a:t>
            </a:r>
            <a:r>
              <a:rPr lang="en-US" dirty="0" smtClean="0"/>
              <a:t>;</a:t>
            </a:r>
          </a:p>
          <a:p>
            <a:pPr>
              <a:lnSpc>
                <a:spcPct val="120000"/>
              </a:lnSpc>
              <a:spcBef>
                <a:spcPts val="0"/>
              </a:spcBef>
              <a:spcAft>
                <a:spcPts val="0"/>
              </a:spcAft>
            </a:pPr>
            <a:r>
              <a:rPr lang="en-US" dirty="0" smtClean="0"/>
              <a:t>    }</a:t>
            </a:r>
          </a:p>
          <a:p>
            <a:pPr>
              <a:lnSpc>
                <a:spcPct val="120000"/>
              </a:lnSpc>
              <a:spcBef>
                <a:spcPts val="0"/>
              </a:spcBef>
              <a:spcAft>
                <a:spcPts val="0"/>
              </a:spcAft>
            </a:pPr>
            <a:r>
              <a:rPr lang="en-US" dirty="0" smtClean="0"/>
              <a:t>};</a:t>
            </a:r>
          </a:p>
          <a:p>
            <a:pPr>
              <a:lnSpc>
                <a:spcPct val="120000"/>
              </a:lnSpc>
              <a:spcBef>
                <a:spcPts val="0"/>
              </a:spcBef>
              <a:spcAft>
                <a:spcPts val="0"/>
              </a:spcAft>
            </a:pPr>
            <a:r>
              <a:rPr lang="en-US" dirty="0" err="1" smtClean="0"/>
              <a:t>int</a:t>
            </a:r>
            <a:r>
              <a:rPr lang="en-US" dirty="0" smtClean="0"/>
              <a:t> main()</a:t>
            </a:r>
          </a:p>
          <a:p>
            <a:pPr>
              <a:lnSpc>
                <a:spcPct val="120000"/>
              </a:lnSpc>
              <a:spcBef>
                <a:spcPts val="0"/>
              </a:spcBef>
              <a:spcAft>
                <a:spcPts val="0"/>
              </a:spcAft>
            </a:pPr>
            <a:r>
              <a:rPr lang="en-US" dirty="0" smtClean="0"/>
              <a:t>{</a:t>
            </a:r>
          </a:p>
          <a:p>
            <a:pPr>
              <a:lnSpc>
                <a:spcPct val="120000"/>
              </a:lnSpc>
              <a:spcBef>
                <a:spcPts val="0"/>
              </a:spcBef>
              <a:spcAft>
                <a:spcPts val="0"/>
              </a:spcAft>
            </a:pPr>
            <a:r>
              <a:rPr lang="en-US" dirty="0" smtClean="0"/>
              <a:t>    Demo d1;</a:t>
            </a:r>
          </a:p>
          <a:p>
            <a:pPr>
              <a:lnSpc>
                <a:spcPct val="120000"/>
              </a:lnSpc>
              <a:spcBef>
                <a:spcPts val="0"/>
              </a:spcBef>
              <a:spcAft>
                <a:spcPts val="0"/>
              </a:spcAft>
            </a:pPr>
            <a:r>
              <a:rPr lang="en-US" dirty="0" smtClean="0"/>
              <a:t>    d1.setdata(4, 5, 7);</a:t>
            </a:r>
          </a:p>
          <a:p>
            <a:pPr>
              <a:lnSpc>
                <a:spcPct val="120000"/>
              </a:lnSpc>
              <a:spcBef>
                <a:spcPts val="0"/>
              </a:spcBef>
              <a:spcAft>
                <a:spcPts val="0"/>
              </a:spcAft>
            </a:pPr>
            <a:r>
              <a:rPr lang="en-US" dirty="0" smtClean="0"/>
              <a:t>    Demo d2 = d1;</a:t>
            </a:r>
          </a:p>
          <a:p>
            <a:pPr>
              <a:lnSpc>
                <a:spcPct val="120000"/>
              </a:lnSpc>
              <a:spcBef>
                <a:spcPts val="0"/>
              </a:spcBef>
              <a:spcAft>
                <a:spcPts val="0"/>
              </a:spcAft>
            </a:pPr>
            <a:r>
              <a:rPr lang="en-US" dirty="0" smtClean="0"/>
              <a:t>    d1.setdata(4, 5, 5);</a:t>
            </a:r>
          </a:p>
          <a:p>
            <a:pPr>
              <a:lnSpc>
                <a:spcPct val="120000"/>
              </a:lnSpc>
              <a:spcBef>
                <a:spcPts val="0"/>
              </a:spcBef>
              <a:spcAft>
                <a:spcPts val="0"/>
              </a:spcAft>
            </a:pPr>
            <a:r>
              <a:rPr lang="en-US" dirty="0" smtClean="0"/>
              <a:t>    d2.showdata();</a:t>
            </a:r>
          </a:p>
          <a:p>
            <a:pPr>
              <a:lnSpc>
                <a:spcPct val="120000"/>
              </a:lnSpc>
              <a:spcBef>
                <a:spcPts val="0"/>
              </a:spcBef>
              <a:spcAft>
                <a:spcPts val="0"/>
              </a:spcAft>
            </a:pPr>
            <a:r>
              <a:rPr lang="en-US" dirty="0" smtClean="0"/>
              <a:t>    return 0;</a:t>
            </a:r>
          </a:p>
          <a:p>
            <a:pPr>
              <a:lnSpc>
                <a:spcPct val="120000"/>
              </a:lnSpc>
              <a:spcBef>
                <a:spcPts val="0"/>
              </a:spcBef>
              <a:spcAft>
                <a:spcPts val="0"/>
              </a:spcAft>
            </a:pPr>
            <a:r>
              <a:rPr lang="en-US" dirty="0" smtClean="0"/>
              <a:t>}</a:t>
            </a:r>
            <a:endParaRPr lang="en-US" dirty="0"/>
          </a:p>
        </p:txBody>
      </p:sp>
      <p:pic>
        <p:nvPicPr>
          <p:cNvPr id="2050" name="Picture 2" descr="C++ Copy Constr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082" y="372492"/>
            <a:ext cx="3171825" cy="1495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617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 of copy constructor:</a:t>
            </a:r>
          </a:p>
        </p:txBody>
      </p:sp>
      <p:sp>
        <p:nvSpPr>
          <p:cNvPr id="3" name="Content Placeholder 2"/>
          <p:cNvSpPr>
            <a:spLocks noGrp="1"/>
          </p:cNvSpPr>
          <p:nvPr>
            <p:ph idx="1"/>
          </p:nvPr>
        </p:nvSpPr>
        <p:spPr>
          <a:xfrm>
            <a:off x="1097279" y="1845734"/>
            <a:ext cx="10639795" cy="4459532"/>
          </a:xfrm>
        </p:spPr>
        <p:txBody>
          <a:bodyPr>
            <a:normAutofit fontScale="85000" lnSpcReduction="20000"/>
          </a:bodyPr>
          <a:lstStyle/>
          <a:p>
            <a:r>
              <a:rPr lang="en-US" sz="2800" dirty="0"/>
              <a:t/>
            </a:r>
            <a:br>
              <a:rPr lang="en-US" sz="2800" dirty="0"/>
            </a:br>
            <a:r>
              <a:rPr lang="en-US" sz="2800" dirty="0" err="1"/>
              <a:t>Class_name</a:t>
            </a:r>
            <a:r>
              <a:rPr lang="en-US" sz="2800" dirty="0"/>
              <a:t>(</a:t>
            </a:r>
            <a:r>
              <a:rPr lang="en-US" sz="2800" dirty="0" err="1"/>
              <a:t>const</a:t>
            </a:r>
            <a:r>
              <a:rPr lang="en-US" sz="2800" dirty="0"/>
              <a:t> </a:t>
            </a:r>
            <a:r>
              <a:rPr lang="en-US" sz="2800" dirty="0" err="1"/>
              <a:t>class_name</a:t>
            </a:r>
            <a:r>
              <a:rPr lang="en-US" sz="2800" dirty="0"/>
              <a:t> &amp;</a:t>
            </a:r>
            <a:r>
              <a:rPr lang="en-US" sz="2800" dirty="0" err="1"/>
              <a:t>object_name</a:t>
            </a:r>
            <a:r>
              <a:rPr lang="en-US" sz="2800" dirty="0"/>
              <a:t>)</a:t>
            </a:r>
            <a:r>
              <a:rPr lang="en-US" sz="2800" dirty="0"/>
              <a:t/>
            </a:r>
            <a:br>
              <a:rPr lang="en-US" sz="2800" dirty="0"/>
            </a:br>
            <a:r>
              <a:rPr lang="en-US" sz="2800" dirty="0"/>
              <a:t>{</a:t>
            </a:r>
            <a:r>
              <a:rPr lang="en-US" sz="2800" dirty="0"/>
              <a:t/>
            </a:r>
            <a:br>
              <a:rPr lang="en-US" sz="2800" dirty="0"/>
            </a:br>
            <a:r>
              <a:rPr lang="en-US" sz="2800" dirty="0"/>
              <a:t>// body of the constructor.</a:t>
            </a:r>
            <a:r>
              <a:rPr lang="en-US" sz="2800" dirty="0"/>
              <a:t/>
            </a:r>
            <a:br>
              <a:rPr lang="en-US" sz="2800" dirty="0"/>
            </a:br>
            <a:r>
              <a:rPr lang="en-US" sz="2800" dirty="0" smtClean="0"/>
              <a:t>}</a:t>
            </a:r>
          </a:p>
          <a:p>
            <a:r>
              <a:rPr lang="en-US" sz="2800" dirty="0"/>
              <a:t>The </a:t>
            </a:r>
            <a:r>
              <a:rPr lang="en-US" sz="2800" b="1" dirty="0"/>
              <a:t>copy constructor</a:t>
            </a:r>
            <a:r>
              <a:rPr lang="en-US" sz="2800" dirty="0"/>
              <a:t> is invoked when the new object is initialized with the existing object.</a:t>
            </a:r>
          </a:p>
          <a:p>
            <a:r>
              <a:rPr lang="en-US" sz="2800" dirty="0"/>
              <a:t>The object is passed as an argument to the function.</a:t>
            </a:r>
          </a:p>
          <a:p>
            <a:r>
              <a:rPr lang="en-US" sz="2800" dirty="0"/>
              <a:t>It returns the object.</a:t>
            </a:r>
          </a:p>
          <a:p>
            <a:r>
              <a:rPr lang="en-US" sz="2800" dirty="0"/>
              <a:t>Both the existing object and new object shares the different memory locations</a:t>
            </a:r>
            <a:r>
              <a:rPr lang="en-US" sz="2800" dirty="0" smtClean="0"/>
              <a:t>.</a:t>
            </a:r>
          </a:p>
          <a:p>
            <a:r>
              <a:rPr lang="en-US" sz="2800" dirty="0"/>
              <a:t>If a programmer does not define the copy constructor, the compiler will automatically generate the implicit default copy constructor.</a:t>
            </a:r>
            <a:endParaRPr lang="en-US" sz="2800" dirty="0"/>
          </a:p>
        </p:txBody>
      </p:sp>
    </p:spTree>
    <p:extLst>
      <p:ext uri="{BB962C8B-B14F-4D97-AF65-F5344CB8AC3E}">
        <p14:creationId xmlns:p14="http://schemas.microsoft.com/office/powerpoint/2010/main" val="2046945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this </a:t>
            </a:r>
            <a:r>
              <a:rPr lang="en-US" dirty="0" smtClean="0"/>
              <a:t>Pointer</a:t>
            </a:r>
            <a:endParaRPr lang="en-US" dirty="0"/>
          </a:p>
        </p:txBody>
      </p:sp>
      <p:sp>
        <p:nvSpPr>
          <p:cNvPr id="3" name="Content Placeholder 2"/>
          <p:cNvSpPr>
            <a:spLocks noGrp="1"/>
          </p:cNvSpPr>
          <p:nvPr>
            <p:ph idx="1"/>
          </p:nvPr>
        </p:nvSpPr>
        <p:spPr/>
        <p:txBody>
          <a:bodyPr/>
          <a:lstStyle/>
          <a:p>
            <a:r>
              <a:rPr lang="en-US" dirty="0" smtClean="0"/>
              <a:t>In </a:t>
            </a:r>
            <a:r>
              <a:rPr lang="en-US" dirty="0"/>
              <a:t>C++ programming, </a:t>
            </a:r>
            <a:r>
              <a:rPr lang="en-US" b="1" dirty="0"/>
              <a:t>this</a:t>
            </a:r>
            <a:r>
              <a:rPr lang="en-US" dirty="0"/>
              <a:t> is a keyword that refers to the current instance of the class. There can be 3 main usage of this keyword in C++.</a:t>
            </a:r>
          </a:p>
          <a:p>
            <a:r>
              <a:rPr lang="en-US" dirty="0"/>
              <a:t>It can be used </a:t>
            </a:r>
            <a:r>
              <a:rPr lang="en-US" b="1" dirty="0"/>
              <a:t>to pass current object as a parameter to another method.</a:t>
            </a:r>
            <a:endParaRPr lang="en-US" dirty="0"/>
          </a:p>
          <a:p>
            <a:r>
              <a:rPr lang="en-US" dirty="0"/>
              <a:t>It can be used </a:t>
            </a:r>
            <a:r>
              <a:rPr lang="en-US" b="1" dirty="0"/>
              <a:t>to refer current class instance variable.</a:t>
            </a:r>
            <a:endParaRPr lang="en-US" dirty="0"/>
          </a:p>
          <a:p>
            <a:endParaRPr lang="en-US" dirty="0"/>
          </a:p>
        </p:txBody>
      </p:sp>
    </p:spTree>
    <p:extLst>
      <p:ext uri="{BB962C8B-B14F-4D97-AF65-F5344CB8AC3E}">
        <p14:creationId xmlns:p14="http://schemas.microsoft.com/office/powerpoint/2010/main" val="3681519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p:cNvSpPr/>
          <p:nvPr/>
        </p:nvSpPr>
        <p:spPr>
          <a:xfrm>
            <a:off x="0" y="0"/>
            <a:ext cx="11060146" cy="7017306"/>
          </a:xfrm>
          <a:prstGeom prst="rect">
            <a:avLst/>
          </a:prstGeom>
        </p:spPr>
        <p:txBody>
          <a:bodyPr wrap="square">
            <a:spAutoFit/>
          </a:bodyPr>
          <a:lstStyle/>
          <a:p>
            <a:r>
              <a:rPr lang="en-US" dirty="0" smtClean="0">
                <a:solidFill>
                  <a:srgbClr val="808080"/>
                </a:solidFill>
                <a:latin typeface="Cascadia Mono" panose="020B0609020000020004" pitchFamily="49" charset="0"/>
              </a:rPr>
              <a:t>#include</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&lt;</a:t>
            </a:r>
            <a:r>
              <a:rPr lang="en-US" dirty="0" err="1" smtClean="0">
                <a:solidFill>
                  <a:srgbClr val="A31515"/>
                </a:solidFill>
                <a:latin typeface="Cascadia Mono" panose="020B0609020000020004" pitchFamily="49" charset="0"/>
              </a:rPr>
              <a:t>iostream</a:t>
            </a:r>
            <a:r>
              <a:rPr lang="en-US" dirty="0" smtClean="0">
                <a:solidFill>
                  <a:srgbClr val="A31515"/>
                </a:solidFill>
                <a:latin typeface="Cascadia Mono" panose="020B0609020000020004" pitchFamily="49" charset="0"/>
              </a:rPr>
              <a:t>&gt;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using</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namespace</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std</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class</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Employee</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public</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id; </a:t>
            </a:r>
            <a:r>
              <a:rPr lang="en-US" dirty="0" smtClean="0">
                <a:solidFill>
                  <a:srgbClr val="008000"/>
                </a:solidFill>
                <a:latin typeface="Cascadia Mono" panose="020B0609020000020004" pitchFamily="49" charset="0"/>
              </a:rPr>
              <a:t>//data member (also instance variable)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string</a:t>
            </a:r>
            <a:r>
              <a:rPr lang="en-US" dirty="0">
                <a:solidFill>
                  <a:srgbClr val="000000"/>
                </a:solidFill>
                <a:latin typeface="Cascadia Mono" panose="020B0609020000020004" pitchFamily="49" charset="0"/>
              </a:rPr>
              <a:t> name; </a:t>
            </a:r>
            <a:r>
              <a:rPr lang="en-US" dirty="0" smtClean="0">
                <a:solidFill>
                  <a:srgbClr val="008000"/>
                </a:solidFill>
                <a:latin typeface="Cascadia Mono" panose="020B0609020000020004" pitchFamily="49" charset="0"/>
              </a:rPr>
              <a:t>//data member(also instance variable)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float</a:t>
            </a:r>
            <a:r>
              <a:rPr lang="en-US" dirty="0">
                <a:solidFill>
                  <a:srgbClr val="000000"/>
                </a:solidFill>
                <a:latin typeface="Cascadia Mono" panose="020B0609020000020004" pitchFamily="49" charset="0"/>
              </a:rPr>
              <a:t> salary;</a:t>
            </a:r>
          </a:p>
          <a:p>
            <a:r>
              <a:rPr lang="en-US" dirty="0">
                <a:solidFill>
                  <a:srgbClr val="000000"/>
                </a:solidFill>
                <a:latin typeface="Cascadia Mono" panose="020B0609020000020004" pitchFamily="49" charset="0"/>
              </a:rPr>
              <a:t>    Employee(</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id</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string</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name</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float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salary</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-&gt;id = </a:t>
            </a:r>
            <a:r>
              <a:rPr lang="en-US" dirty="0" smtClean="0">
                <a:solidFill>
                  <a:srgbClr val="808080"/>
                </a:solidFill>
                <a:latin typeface="Cascadia Mono" panose="020B0609020000020004" pitchFamily="49" charset="0"/>
              </a:rPr>
              <a:t>id</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-&gt;name </a:t>
            </a:r>
            <a:r>
              <a:rPr lang="en-US" dirty="0" smtClean="0">
                <a:solidFill>
                  <a:srgbClr val="008080"/>
                </a:solidFill>
                <a:latin typeface="Cascadia Mono" panose="020B0609020000020004" pitchFamily="49" charset="0"/>
              </a:rPr>
              <a: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name</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-&gt;salary = </a:t>
            </a:r>
            <a:r>
              <a:rPr lang="en-US" dirty="0" smtClean="0">
                <a:solidFill>
                  <a:srgbClr val="808080"/>
                </a:solidFill>
                <a:latin typeface="Cascadia Mono" panose="020B0609020000020004" pitchFamily="49" charset="0"/>
              </a:rPr>
              <a:t>salary</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display()</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-&gt;id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  "</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-&gt;name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  "</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-&gt;salary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endl</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a:t>
            </a: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main(</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Employee</a:t>
            </a:r>
            <a:r>
              <a:rPr lang="en-US" dirty="0">
                <a:solidFill>
                  <a:srgbClr val="000000"/>
                </a:solidFill>
                <a:latin typeface="Cascadia Mono" panose="020B0609020000020004" pitchFamily="49" charset="0"/>
              </a:rPr>
              <a:t> e1 = </a:t>
            </a:r>
            <a:r>
              <a:rPr lang="en-US" dirty="0" smtClean="0">
                <a:solidFill>
                  <a:srgbClr val="2B91AF"/>
                </a:solidFill>
                <a:latin typeface="Cascadia Mono" panose="020B0609020000020004" pitchFamily="49" charset="0"/>
              </a:rPr>
              <a:t>Employee</a:t>
            </a:r>
            <a:r>
              <a:rPr lang="en-US" dirty="0">
                <a:solidFill>
                  <a:srgbClr val="000000"/>
                </a:solidFill>
                <a:latin typeface="Cascadia Mono" panose="020B0609020000020004" pitchFamily="49" charset="0"/>
              </a:rPr>
              <a:t>(101, </a:t>
            </a:r>
            <a:r>
              <a:rPr lang="en-US" dirty="0" smtClean="0">
                <a:solidFill>
                  <a:srgbClr val="A31515"/>
                </a:solidFill>
                <a:latin typeface="Cascadia Mono" panose="020B0609020000020004" pitchFamily="49" charset="0"/>
              </a:rPr>
              <a:t>"</a:t>
            </a:r>
            <a:r>
              <a:rPr lang="en-US" dirty="0" err="1" smtClean="0">
                <a:solidFill>
                  <a:srgbClr val="A31515"/>
                </a:solidFill>
                <a:latin typeface="Cascadia Mono" panose="020B0609020000020004" pitchFamily="49" charset="0"/>
              </a:rPr>
              <a:t>abc</a:t>
            </a:r>
            <a:r>
              <a:rPr lang="en-US" dirty="0" smtClean="0">
                <a:solidFill>
                  <a:srgbClr val="A31515"/>
                </a:solidFill>
                <a:latin typeface="Cascadia Mono" panose="020B0609020000020004" pitchFamily="49" charset="0"/>
              </a:rPr>
              <a:t>"</a:t>
            </a:r>
            <a:r>
              <a:rPr lang="en-US" dirty="0">
                <a:solidFill>
                  <a:srgbClr val="000000"/>
                </a:solidFill>
                <a:latin typeface="Cascadia Mono" panose="020B0609020000020004" pitchFamily="49" charset="0"/>
              </a:rPr>
              <a:t>, 890000); </a:t>
            </a:r>
            <a:r>
              <a:rPr lang="en-US" dirty="0" smtClean="0">
                <a:solidFill>
                  <a:srgbClr val="008000"/>
                </a:solidFill>
                <a:latin typeface="Cascadia Mono" panose="020B0609020000020004" pitchFamily="49" charset="0"/>
              </a:rPr>
              <a:t>//creating an object of Employee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Employee</a:t>
            </a:r>
            <a:r>
              <a:rPr lang="en-US" dirty="0">
                <a:solidFill>
                  <a:srgbClr val="000000"/>
                </a:solidFill>
                <a:latin typeface="Cascadia Mono" panose="020B0609020000020004" pitchFamily="49" charset="0"/>
              </a:rPr>
              <a:t> e2 = </a:t>
            </a:r>
            <a:r>
              <a:rPr lang="en-US" dirty="0" smtClean="0">
                <a:solidFill>
                  <a:srgbClr val="2B91AF"/>
                </a:solidFill>
                <a:latin typeface="Cascadia Mono" panose="020B0609020000020004" pitchFamily="49" charset="0"/>
              </a:rPr>
              <a:t>Employee</a:t>
            </a:r>
            <a:r>
              <a:rPr lang="en-US" dirty="0">
                <a:solidFill>
                  <a:srgbClr val="000000"/>
                </a:solidFill>
                <a:latin typeface="Cascadia Mono" panose="020B0609020000020004" pitchFamily="49" charset="0"/>
              </a:rPr>
              <a:t>(102, </a:t>
            </a:r>
            <a:r>
              <a:rPr lang="en-US" dirty="0" smtClean="0">
                <a:solidFill>
                  <a:srgbClr val="A31515"/>
                </a:solidFill>
                <a:latin typeface="Cascadia Mono" panose="020B0609020000020004" pitchFamily="49" charset="0"/>
              </a:rPr>
              <a:t>"</a:t>
            </a:r>
            <a:r>
              <a:rPr lang="en-US" dirty="0" err="1" smtClean="0">
                <a:solidFill>
                  <a:srgbClr val="A31515"/>
                </a:solidFill>
                <a:latin typeface="Cascadia Mono" panose="020B0609020000020004" pitchFamily="49" charset="0"/>
              </a:rPr>
              <a:t>cde</a:t>
            </a:r>
            <a:r>
              <a:rPr lang="en-US" dirty="0" smtClean="0">
                <a:solidFill>
                  <a:srgbClr val="A31515"/>
                </a:solidFill>
                <a:latin typeface="Cascadia Mono" panose="020B0609020000020004" pitchFamily="49" charset="0"/>
              </a:rPr>
              <a:t>"</a:t>
            </a:r>
            <a:r>
              <a:rPr lang="en-US" dirty="0">
                <a:solidFill>
                  <a:srgbClr val="000000"/>
                </a:solidFill>
                <a:latin typeface="Cascadia Mono" panose="020B0609020000020004" pitchFamily="49" charset="0"/>
              </a:rPr>
              <a:t>, 59000); </a:t>
            </a:r>
            <a:r>
              <a:rPr lang="en-US" dirty="0" smtClean="0">
                <a:solidFill>
                  <a:srgbClr val="008000"/>
                </a:solidFill>
                <a:latin typeface="Cascadia Mono" panose="020B0609020000020004" pitchFamily="49" charset="0"/>
              </a:rPr>
              <a:t>//creating an object of Employee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e1.display();</a:t>
            </a:r>
          </a:p>
          <a:p>
            <a:r>
              <a:rPr lang="en-US" dirty="0">
                <a:solidFill>
                  <a:srgbClr val="000000"/>
                </a:solidFill>
                <a:latin typeface="Cascadia Mono" panose="020B0609020000020004" pitchFamily="49" charset="0"/>
              </a:rPr>
              <a:t>    e2.display();</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return</a:t>
            </a:r>
            <a:r>
              <a:rPr lang="en-US" dirty="0">
                <a:solidFill>
                  <a:srgbClr val="000000"/>
                </a:solidFill>
                <a:latin typeface="Cascadia Mono" panose="020B0609020000020004" pitchFamily="49" charset="0"/>
              </a:rPr>
              <a:t> 0;</a:t>
            </a:r>
          </a:p>
          <a:p>
            <a:r>
              <a:rPr lang="en-US" dirty="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966673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0" y="117693"/>
            <a:ext cx="11846257" cy="6740307"/>
          </a:xfrm>
          <a:prstGeom prst="rect">
            <a:avLst/>
          </a:prstGeom>
        </p:spPr>
        <p:txBody>
          <a:bodyPr wrap="square">
            <a:spAutoFit/>
          </a:bodyPr>
          <a:lstStyle/>
          <a:p>
            <a:r>
              <a:rPr lang="en-US" dirty="0" smtClean="0">
                <a:solidFill>
                  <a:srgbClr val="808080"/>
                </a:solidFill>
                <a:latin typeface="Cascadia Mono" panose="020B0609020000020004" pitchFamily="49" charset="0"/>
              </a:rPr>
              <a:t>#include</a:t>
            </a:r>
            <a:r>
              <a:rPr lang="en-US" dirty="0" smtClean="0">
                <a:solidFill>
                  <a:srgbClr val="A31515"/>
                </a:solidFill>
                <a:latin typeface="Cascadia Mono" panose="020B0609020000020004" pitchFamily="49" charset="0"/>
              </a:rPr>
              <a:t>&lt;</a:t>
            </a:r>
            <a:r>
              <a:rPr lang="en-US" dirty="0" err="1" smtClean="0">
                <a:solidFill>
                  <a:srgbClr val="A31515"/>
                </a:solidFill>
                <a:latin typeface="Cascadia Mono" panose="020B0609020000020004" pitchFamily="49" charset="0"/>
              </a:rPr>
              <a:t>iostream</a:t>
            </a:r>
            <a:r>
              <a:rPr lang="en-US" dirty="0" smtClean="0">
                <a:solidFill>
                  <a:srgbClr val="A31515"/>
                </a:solidFill>
                <a:latin typeface="Cascadia Mono" panose="020B0609020000020004" pitchFamily="49" charset="0"/>
              </a:rPr>
              <a:t>&gt;</a:t>
            </a:r>
            <a:endParaRPr lang="en-US" dirty="0">
              <a:solidFill>
                <a:srgbClr val="000000"/>
              </a:solidFill>
              <a:latin typeface="Cascadia Mono" panose="020B0609020000020004" pitchFamily="49" charset="0"/>
            </a:endParaRPr>
          </a:p>
          <a:p>
            <a:r>
              <a:rPr lang="en-US" dirty="0" smtClean="0">
                <a:solidFill>
                  <a:srgbClr val="0000FF"/>
                </a:solidFill>
                <a:latin typeface="Cascadia Mono" panose="020B0609020000020004" pitchFamily="49" charset="0"/>
              </a:rPr>
              <a:t>using</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namespace</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std</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class</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Test</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private</a:t>
            </a:r>
            <a:r>
              <a:rPr lang="en-US" dirty="0">
                <a:solidFill>
                  <a:srgbClr val="000000"/>
                </a:solidFill>
                <a:latin typeface="Cascadia Mono" panose="020B0609020000020004" pitchFamily="49" charset="0"/>
              </a:rPr>
              <a:t>:</a:t>
            </a: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x;</a:t>
            </a: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y;</a:t>
            </a:r>
          </a:p>
          <a:p>
            <a:r>
              <a:rPr lang="en-US" dirty="0" smtClean="0">
                <a:solidFill>
                  <a:srgbClr val="0000FF"/>
                </a:solidFill>
                <a:latin typeface="Cascadia Mono" panose="020B0609020000020004" pitchFamily="49" charset="0"/>
              </a:rPr>
              <a:t>public</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Test(</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x</a:t>
            </a:r>
            <a:r>
              <a:rPr lang="en-US" dirty="0">
                <a:solidFill>
                  <a:srgbClr val="000000"/>
                </a:solidFill>
                <a:latin typeface="Cascadia Mono" panose="020B0609020000020004" pitchFamily="49" charset="0"/>
              </a:rPr>
              <a:t> = 0,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y</a:t>
            </a:r>
            <a:r>
              <a:rPr lang="en-US" dirty="0">
                <a:solidFill>
                  <a:srgbClr val="000000"/>
                </a:solidFill>
                <a:latin typeface="Cascadia Mono" panose="020B0609020000020004" pitchFamily="49" charset="0"/>
              </a:rPr>
              <a:t> = 0) {</a:t>
            </a:r>
          </a:p>
          <a:p>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-&gt;x = </a:t>
            </a:r>
            <a:r>
              <a:rPr lang="en-US" dirty="0" smtClean="0">
                <a:solidFill>
                  <a:srgbClr val="808080"/>
                </a:solidFill>
                <a:latin typeface="Cascadia Mono" panose="020B0609020000020004" pitchFamily="49" charset="0"/>
              </a:rPr>
              <a:t>x</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-&gt;y = </a:t>
            </a:r>
            <a:r>
              <a:rPr lang="en-US" dirty="0" smtClean="0">
                <a:solidFill>
                  <a:srgbClr val="808080"/>
                </a:solidFill>
                <a:latin typeface="Cascadia Mono" panose="020B0609020000020004" pitchFamily="49" charset="0"/>
              </a:rPr>
              <a:t>y</a:t>
            </a:r>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a:t>
            </a:r>
          </a:p>
          <a:p>
            <a:r>
              <a:rPr lang="en-US" dirty="0" smtClean="0">
                <a:solidFill>
                  <a:srgbClr val="2B91AF"/>
                </a:solidFill>
                <a:latin typeface="Cascadia Mono" panose="020B0609020000020004" pitchFamily="49" charset="0"/>
              </a:rPr>
              <a:t>Test</a:t>
            </a:r>
            <a:r>
              <a:rPr lang="en-US" dirty="0">
                <a:solidFill>
                  <a:srgbClr val="000000"/>
                </a:solidFill>
                <a:latin typeface="Cascadia Mono" panose="020B0609020000020004" pitchFamily="49" charset="0"/>
              </a:rPr>
              <a:t>&amp; </a:t>
            </a:r>
            <a:r>
              <a:rPr lang="en-US" dirty="0" err="1">
                <a:solidFill>
                  <a:srgbClr val="000000"/>
                </a:solidFill>
                <a:latin typeface="Cascadia Mono" panose="020B0609020000020004" pitchFamily="49" charset="0"/>
              </a:rPr>
              <a:t>setX</a:t>
            </a:r>
            <a:r>
              <a:rPr lang="en-US" dirty="0">
                <a:solidFill>
                  <a:srgbClr val="000000"/>
                </a:solidFill>
                <a:latin typeface="Cascadia Mono" panose="020B0609020000020004" pitchFamily="49" charset="0"/>
              </a:rPr>
              <a:t>(</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a</a:t>
            </a:r>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x = </a:t>
            </a:r>
            <a:r>
              <a:rPr lang="en-US" dirty="0" smtClean="0">
                <a:solidFill>
                  <a:srgbClr val="808080"/>
                </a:solidFill>
                <a:latin typeface="Cascadia Mono" panose="020B0609020000020004" pitchFamily="49" charset="0"/>
              </a:rPr>
              <a:t>a</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return</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a:t>
            </a:r>
          </a:p>
          <a:p>
            <a:r>
              <a:rPr lang="en-US" dirty="0" smtClean="0">
                <a:solidFill>
                  <a:srgbClr val="2B91AF"/>
                </a:solidFill>
                <a:latin typeface="Cascadia Mono" panose="020B0609020000020004" pitchFamily="49" charset="0"/>
              </a:rPr>
              <a:t>Test</a:t>
            </a:r>
            <a:r>
              <a:rPr lang="en-US" dirty="0">
                <a:solidFill>
                  <a:srgbClr val="000000"/>
                </a:solidFill>
                <a:latin typeface="Cascadia Mono" panose="020B0609020000020004" pitchFamily="49" charset="0"/>
              </a:rPr>
              <a:t>&amp; </a:t>
            </a:r>
            <a:r>
              <a:rPr lang="en-US" dirty="0" err="1">
                <a:solidFill>
                  <a:srgbClr val="000000"/>
                </a:solidFill>
                <a:latin typeface="Cascadia Mono" panose="020B0609020000020004" pitchFamily="49" charset="0"/>
              </a:rPr>
              <a:t>setY</a:t>
            </a:r>
            <a:r>
              <a:rPr lang="en-US" dirty="0">
                <a:solidFill>
                  <a:srgbClr val="000000"/>
                </a:solidFill>
                <a:latin typeface="Cascadia Mono" panose="020B0609020000020004" pitchFamily="49" charset="0"/>
              </a:rPr>
              <a:t>(</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b</a:t>
            </a:r>
            <a:r>
              <a:rPr lang="en-US" dirty="0">
                <a:solidFill>
                  <a:srgbClr val="000000"/>
                </a:solidFill>
                <a:latin typeface="Cascadia Mono" panose="020B0609020000020004" pitchFamily="49" charset="0"/>
              </a:rPr>
              <a:t>) { </a:t>
            </a:r>
          </a:p>
          <a:p>
            <a:r>
              <a:rPr lang="en-US" dirty="0">
                <a:solidFill>
                  <a:srgbClr val="000000"/>
                </a:solidFill>
                <a:latin typeface="Cascadia Mono" panose="020B0609020000020004" pitchFamily="49" charset="0"/>
              </a:rPr>
              <a:t>y = </a:t>
            </a:r>
            <a:r>
              <a:rPr lang="en-US" dirty="0" smtClean="0">
                <a:solidFill>
                  <a:srgbClr val="808080"/>
                </a:solidFill>
                <a:latin typeface="Cascadia Mono" panose="020B0609020000020004" pitchFamily="49" charset="0"/>
              </a:rPr>
              <a:t>b</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return</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print() { </a:t>
            </a:r>
          </a:p>
          <a:p>
            <a:r>
              <a:rPr lang="es-ES" dirty="0" err="1">
                <a:solidFill>
                  <a:srgbClr val="000000"/>
                </a:solidFill>
                <a:latin typeface="Cascadia Mono" panose="020B0609020000020004" pitchFamily="49" charset="0"/>
              </a:rPr>
              <a:t>cout</a:t>
            </a:r>
            <a:r>
              <a:rPr lang="es-ES" dirty="0">
                <a:solidFill>
                  <a:srgbClr val="000000"/>
                </a:solidFill>
                <a:latin typeface="Cascadia Mono" panose="020B0609020000020004" pitchFamily="49" charset="0"/>
              </a:rPr>
              <a:t> </a:t>
            </a:r>
            <a:r>
              <a:rPr lang="es-ES" dirty="0" smtClean="0">
                <a:solidFill>
                  <a:srgbClr val="008080"/>
                </a:solidFill>
                <a:latin typeface="Cascadia Mono" panose="020B0609020000020004" pitchFamily="49" charset="0"/>
              </a:rPr>
              <a:t>&lt;&lt;</a:t>
            </a:r>
            <a:r>
              <a:rPr lang="es-ES" dirty="0">
                <a:solidFill>
                  <a:srgbClr val="000000"/>
                </a:solidFill>
                <a:latin typeface="Cascadia Mono" panose="020B0609020000020004" pitchFamily="49" charset="0"/>
              </a:rPr>
              <a:t> </a:t>
            </a:r>
            <a:r>
              <a:rPr lang="es-ES" dirty="0" smtClean="0">
                <a:solidFill>
                  <a:srgbClr val="A31515"/>
                </a:solidFill>
                <a:latin typeface="Cascadia Mono" panose="020B0609020000020004" pitchFamily="49" charset="0"/>
              </a:rPr>
              <a:t>"x = "</a:t>
            </a:r>
            <a:r>
              <a:rPr lang="es-ES" dirty="0">
                <a:solidFill>
                  <a:srgbClr val="000000"/>
                </a:solidFill>
                <a:latin typeface="Cascadia Mono" panose="020B0609020000020004" pitchFamily="49" charset="0"/>
              </a:rPr>
              <a:t> </a:t>
            </a:r>
            <a:r>
              <a:rPr lang="es-ES" dirty="0" smtClean="0">
                <a:solidFill>
                  <a:srgbClr val="008080"/>
                </a:solidFill>
                <a:latin typeface="Cascadia Mono" panose="020B0609020000020004" pitchFamily="49" charset="0"/>
              </a:rPr>
              <a:t>&lt;&lt;</a:t>
            </a:r>
            <a:r>
              <a:rPr lang="es-ES" dirty="0">
                <a:solidFill>
                  <a:srgbClr val="000000"/>
                </a:solidFill>
                <a:latin typeface="Cascadia Mono" panose="020B0609020000020004" pitchFamily="49" charset="0"/>
              </a:rPr>
              <a:t> x </a:t>
            </a:r>
            <a:r>
              <a:rPr lang="es-ES" dirty="0" smtClean="0">
                <a:solidFill>
                  <a:srgbClr val="008080"/>
                </a:solidFill>
                <a:latin typeface="Cascadia Mono" panose="020B0609020000020004" pitchFamily="49" charset="0"/>
              </a:rPr>
              <a:t>&lt;&lt;</a:t>
            </a:r>
            <a:r>
              <a:rPr lang="es-ES" dirty="0">
                <a:solidFill>
                  <a:srgbClr val="000000"/>
                </a:solidFill>
                <a:latin typeface="Cascadia Mono" panose="020B0609020000020004" pitchFamily="49" charset="0"/>
              </a:rPr>
              <a:t> </a:t>
            </a:r>
            <a:r>
              <a:rPr lang="es-ES" dirty="0" smtClean="0">
                <a:solidFill>
                  <a:srgbClr val="A31515"/>
                </a:solidFill>
                <a:latin typeface="Cascadia Mono" panose="020B0609020000020004" pitchFamily="49" charset="0"/>
              </a:rPr>
              <a:t>" y = "</a:t>
            </a:r>
            <a:r>
              <a:rPr lang="es-ES" dirty="0">
                <a:solidFill>
                  <a:srgbClr val="000000"/>
                </a:solidFill>
                <a:latin typeface="Cascadia Mono" panose="020B0609020000020004" pitchFamily="49" charset="0"/>
              </a:rPr>
              <a:t> </a:t>
            </a:r>
            <a:r>
              <a:rPr lang="es-ES" dirty="0" smtClean="0">
                <a:solidFill>
                  <a:srgbClr val="008080"/>
                </a:solidFill>
                <a:latin typeface="Cascadia Mono" panose="020B0609020000020004" pitchFamily="49" charset="0"/>
              </a:rPr>
              <a:t>&lt;&lt;</a:t>
            </a:r>
            <a:r>
              <a:rPr lang="es-ES" dirty="0">
                <a:solidFill>
                  <a:srgbClr val="000000"/>
                </a:solidFill>
                <a:latin typeface="Cascadia Mono" panose="020B0609020000020004" pitchFamily="49" charset="0"/>
              </a:rPr>
              <a:t> y </a:t>
            </a:r>
            <a:r>
              <a:rPr lang="es-ES" dirty="0" smtClean="0">
                <a:solidFill>
                  <a:srgbClr val="008080"/>
                </a:solidFill>
                <a:latin typeface="Cascadia Mono" panose="020B0609020000020004" pitchFamily="49" charset="0"/>
              </a:rPr>
              <a:t>&lt;&lt;</a:t>
            </a:r>
            <a:r>
              <a:rPr lang="es-ES" dirty="0">
                <a:solidFill>
                  <a:srgbClr val="000000"/>
                </a:solidFill>
                <a:latin typeface="Cascadia Mono" panose="020B0609020000020004" pitchFamily="49" charset="0"/>
              </a:rPr>
              <a:t> </a:t>
            </a:r>
            <a:r>
              <a:rPr lang="es-ES" dirty="0" err="1">
                <a:solidFill>
                  <a:srgbClr val="000000"/>
                </a:solidFill>
                <a:latin typeface="Cascadia Mono" panose="020B0609020000020004" pitchFamily="49" charset="0"/>
              </a:rPr>
              <a:t>endl</a:t>
            </a:r>
            <a:r>
              <a:rPr lang="es-E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a:t>
            </a:r>
          </a:p>
          <a:p>
            <a:r>
              <a:rPr lang="en-US" dirty="0" smtClean="0">
                <a:solidFill>
                  <a:srgbClr val="000000"/>
                </a:solidFill>
                <a:latin typeface="Cascadia Mono" panose="020B0609020000020004" pitchFamily="49" charset="0"/>
              </a:rPr>
              <a:t>};</a:t>
            </a:r>
            <a:endParaRPr lang="en-US" dirty="0">
              <a:solidFill>
                <a:srgbClr val="000000"/>
              </a:solidFill>
              <a:latin typeface="Cascadia Mono" panose="020B0609020000020004" pitchFamily="49" charset="0"/>
            </a:endParaRPr>
          </a:p>
        </p:txBody>
      </p:sp>
      <p:sp>
        <p:nvSpPr>
          <p:cNvPr id="5" name="Rectangle 4"/>
          <p:cNvSpPr/>
          <p:nvPr/>
        </p:nvSpPr>
        <p:spPr>
          <a:xfrm>
            <a:off x="5404969" y="2203206"/>
            <a:ext cx="6096000" cy="3139321"/>
          </a:xfrm>
          <a:prstGeom prst="rect">
            <a:avLst/>
          </a:prstGeom>
        </p:spPr>
        <p:txBody>
          <a:bodyPr>
            <a:spAutoFit/>
          </a:bodyPr>
          <a:lstStyle/>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main()</a:t>
            </a:r>
          </a:p>
          <a:p>
            <a:r>
              <a:rPr lang="en-US" dirty="0">
                <a:solidFill>
                  <a:srgbClr val="000000"/>
                </a:solidFill>
                <a:latin typeface="Cascadia Mono" panose="020B0609020000020004" pitchFamily="49" charset="0"/>
              </a:rPr>
              <a:t>{</a:t>
            </a:r>
          </a:p>
          <a:p>
            <a:r>
              <a:rPr lang="en-US" dirty="0" smtClean="0">
                <a:solidFill>
                  <a:srgbClr val="2B91AF"/>
                </a:solidFill>
                <a:latin typeface="Cascadia Mono" panose="020B0609020000020004" pitchFamily="49" charset="0"/>
              </a:rPr>
              <a:t>Test</a:t>
            </a:r>
            <a:r>
              <a:rPr lang="en-US" dirty="0">
                <a:solidFill>
                  <a:srgbClr val="000000"/>
                </a:solidFill>
                <a:latin typeface="Cascadia Mono" panose="020B0609020000020004" pitchFamily="49" charset="0"/>
              </a:rPr>
              <a:t> obj1(5, 5);</a:t>
            </a:r>
          </a:p>
          <a:p>
            <a:r>
              <a:rPr lang="en-US" dirty="0" smtClean="0">
                <a:solidFill>
                  <a:srgbClr val="008000"/>
                </a:solidFill>
                <a:latin typeface="Cascadia Mono" panose="020B0609020000020004" pitchFamily="49" charset="0"/>
              </a:rPr>
              <a:t>// Chained function calls.  All calls modify the same object</a:t>
            </a:r>
            <a:endParaRPr lang="en-US" dirty="0">
              <a:solidFill>
                <a:srgbClr val="000000"/>
              </a:solidFill>
              <a:latin typeface="Cascadia Mono" panose="020B0609020000020004" pitchFamily="49" charset="0"/>
            </a:endParaRPr>
          </a:p>
          <a:p>
            <a:r>
              <a:rPr lang="en-US" dirty="0" smtClean="0">
                <a:solidFill>
                  <a:srgbClr val="008000"/>
                </a:solidFill>
                <a:latin typeface="Cascadia Mono" panose="020B0609020000020004" pitchFamily="49" charset="0"/>
              </a:rPr>
              <a:t>// as the same object is returned by reference</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obj1.setX(10).</a:t>
            </a:r>
            <a:r>
              <a:rPr lang="en-US" dirty="0" err="1">
                <a:solidFill>
                  <a:srgbClr val="000000"/>
                </a:solidFill>
                <a:latin typeface="Cascadia Mono" panose="020B0609020000020004" pitchFamily="49" charset="0"/>
              </a:rPr>
              <a:t>setY</a:t>
            </a:r>
            <a:r>
              <a:rPr lang="en-US" dirty="0">
                <a:solidFill>
                  <a:srgbClr val="000000"/>
                </a:solidFill>
                <a:latin typeface="Cascadia Mono" panose="020B0609020000020004" pitchFamily="49" charset="0"/>
              </a:rPr>
              <a:t>(20);</a:t>
            </a:r>
          </a:p>
          <a:p>
            <a:r>
              <a:rPr lang="en-US" dirty="0">
                <a:solidFill>
                  <a:srgbClr val="000000"/>
                </a:solidFill>
                <a:latin typeface="Cascadia Mono" panose="020B0609020000020004" pitchFamily="49" charset="0"/>
              </a:rPr>
              <a:t>obj1.print();</a:t>
            </a:r>
          </a:p>
          <a:p>
            <a:r>
              <a:rPr lang="en-US" dirty="0" smtClean="0">
                <a:solidFill>
                  <a:srgbClr val="0000FF"/>
                </a:solidFill>
                <a:latin typeface="Cascadia Mono" panose="020B0609020000020004" pitchFamily="49" charset="0"/>
              </a:rPr>
              <a:t>return</a:t>
            </a:r>
            <a:r>
              <a:rPr lang="en-US" dirty="0">
                <a:solidFill>
                  <a:srgbClr val="000000"/>
                </a:solidFill>
                <a:latin typeface="Cascadia Mono" panose="020B0609020000020004" pitchFamily="49" charset="0"/>
              </a:rPr>
              <a:t> 0;</a:t>
            </a:r>
          </a:p>
          <a:p>
            <a:r>
              <a:rPr lang="en-US" dirty="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689985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a:t>
            </a:r>
            <a:r>
              <a:rPr lang="en-US" dirty="0" smtClean="0"/>
              <a:t>static</a:t>
            </a:r>
            <a:endParaRPr lang="en-US" dirty="0"/>
          </a:p>
        </p:txBody>
      </p:sp>
      <p:sp>
        <p:nvSpPr>
          <p:cNvPr id="3" name="Content Placeholder 2"/>
          <p:cNvSpPr>
            <a:spLocks noGrp="1"/>
          </p:cNvSpPr>
          <p:nvPr>
            <p:ph idx="1"/>
          </p:nvPr>
        </p:nvSpPr>
        <p:spPr/>
        <p:txBody>
          <a:bodyPr/>
          <a:lstStyle/>
          <a:p>
            <a:r>
              <a:rPr lang="en-US" dirty="0"/>
              <a:t>In C++, static is a keyword or modifier that belongs to the type not instance. So instance is not required to access the static members. In C++, static can be field, method, constructor, class, properties, operator and event.</a:t>
            </a:r>
          </a:p>
          <a:p>
            <a:endParaRPr lang="en-US" dirty="0"/>
          </a:p>
          <a:p>
            <a:r>
              <a:rPr lang="en-US" dirty="0"/>
              <a:t>Advantage of C++ static keyword</a:t>
            </a:r>
          </a:p>
          <a:p>
            <a:r>
              <a:rPr lang="en-US" dirty="0"/>
              <a:t>Memory efficient: Now we don't need to create instance for accessing the static members, so it saves memory. Moreover, it belongs to the type, so it will not get memory each time when instance is created.</a:t>
            </a:r>
          </a:p>
        </p:txBody>
      </p:sp>
    </p:spTree>
    <p:extLst>
      <p:ext uri="{BB962C8B-B14F-4D97-AF65-F5344CB8AC3E}">
        <p14:creationId xmlns:p14="http://schemas.microsoft.com/office/powerpoint/2010/main" val="149463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Static </a:t>
            </a:r>
            <a:r>
              <a:rPr lang="en-US" dirty="0" smtClean="0"/>
              <a:t>Field</a:t>
            </a:r>
            <a:endParaRPr lang="en-US" dirty="0"/>
          </a:p>
        </p:txBody>
      </p:sp>
      <p:sp>
        <p:nvSpPr>
          <p:cNvPr id="3" name="Content Placeholder 2"/>
          <p:cNvSpPr>
            <a:spLocks noGrp="1"/>
          </p:cNvSpPr>
          <p:nvPr>
            <p:ph idx="1"/>
          </p:nvPr>
        </p:nvSpPr>
        <p:spPr/>
        <p:txBody>
          <a:bodyPr>
            <a:normAutofit/>
          </a:bodyPr>
          <a:lstStyle/>
          <a:p>
            <a:r>
              <a:rPr lang="en-US" sz="2800" dirty="0"/>
              <a:t>A field which is declared as static is called static field. Unlike instance field which gets memory each time whenever you create object, there is only one copy of static field created in the memory. It is shared to all the objects.</a:t>
            </a:r>
          </a:p>
          <a:p>
            <a:r>
              <a:rPr lang="en-US" sz="2800" dirty="0"/>
              <a:t>It is used to refer the common property of all objects such as </a:t>
            </a:r>
            <a:r>
              <a:rPr lang="en-US" sz="2800" dirty="0" err="1"/>
              <a:t>rateOfInterest</a:t>
            </a:r>
            <a:r>
              <a:rPr lang="en-US" sz="2800" dirty="0"/>
              <a:t> in case of Account, </a:t>
            </a:r>
            <a:r>
              <a:rPr lang="en-US" sz="2800" dirty="0" err="1"/>
              <a:t>companyName</a:t>
            </a:r>
            <a:r>
              <a:rPr lang="en-US" sz="2800" dirty="0"/>
              <a:t> in case of Employee etc.</a:t>
            </a:r>
          </a:p>
          <a:p>
            <a:endParaRPr lang="en-US" sz="2800" dirty="0"/>
          </a:p>
        </p:txBody>
      </p:sp>
    </p:spTree>
    <p:extLst>
      <p:ext uri="{BB962C8B-B14F-4D97-AF65-F5344CB8AC3E}">
        <p14:creationId xmlns:p14="http://schemas.microsoft.com/office/powerpoint/2010/main" val="2302460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p:cNvSpPr/>
          <p:nvPr/>
        </p:nvSpPr>
        <p:spPr>
          <a:xfrm>
            <a:off x="0" y="0"/>
            <a:ext cx="11614245" cy="7294305"/>
          </a:xfrm>
          <a:prstGeom prst="rect">
            <a:avLst/>
          </a:prstGeom>
        </p:spPr>
        <p:txBody>
          <a:bodyPr wrap="square">
            <a:spAutoFit/>
          </a:bodyPr>
          <a:lstStyle/>
          <a:p>
            <a:r>
              <a:rPr lang="en-US" dirty="0" smtClean="0">
                <a:solidFill>
                  <a:srgbClr val="808080"/>
                </a:solidFill>
                <a:latin typeface="Cascadia Mono" panose="020B0609020000020004" pitchFamily="49" charset="0"/>
              </a:rPr>
              <a:t>#include</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&lt;</a:t>
            </a:r>
            <a:r>
              <a:rPr lang="en-US" dirty="0" err="1" smtClean="0">
                <a:solidFill>
                  <a:srgbClr val="A31515"/>
                </a:solidFill>
                <a:latin typeface="Cascadia Mono" panose="020B0609020000020004" pitchFamily="49" charset="0"/>
              </a:rPr>
              <a:t>iostream</a:t>
            </a:r>
            <a:r>
              <a:rPr lang="en-US" dirty="0" smtClean="0">
                <a:solidFill>
                  <a:srgbClr val="A31515"/>
                </a:solidFill>
                <a:latin typeface="Cascadia Mono" panose="020B0609020000020004" pitchFamily="49" charset="0"/>
              </a:rPr>
              <a:t>&gt;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using</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namespace</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std</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class</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public</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accno</a:t>
            </a:r>
            <a:r>
              <a:rPr lang="en-US" dirty="0">
                <a:solidFill>
                  <a:srgbClr val="000000"/>
                </a:solidFill>
                <a:latin typeface="Cascadia Mono" panose="020B0609020000020004" pitchFamily="49" charset="0"/>
              </a:rPr>
              <a:t>; </a:t>
            </a:r>
            <a:r>
              <a:rPr lang="en-US" dirty="0" smtClean="0">
                <a:solidFill>
                  <a:srgbClr val="008000"/>
                </a:solidFill>
                <a:latin typeface="Cascadia Mono" panose="020B0609020000020004" pitchFamily="49" charset="0"/>
              </a:rPr>
              <a:t>//data member (also instance variable)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string</a:t>
            </a:r>
            <a:r>
              <a:rPr lang="en-US" dirty="0">
                <a:solidFill>
                  <a:srgbClr val="000000"/>
                </a:solidFill>
                <a:latin typeface="Cascadia Mono" panose="020B0609020000020004" pitchFamily="49" charset="0"/>
              </a:rPr>
              <a:t> name; </a:t>
            </a:r>
            <a:r>
              <a:rPr lang="en-US" dirty="0" smtClean="0">
                <a:solidFill>
                  <a:srgbClr val="008000"/>
                </a:solidFill>
                <a:latin typeface="Cascadia Mono" panose="020B0609020000020004" pitchFamily="49" charset="0"/>
              </a:rPr>
              <a:t>//data member(also instance variable)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static</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float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rateOfInterest</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Account(</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err="1" smtClean="0">
                <a:solidFill>
                  <a:srgbClr val="808080"/>
                </a:solidFill>
                <a:latin typeface="Cascadia Mono" panose="020B0609020000020004" pitchFamily="49" charset="0"/>
              </a:rPr>
              <a:t>accno</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string</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name</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a:t>
            </a:r>
            <a:r>
              <a:rPr lang="en-US" dirty="0" err="1">
                <a:solidFill>
                  <a:srgbClr val="000000"/>
                </a:solidFill>
                <a:latin typeface="Cascadia Mono" panose="020B0609020000020004" pitchFamily="49" charset="0"/>
              </a:rPr>
              <a:t>accno</a:t>
            </a:r>
            <a:r>
              <a:rPr lang="en-US" dirty="0">
                <a:solidFill>
                  <a:srgbClr val="000000"/>
                </a:solidFill>
                <a:latin typeface="Cascadia Mono" panose="020B0609020000020004" pitchFamily="49" charset="0"/>
              </a:rPr>
              <a:t> = </a:t>
            </a:r>
            <a:r>
              <a:rPr lang="en-US" dirty="0" err="1" smtClean="0">
                <a:solidFill>
                  <a:srgbClr val="808080"/>
                </a:solidFill>
                <a:latin typeface="Cascadia Mono" panose="020B0609020000020004" pitchFamily="49" charset="0"/>
              </a:rPr>
              <a:t>accno</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-&gt;name </a:t>
            </a:r>
            <a:r>
              <a:rPr lang="en-US" dirty="0" smtClean="0">
                <a:solidFill>
                  <a:srgbClr val="008080"/>
                </a:solidFill>
                <a:latin typeface="Cascadia Mono" panose="020B0609020000020004" pitchFamily="49" charset="0"/>
              </a:rPr>
              <a: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name</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display()</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accno</a:t>
            </a:r>
            <a:r>
              <a:rPr lang="en-US" dirty="0" smtClean="0">
                <a:solidFill>
                  <a:srgbClr val="008080"/>
                </a:solidFill>
                <a:latin typeface="Cascadia Mono" panose="020B0609020000020004" pitchFamily="49" charset="0"/>
              </a:rPr>
              <a:t>&lt;&lt;</a:t>
            </a:r>
            <a:r>
              <a:rPr lang="en-US" dirty="0" smtClean="0">
                <a:solidFill>
                  <a:srgbClr val="A31515"/>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name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 "</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rateOfInterest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endl</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float</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a:t>
            </a:r>
            <a:r>
              <a:rPr lang="en-US" dirty="0" err="1">
                <a:solidFill>
                  <a:srgbClr val="000000"/>
                </a:solidFill>
                <a:latin typeface="Cascadia Mono" panose="020B0609020000020004" pitchFamily="49" charset="0"/>
              </a:rPr>
              <a:t>rateOfInterest</a:t>
            </a:r>
            <a:r>
              <a:rPr lang="en-US" dirty="0">
                <a:solidFill>
                  <a:srgbClr val="000000"/>
                </a:solidFill>
                <a:latin typeface="Cascadia Mono" panose="020B0609020000020004" pitchFamily="49" charset="0"/>
              </a:rPr>
              <a:t> = 6.5;</a:t>
            </a: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main(</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a1 =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(201, </a:t>
            </a:r>
            <a:r>
              <a:rPr lang="en-US" dirty="0" smtClean="0">
                <a:solidFill>
                  <a:srgbClr val="A31515"/>
                </a:solidFill>
                <a:latin typeface="Cascadia Mono" panose="020B0609020000020004" pitchFamily="49" charset="0"/>
              </a:rPr>
              <a:t>"Sanjay"</a:t>
            </a:r>
            <a:r>
              <a:rPr lang="en-US" dirty="0">
                <a:solidFill>
                  <a:srgbClr val="000000"/>
                </a:solidFill>
                <a:latin typeface="Cascadia Mono" panose="020B0609020000020004" pitchFamily="49" charset="0"/>
              </a:rPr>
              <a:t>); </a:t>
            </a:r>
            <a:r>
              <a:rPr lang="en-US" dirty="0" smtClean="0">
                <a:solidFill>
                  <a:srgbClr val="008000"/>
                </a:solidFill>
                <a:latin typeface="Cascadia Mono" panose="020B0609020000020004" pitchFamily="49" charset="0"/>
              </a:rPr>
              <a:t>//creating an object of Employee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a2 =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(202, </a:t>
            </a:r>
            <a:r>
              <a:rPr lang="en-US" dirty="0" smtClean="0">
                <a:solidFill>
                  <a:srgbClr val="A31515"/>
                </a:solidFill>
                <a:latin typeface="Cascadia Mono" panose="020B0609020000020004" pitchFamily="49" charset="0"/>
              </a:rPr>
              <a:t>"</a:t>
            </a:r>
            <a:r>
              <a:rPr lang="en-US" dirty="0" err="1" smtClean="0">
                <a:solidFill>
                  <a:srgbClr val="A31515"/>
                </a:solidFill>
                <a:latin typeface="Cascadia Mono" panose="020B0609020000020004" pitchFamily="49" charset="0"/>
              </a:rPr>
              <a:t>Nakul</a:t>
            </a:r>
            <a:r>
              <a:rPr lang="en-US" dirty="0" smtClean="0">
                <a:solidFill>
                  <a:srgbClr val="A31515"/>
                </a:solidFill>
                <a:latin typeface="Cascadia Mono" panose="020B0609020000020004" pitchFamily="49" charset="0"/>
              </a:rPr>
              <a:t>"</a:t>
            </a:r>
            <a:r>
              <a:rPr lang="en-US" dirty="0">
                <a:solidFill>
                  <a:srgbClr val="000000"/>
                </a:solidFill>
                <a:latin typeface="Cascadia Mono" panose="020B0609020000020004" pitchFamily="49" charset="0"/>
              </a:rPr>
              <a:t>); </a:t>
            </a:r>
            <a:r>
              <a:rPr lang="en-US" dirty="0" smtClean="0">
                <a:solidFill>
                  <a:srgbClr val="008000"/>
                </a:solidFill>
                <a:latin typeface="Cascadia Mono" panose="020B0609020000020004" pitchFamily="49" charset="0"/>
              </a:rPr>
              <a:t>//creating an object of Employee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a1.display();</a:t>
            </a:r>
          </a:p>
          <a:p>
            <a:r>
              <a:rPr lang="en-US" dirty="0">
                <a:solidFill>
                  <a:srgbClr val="000000"/>
                </a:solidFill>
                <a:latin typeface="Cascadia Mono" panose="020B0609020000020004" pitchFamily="49" charset="0"/>
              </a:rPr>
              <a:t>    a2.display();</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return</a:t>
            </a:r>
            <a:r>
              <a:rPr lang="en-US" dirty="0">
                <a:solidFill>
                  <a:srgbClr val="000000"/>
                </a:solidFill>
                <a:latin typeface="Cascadia Mono" panose="020B0609020000020004" pitchFamily="49" charset="0"/>
              </a:rPr>
              <a:t> 0</a:t>
            </a:r>
            <a:r>
              <a:rPr lang="en-US" dirty="0" smtClean="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1870554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5" name="Rectangle 4"/>
          <p:cNvSpPr/>
          <p:nvPr/>
        </p:nvSpPr>
        <p:spPr>
          <a:xfrm>
            <a:off x="0" y="0"/>
            <a:ext cx="11805313" cy="6740307"/>
          </a:xfrm>
          <a:prstGeom prst="rect">
            <a:avLst/>
          </a:prstGeom>
        </p:spPr>
        <p:txBody>
          <a:bodyPr wrap="square">
            <a:spAutoFit/>
          </a:bodyPr>
          <a:lstStyle/>
          <a:p>
            <a:r>
              <a:rPr lang="en-US" dirty="0" smtClean="0">
                <a:solidFill>
                  <a:srgbClr val="808080"/>
                </a:solidFill>
                <a:latin typeface="Cascadia Mono" panose="020B0609020000020004" pitchFamily="49" charset="0"/>
              </a:rPr>
              <a:t>#include</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&lt;</a:t>
            </a:r>
            <a:r>
              <a:rPr lang="en-US" dirty="0" err="1" smtClean="0">
                <a:solidFill>
                  <a:srgbClr val="A31515"/>
                </a:solidFill>
                <a:latin typeface="Cascadia Mono" panose="020B0609020000020004" pitchFamily="49" charset="0"/>
              </a:rPr>
              <a:t>iostream</a:t>
            </a:r>
            <a:r>
              <a:rPr lang="en-US" dirty="0" smtClean="0">
                <a:solidFill>
                  <a:srgbClr val="A31515"/>
                </a:solidFill>
                <a:latin typeface="Cascadia Mono" panose="020B0609020000020004" pitchFamily="49" charset="0"/>
              </a:rPr>
              <a:t>&gt;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using</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namespace</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std</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class</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public</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accno</a:t>
            </a:r>
            <a:r>
              <a:rPr lang="en-US" dirty="0">
                <a:solidFill>
                  <a:srgbClr val="000000"/>
                </a:solidFill>
                <a:latin typeface="Cascadia Mono" panose="020B0609020000020004" pitchFamily="49" charset="0"/>
              </a:rPr>
              <a:t>; </a:t>
            </a:r>
            <a:r>
              <a:rPr lang="en-US" dirty="0" smtClean="0">
                <a:solidFill>
                  <a:srgbClr val="008000"/>
                </a:solidFill>
                <a:latin typeface="Cascadia Mono" panose="020B0609020000020004" pitchFamily="49" charset="0"/>
              </a:rPr>
              <a:t>//data member (also instance variable)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string</a:t>
            </a:r>
            <a:r>
              <a:rPr lang="en-US" dirty="0">
                <a:solidFill>
                  <a:srgbClr val="000000"/>
                </a:solidFill>
                <a:latin typeface="Cascadia Mono" panose="020B0609020000020004" pitchFamily="49" charset="0"/>
              </a:rPr>
              <a:t> name;</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static</a:t>
            </a:r>
            <a:r>
              <a:rPr lang="en-US" dirty="0">
                <a:solidFill>
                  <a:srgbClr val="000000"/>
                </a:solidFill>
                <a:latin typeface="Cascadia Mono" panose="020B0609020000020004" pitchFamily="49" charset="0"/>
              </a:rPr>
              <a:t>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count;</a:t>
            </a:r>
          </a:p>
          <a:p>
            <a:r>
              <a:rPr lang="en-US" dirty="0">
                <a:solidFill>
                  <a:srgbClr val="000000"/>
                </a:solidFill>
                <a:latin typeface="Cascadia Mono" panose="020B0609020000020004" pitchFamily="49" charset="0"/>
              </a:rPr>
              <a:t>    Account(</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err="1" smtClean="0">
                <a:solidFill>
                  <a:srgbClr val="808080"/>
                </a:solidFill>
                <a:latin typeface="Cascadia Mono" panose="020B0609020000020004" pitchFamily="49" charset="0"/>
              </a:rPr>
              <a:t>accno</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string</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name</a:t>
            </a:r>
            <a:r>
              <a:rPr lang="en-US" dirty="0" smtClean="0">
                <a:solidFill>
                  <a:srgbClr val="000000"/>
                </a:solidFill>
                <a:latin typeface="Cascadia Mono" panose="020B0609020000020004" pitchFamily="49" charset="0"/>
              </a:rPr>
              <a:t>){</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a:t>
            </a:r>
            <a:r>
              <a:rPr lang="en-US" dirty="0" err="1">
                <a:solidFill>
                  <a:srgbClr val="000000"/>
                </a:solidFill>
                <a:latin typeface="Cascadia Mono" panose="020B0609020000020004" pitchFamily="49" charset="0"/>
              </a:rPr>
              <a:t>accno</a:t>
            </a:r>
            <a:r>
              <a:rPr lang="en-US" dirty="0">
                <a:solidFill>
                  <a:srgbClr val="000000"/>
                </a:solidFill>
                <a:latin typeface="Cascadia Mono" panose="020B0609020000020004" pitchFamily="49" charset="0"/>
              </a:rPr>
              <a:t> = </a:t>
            </a:r>
            <a:r>
              <a:rPr lang="en-US" dirty="0" err="1" smtClean="0">
                <a:solidFill>
                  <a:srgbClr val="808080"/>
                </a:solidFill>
                <a:latin typeface="Cascadia Mono" panose="020B0609020000020004" pitchFamily="49" charset="0"/>
              </a:rPr>
              <a:t>accno</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this</a:t>
            </a:r>
            <a:r>
              <a:rPr lang="en-US" dirty="0">
                <a:solidFill>
                  <a:srgbClr val="000000"/>
                </a:solidFill>
                <a:latin typeface="Cascadia Mono" panose="020B0609020000020004" pitchFamily="49" charset="0"/>
              </a:rPr>
              <a:t>-&gt;name </a:t>
            </a:r>
            <a:r>
              <a:rPr lang="en-US" dirty="0" smtClean="0">
                <a:solidFill>
                  <a:srgbClr val="008080"/>
                </a:solidFill>
                <a:latin typeface="Cascadia Mono" panose="020B0609020000020004" pitchFamily="49" charset="0"/>
              </a:rPr>
              <a:t>=</a:t>
            </a:r>
            <a:r>
              <a:rPr lang="en-US" dirty="0">
                <a:solidFill>
                  <a:srgbClr val="000000"/>
                </a:solidFill>
                <a:latin typeface="Cascadia Mono" panose="020B0609020000020004" pitchFamily="49" charset="0"/>
              </a:rPr>
              <a:t> </a:t>
            </a:r>
            <a:r>
              <a:rPr lang="en-US" dirty="0" smtClean="0">
                <a:solidFill>
                  <a:srgbClr val="808080"/>
                </a:solidFill>
                <a:latin typeface="Cascadia Mono" panose="020B0609020000020004" pitchFamily="49" charset="0"/>
              </a:rPr>
              <a:t>name</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count</a:t>
            </a:r>
            <a:r>
              <a:rPr lang="en-US" dirty="0" smtClean="0">
                <a:solidFill>
                  <a:srgbClr val="000000"/>
                </a:solidFill>
                <a:latin typeface="Cascadia Mono" panose="020B0609020000020004" pitchFamily="49" charset="0"/>
              </a:rPr>
              <a:t>++;    </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display</a:t>
            </a:r>
            <a:r>
              <a:rPr lang="en-US" dirty="0" smtClean="0">
                <a:solidFill>
                  <a:srgbClr val="000000"/>
                </a:solidFill>
                <a:latin typeface="Cascadia Mono" panose="020B0609020000020004" pitchFamily="49" charset="0"/>
              </a:rPr>
              <a:t>(){</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accno</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 "</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name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endl</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00"/>
                </a:solidFill>
                <a:latin typeface="Cascadia Mono" panose="020B0609020000020004" pitchFamily="49" charset="0"/>
              </a:rPr>
              <a:t>}};</a:t>
            </a:r>
            <a:endParaRPr lang="en-US" dirty="0">
              <a:solidFill>
                <a:srgbClr val="000000"/>
              </a:solidFill>
              <a:latin typeface="Cascadia Mono" panose="020B0609020000020004" pitchFamily="49" charset="0"/>
            </a:endParaRP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::count = 0;</a:t>
            </a: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main() {</a:t>
            </a: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a1 =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(201, </a:t>
            </a:r>
            <a:r>
              <a:rPr lang="en-US" dirty="0" smtClean="0">
                <a:solidFill>
                  <a:srgbClr val="A31515"/>
                </a:solidFill>
                <a:latin typeface="Cascadia Mono" panose="020B0609020000020004" pitchFamily="49" charset="0"/>
              </a:rPr>
              <a:t>"Sanjay"</a:t>
            </a:r>
            <a:r>
              <a:rPr lang="en-US" dirty="0">
                <a:solidFill>
                  <a:srgbClr val="000000"/>
                </a:solidFill>
                <a:latin typeface="Cascadia Mono" panose="020B0609020000020004" pitchFamily="49" charset="0"/>
              </a:rPr>
              <a:t>); </a:t>
            </a:r>
            <a:r>
              <a:rPr lang="en-US" dirty="0" smtClean="0">
                <a:solidFill>
                  <a:srgbClr val="008000"/>
                </a:solidFill>
                <a:latin typeface="Cascadia Mono" panose="020B0609020000020004" pitchFamily="49" charset="0"/>
              </a:rPr>
              <a:t>//creating an object of Account  </a:t>
            </a:r>
            <a:endParaRPr lang="en-US" dirty="0">
              <a:solidFill>
                <a:srgbClr val="000000"/>
              </a:solidFill>
              <a:latin typeface="Cascadia Mono" panose="020B0609020000020004" pitchFamily="49" charset="0"/>
            </a:endParaRP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a2 =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(202, </a:t>
            </a:r>
            <a:r>
              <a:rPr lang="en-US" dirty="0" smtClean="0">
                <a:solidFill>
                  <a:srgbClr val="A31515"/>
                </a:solidFill>
                <a:latin typeface="Cascadia Mono" panose="020B0609020000020004" pitchFamily="49" charset="0"/>
              </a:rPr>
              <a:t>"</a:t>
            </a:r>
            <a:r>
              <a:rPr lang="en-US" dirty="0" err="1" smtClean="0">
                <a:solidFill>
                  <a:srgbClr val="A31515"/>
                </a:solidFill>
                <a:latin typeface="Cascadia Mono" panose="020B0609020000020004" pitchFamily="49" charset="0"/>
              </a:rPr>
              <a:t>Nakul</a:t>
            </a:r>
            <a:r>
              <a:rPr lang="en-US" dirty="0" smtClean="0">
                <a:solidFill>
                  <a:srgbClr val="A31515"/>
                </a:solidFill>
                <a:latin typeface="Cascadia Mono" panose="020B0609020000020004" pitchFamily="49" charset="0"/>
              </a:rPr>
              <a:t>"</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 a3 =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(203, </a:t>
            </a:r>
            <a:r>
              <a:rPr lang="en-US" dirty="0" smtClean="0">
                <a:solidFill>
                  <a:srgbClr val="A31515"/>
                </a:solidFill>
                <a:latin typeface="Cascadia Mono" panose="020B0609020000020004" pitchFamily="49" charset="0"/>
              </a:rPr>
              <a:t>"</a:t>
            </a:r>
            <a:r>
              <a:rPr lang="en-US" dirty="0" err="1" smtClean="0">
                <a:solidFill>
                  <a:srgbClr val="A31515"/>
                </a:solidFill>
                <a:latin typeface="Cascadia Mono" panose="020B0609020000020004" pitchFamily="49" charset="0"/>
              </a:rPr>
              <a:t>Ranjana</a:t>
            </a:r>
            <a:r>
              <a:rPr lang="en-US" dirty="0" smtClean="0">
                <a:solidFill>
                  <a:srgbClr val="A31515"/>
                </a:solidFill>
                <a:latin typeface="Cascadia Mono" panose="020B0609020000020004" pitchFamily="49" charset="0"/>
              </a:rPr>
              <a:t>"</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a1.display();</a:t>
            </a:r>
          </a:p>
          <a:p>
            <a:r>
              <a:rPr lang="en-US" dirty="0">
                <a:solidFill>
                  <a:srgbClr val="000000"/>
                </a:solidFill>
                <a:latin typeface="Cascadia Mono" panose="020B0609020000020004" pitchFamily="49" charset="0"/>
              </a:rPr>
              <a:t>    a2.display();</a:t>
            </a:r>
          </a:p>
          <a:p>
            <a:r>
              <a:rPr lang="en-US" dirty="0">
                <a:solidFill>
                  <a:srgbClr val="000000"/>
                </a:solidFill>
                <a:latin typeface="Cascadia Mono" panose="020B0609020000020004" pitchFamily="49" charset="0"/>
              </a:rPr>
              <a:t>    a3.display();</a:t>
            </a: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"Total Objects are: "</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Account</a:t>
            </a:r>
            <a:r>
              <a:rPr lang="en-US" dirty="0">
                <a:solidFill>
                  <a:srgbClr val="000000"/>
                </a:solidFill>
                <a:latin typeface="Cascadia Mono" panose="020B0609020000020004" pitchFamily="49" charset="0"/>
              </a:rPr>
              <a:t>::count;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return</a:t>
            </a:r>
            <a:r>
              <a:rPr lang="en-US" dirty="0">
                <a:solidFill>
                  <a:srgbClr val="000000"/>
                </a:solidFill>
                <a:latin typeface="Cascadia Mono" panose="020B0609020000020004" pitchFamily="49" charset="0"/>
              </a:rPr>
              <a:t> 0</a:t>
            </a:r>
            <a:r>
              <a:rPr lang="en-US" dirty="0" smtClean="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654433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Static </a:t>
            </a:r>
            <a:r>
              <a:rPr lang="en-US" b="1" u="sng" dirty="0" smtClean="0"/>
              <a:t>Function</a:t>
            </a:r>
            <a:endParaRPr lang="en-US" dirty="0"/>
          </a:p>
        </p:txBody>
      </p:sp>
      <p:sp>
        <p:nvSpPr>
          <p:cNvPr id="3" name="Content Placeholder 2"/>
          <p:cNvSpPr>
            <a:spLocks noGrp="1"/>
          </p:cNvSpPr>
          <p:nvPr>
            <p:ph idx="1"/>
          </p:nvPr>
        </p:nvSpPr>
        <p:spPr>
          <a:xfrm>
            <a:off x="436728" y="1737359"/>
            <a:ext cx="11341290" cy="4718031"/>
          </a:xfrm>
        </p:spPr>
        <p:txBody>
          <a:bodyPr>
            <a:normAutofit fontScale="77500" lnSpcReduction="20000"/>
          </a:bodyPr>
          <a:lstStyle/>
          <a:p>
            <a:r>
              <a:rPr lang="en-US" sz="3200" dirty="0"/>
              <a:t>It is a member function that is used to access only </a:t>
            </a:r>
            <a:r>
              <a:rPr lang="en-US" sz="3200" u="sng" dirty="0">
                <a:hlinkClick r:id="rId2"/>
              </a:rPr>
              <a:t>static data members</a:t>
            </a:r>
            <a:r>
              <a:rPr lang="en-US" sz="3200" dirty="0"/>
              <a:t>. It cannot access non-static data members not even call non-static member functions. It can be called even if no objects of the class exist. It is also used to maintain a single copy of the class member function across different objects of the class</a:t>
            </a:r>
            <a:r>
              <a:rPr lang="en-US" sz="3200" dirty="0" smtClean="0"/>
              <a:t>.</a:t>
            </a:r>
          </a:p>
          <a:p>
            <a:r>
              <a:rPr lang="en-US" sz="3200" dirty="0"/>
              <a:t>Syntax of the Static Function</a:t>
            </a:r>
            <a:r>
              <a:rPr lang="en-US" sz="3200" dirty="0" smtClean="0"/>
              <a:t>:</a:t>
            </a:r>
            <a:endParaRPr lang="en-US" sz="3200" dirty="0"/>
          </a:p>
          <a:p>
            <a:r>
              <a:rPr lang="en-US" sz="3200" dirty="0"/>
              <a:t>static &lt;</a:t>
            </a:r>
            <a:r>
              <a:rPr lang="en-US" sz="3200" dirty="0" err="1"/>
              <a:t>return_type</a:t>
            </a:r>
            <a:r>
              <a:rPr lang="en-US" sz="3200" dirty="0"/>
              <a:t>&gt; &lt;</a:t>
            </a:r>
            <a:r>
              <a:rPr lang="en-US" sz="3200" dirty="0" err="1"/>
              <a:t>function_name</a:t>
            </a:r>
            <a:r>
              <a:rPr lang="en-US" sz="3200" dirty="0"/>
              <a:t>&gt;(&lt;arguments&gt;){</a:t>
            </a:r>
          </a:p>
          <a:p>
            <a:r>
              <a:rPr lang="en-US" sz="3200" dirty="0"/>
              <a:t>    //code</a:t>
            </a:r>
          </a:p>
          <a:p>
            <a:r>
              <a:rPr lang="en-US" sz="3200" dirty="0" smtClean="0"/>
              <a:t>}</a:t>
            </a:r>
          </a:p>
          <a:p>
            <a:r>
              <a:rPr lang="en-US" sz="3200" dirty="0"/>
              <a:t>When a function inside a class is declared as static, it can be accessed outside the class using the class name and scope resolution operator (::), without creating any object. </a:t>
            </a:r>
            <a:endParaRPr lang="en-US" sz="3200" dirty="0" smtClean="0"/>
          </a:p>
          <a:p>
            <a:r>
              <a:rPr lang="en-US" sz="3200" dirty="0" smtClean="0"/>
              <a:t>Since </a:t>
            </a:r>
            <a:r>
              <a:rPr lang="en-US" sz="3200" dirty="0"/>
              <a:t>the static function is not bounded by the object of the class, it does not has access to the this keyword.</a:t>
            </a:r>
            <a:endParaRPr lang="en-US" sz="3200" dirty="0" smtClean="0"/>
          </a:p>
          <a:p>
            <a:endParaRPr lang="en-US" sz="3200" dirty="0" smtClean="0"/>
          </a:p>
          <a:p>
            <a:endParaRPr lang="en-US" sz="3200" dirty="0"/>
          </a:p>
        </p:txBody>
      </p:sp>
    </p:spTree>
    <p:extLst>
      <p:ext uri="{BB962C8B-B14F-4D97-AF65-F5344CB8AC3E}">
        <p14:creationId xmlns:p14="http://schemas.microsoft.com/office/powerpoint/2010/main" val="4166575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818866" y="559558"/>
            <a:ext cx="3821373" cy="4247317"/>
          </a:xfrm>
          <a:prstGeom prst="rect">
            <a:avLst/>
          </a:prstGeom>
        </p:spPr>
        <p:txBody>
          <a:bodyPr wrap="square">
            <a:spAutoFit/>
          </a:bodyPr>
          <a:lstStyle/>
          <a:p>
            <a:r>
              <a:rPr lang="en-US" dirty="0" smtClean="0">
                <a:solidFill>
                  <a:srgbClr val="808080"/>
                </a:solidFill>
                <a:latin typeface="Cascadia Mono" panose="020B0609020000020004" pitchFamily="49" charset="0"/>
              </a:rPr>
              <a:t>#include</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&lt;</a:t>
            </a:r>
            <a:r>
              <a:rPr lang="en-US" dirty="0" err="1" smtClean="0">
                <a:solidFill>
                  <a:srgbClr val="A31515"/>
                </a:solidFill>
                <a:latin typeface="Cascadia Mono" panose="020B0609020000020004" pitchFamily="49" charset="0"/>
              </a:rPr>
              <a:t>iostream</a:t>
            </a:r>
            <a:r>
              <a:rPr lang="en-US" dirty="0" smtClean="0">
                <a:solidFill>
                  <a:srgbClr val="A31515"/>
                </a:solidFill>
                <a:latin typeface="Cascadia Mono" panose="020B0609020000020004" pitchFamily="49" charset="0"/>
              </a:rPr>
              <a:t>&gt;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using</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namespace</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std</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class</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public</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static</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f()</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"Hello"</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a:t>
            </a:r>
          </a:p>
          <a:p>
            <a:endParaRPr lang="en-US" dirty="0">
              <a:solidFill>
                <a:srgbClr val="000000"/>
              </a:solidFill>
              <a:latin typeface="Cascadia Mono" panose="020B0609020000020004" pitchFamily="49" charset="0"/>
            </a:endParaRPr>
          </a:p>
          <a:p>
            <a:r>
              <a:rPr lang="en-US" dirty="0" smtClean="0">
                <a:solidFill>
                  <a:srgbClr val="008000"/>
                </a:solidFill>
                <a:latin typeface="Cascadia Mono" panose="020B0609020000020004" pitchFamily="49" charset="0"/>
              </a:rPr>
              <a:t>// Driver Code</a:t>
            </a:r>
            <a:endParaRPr lang="en-US" dirty="0">
              <a:solidFill>
                <a:srgbClr val="000000"/>
              </a:solidFill>
              <a:latin typeface="Cascadia Mono" panose="020B0609020000020004" pitchFamily="49" charset="0"/>
            </a:endParaRP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main()</a:t>
            </a:r>
          </a:p>
          <a:p>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a:t>
            </a:r>
            <a:r>
              <a:rPr lang="en-US" dirty="0">
                <a:solidFill>
                  <a:srgbClr val="000000"/>
                </a:solidFill>
                <a:latin typeface="Cascadia Mono" panose="020B0609020000020004" pitchFamily="49" charset="0"/>
              </a:rPr>
              <a:t>::f();</a:t>
            </a:r>
          </a:p>
          <a:p>
            <a:r>
              <a:rPr lang="en-US" dirty="0">
                <a:solidFill>
                  <a:srgbClr val="000000"/>
                </a:solidFill>
                <a:latin typeface="Cascadia Mono" panose="020B0609020000020004" pitchFamily="49" charset="0"/>
              </a:rPr>
              <a:t>}</a:t>
            </a:r>
            <a:endParaRPr lang="en-US" dirty="0"/>
          </a:p>
        </p:txBody>
      </p:sp>
      <p:sp>
        <p:nvSpPr>
          <p:cNvPr id="5" name="Rectangle 4"/>
          <p:cNvSpPr/>
          <p:nvPr/>
        </p:nvSpPr>
        <p:spPr>
          <a:xfrm>
            <a:off x="5641075" y="398524"/>
            <a:ext cx="6096000" cy="5078313"/>
          </a:xfrm>
          <a:prstGeom prst="rect">
            <a:avLst/>
          </a:prstGeom>
        </p:spPr>
        <p:txBody>
          <a:bodyPr>
            <a:spAutoFit/>
          </a:bodyPr>
          <a:lstStyle/>
          <a:p>
            <a:r>
              <a:rPr lang="en-US" dirty="0" smtClean="0">
                <a:solidFill>
                  <a:srgbClr val="808080"/>
                </a:solidFill>
                <a:latin typeface="Cascadia Mono" panose="020B0609020000020004" pitchFamily="49" charset="0"/>
              </a:rPr>
              <a:t>#include</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&lt;</a:t>
            </a:r>
            <a:r>
              <a:rPr lang="en-US" dirty="0" err="1" smtClean="0">
                <a:solidFill>
                  <a:srgbClr val="A31515"/>
                </a:solidFill>
                <a:latin typeface="Cascadia Mono" panose="020B0609020000020004" pitchFamily="49" charset="0"/>
              </a:rPr>
              <a:t>iostream</a:t>
            </a:r>
            <a:r>
              <a:rPr lang="en-US" dirty="0" smtClean="0">
                <a:solidFill>
                  <a:srgbClr val="A31515"/>
                </a:solidFill>
                <a:latin typeface="Cascadia Mono" panose="020B0609020000020004" pitchFamily="49" charset="0"/>
              </a:rPr>
              <a:t>&gt;</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using</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namespace</a:t>
            </a:r>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std</a:t>
            </a:r>
            <a:r>
              <a:rPr lang="en-US" dirty="0">
                <a:solidFill>
                  <a:srgbClr val="000000"/>
                </a:solidFill>
                <a:latin typeface="Cascadia Mono" panose="020B0609020000020004" pitchFamily="49" charset="0"/>
              </a:rPr>
              <a:t>;</a:t>
            </a:r>
          </a:p>
          <a:p>
            <a:r>
              <a:rPr lang="en-US" dirty="0" smtClean="0">
                <a:solidFill>
                  <a:srgbClr val="0000FF"/>
                </a:solidFill>
                <a:latin typeface="Cascadia Mono" panose="020B0609020000020004" pitchFamily="49" charset="0"/>
              </a:rPr>
              <a:t>class</a:t>
            </a:r>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a:t>
            </a:r>
            <a:r>
              <a:rPr lang="en-US" dirty="0">
                <a:solidFill>
                  <a:srgbClr val="000000"/>
                </a:solidFill>
                <a:latin typeface="Cascadia Mono" panose="020B0609020000020004" pitchFamily="49" charset="0"/>
              </a:rPr>
              <a:t> {</a:t>
            </a:r>
          </a:p>
          <a:p>
            <a:r>
              <a:rPr lang="en-US" dirty="0" smtClean="0">
                <a:solidFill>
                  <a:srgbClr val="0000FF"/>
                </a:solidFill>
                <a:latin typeface="Cascadia Mono" panose="020B0609020000020004" pitchFamily="49" charset="0"/>
              </a:rPr>
              <a:t>public</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x;</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static</a:t>
            </a:r>
            <a:r>
              <a:rPr lang="en-US" dirty="0">
                <a:solidFill>
                  <a:srgbClr val="000000"/>
                </a:solidFill>
                <a:latin typeface="Cascadia Mono" panose="020B0609020000020004" pitchFamily="49" charset="0"/>
              </a:rPr>
              <a:t> </a:t>
            </a:r>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y;</a:t>
            </a:r>
          </a:p>
          <a:p>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static</a:t>
            </a:r>
            <a:r>
              <a:rPr lang="en-US" dirty="0">
                <a:solidFill>
                  <a:srgbClr val="000000"/>
                </a:solidFill>
                <a:latin typeface="Cascadia Mono" panose="020B0609020000020004" pitchFamily="49" charset="0"/>
              </a:rPr>
              <a:t> </a:t>
            </a:r>
            <a:r>
              <a:rPr lang="en-US" dirty="0" smtClean="0">
                <a:solidFill>
                  <a:srgbClr val="0000FF"/>
                </a:solidFill>
                <a:latin typeface="Cascadia Mono" panose="020B0609020000020004" pitchFamily="49" charset="0"/>
              </a:rPr>
              <a:t>void</a:t>
            </a:r>
            <a:r>
              <a:rPr lang="en-US" dirty="0">
                <a:solidFill>
                  <a:srgbClr val="000000"/>
                </a:solidFill>
                <a:latin typeface="Cascadia Mono" panose="020B0609020000020004" pitchFamily="49" charset="0"/>
              </a:rPr>
              <a:t> f()</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a:t>
            </a:r>
            <a:r>
              <a:rPr lang="en-US" dirty="0" smtClean="0">
                <a:solidFill>
                  <a:srgbClr val="A31515"/>
                </a:solidFill>
                <a:latin typeface="Cascadia Mono" panose="020B0609020000020004" pitchFamily="49" charset="0"/>
              </a:rPr>
              <a:t>"Hello"</a:t>
            </a:r>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err="1">
                <a:solidFill>
                  <a:srgbClr val="000000"/>
                </a:solidFill>
                <a:latin typeface="Cascadia Mono" panose="020B0609020000020004" pitchFamily="49" charset="0"/>
              </a:rPr>
              <a:t>cout</a:t>
            </a:r>
            <a:r>
              <a:rPr lang="en-US" dirty="0">
                <a:solidFill>
                  <a:srgbClr val="000000"/>
                </a:solidFill>
                <a:latin typeface="Cascadia Mono" panose="020B0609020000020004" pitchFamily="49" charset="0"/>
              </a:rPr>
              <a:t> </a:t>
            </a:r>
            <a:r>
              <a:rPr lang="en-US" dirty="0" smtClean="0">
                <a:solidFill>
                  <a:srgbClr val="008080"/>
                </a:solidFill>
                <a:latin typeface="Cascadia Mono" panose="020B0609020000020004" pitchFamily="49" charset="0"/>
              </a:rPr>
              <a:t>&lt;&lt;</a:t>
            </a:r>
            <a:r>
              <a:rPr lang="en-US" dirty="0">
                <a:solidFill>
                  <a:srgbClr val="000000"/>
                </a:solidFill>
                <a:latin typeface="Cascadia Mono" panose="020B0609020000020004" pitchFamily="49" charset="0"/>
              </a:rPr>
              <a:t> y;</a:t>
            </a:r>
          </a:p>
          <a:p>
            <a:r>
              <a:rPr lang="en-US" dirty="0">
                <a:solidFill>
                  <a:srgbClr val="000000"/>
                </a:solidFill>
                <a:latin typeface="Cascadia Mono" panose="020B0609020000020004" pitchFamily="49" charset="0"/>
              </a:rPr>
              <a:t>    }</a:t>
            </a:r>
          </a:p>
          <a:p>
            <a:r>
              <a:rPr lang="en-US" dirty="0">
                <a:solidFill>
                  <a:srgbClr val="000000"/>
                </a:solidFill>
                <a:latin typeface="Cascadia Mono" panose="020B0609020000020004" pitchFamily="49" charset="0"/>
              </a:rPr>
              <a:t>};</a:t>
            </a:r>
          </a:p>
          <a:p>
            <a:endParaRPr lang="en-US" dirty="0">
              <a:solidFill>
                <a:srgbClr val="000000"/>
              </a:solidFill>
              <a:latin typeface="Cascadia Mono" panose="020B0609020000020004" pitchFamily="49" charset="0"/>
            </a:endParaRPr>
          </a:p>
          <a:p>
            <a:r>
              <a:rPr lang="en-US" dirty="0" smtClean="0">
                <a:solidFill>
                  <a:srgbClr val="008000"/>
                </a:solidFill>
                <a:latin typeface="Cascadia Mono" panose="020B0609020000020004" pitchFamily="49" charset="0"/>
              </a:rPr>
              <a:t>// Driver Code</a:t>
            </a:r>
            <a:endParaRPr lang="en-US" dirty="0">
              <a:solidFill>
                <a:srgbClr val="000000"/>
              </a:solidFill>
              <a:latin typeface="Cascadia Mono" panose="020B0609020000020004" pitchFamily="49" charset="0"/>
            </a:endParaRPr>
          </a:p>
          <a:p>
            <a:r>
              <a:rPr lang="en-US" dirty="0" err="1" smtClean="0">
                <a:solidFill>
                  <a:srgbClr val="0000FF"/>
                </a:solidFill>
                <a:latin typeface="Cascadia Mono" panose="020B0609020000020004" pitchFamily="49" charset="0"/>
              </a:rPr>
              <a:t>int</a:t>
            </a:r>
            <a:r>
              <a:rPr lang="en-US" dirty="0">
                <a:solidFill>
                  <a:srgbClr val="000000"/>
                </a:solidFill>
                <a:latin typeface="Cascadia Mono" panose="020B0609020000020004" pitchFamily="49" charset="0"/>
              </a:rPr>
              <a:t> main()</a:t>
            </a:r>
          </a:p>
          <a:p>
            <a:r>
              <a:rPr lang="en-US" dirty="0">
                <a:solidFill>
                  <a:srgbClr val="000000"/>
                </a:solidFill>
                <a:latin typeface="Cascadia Mono" panose="020B0609020000020004" pitchFamily="49" charset="0"/>
              </a:rPr>
              <a:t>{</a:t>
            </a:r>
          </a:p>
          <a:p>
            <a:r>
              <a:rPr lang="en-US" dirty="0">
                <a:solidFill>
                  <a:srgbClr val="000000"/>
                </a:solidFill>
                <a:latin typeface="Cascadia Mono" panose="020B0609020000020004" pitchFamily="49" charset="0"/>
              </a:rPr>
              <a:t>    </a:t>
            </a:r>
            <a:r>
              <a:rPr lang="en-US" dirty="0" smtClean="0">
                <a:solidFill>
                  <a:srgbClr val="2B91AF"/>
                </a:solidFill>
                <a:latin typeface="Cascadia Mono" panose="020B0609020000020004" pitchFamily="49" charset="0"/>
              </a:rPr>
              <a:t>A</a:t>
            </a:r>
            <a:r>
              <a:rPr lang="en-US" dirty="0">
                <a:solidFill>
                  <a:srgbClr val="000000"/>
                </a:solidFill>
                <a:latin typeface="Cascadia Mono" panose="020B0609020000020004" pitchFamily="49" charset="0"/>
              </a:rPr>
              <a:t>::f();</a:t>
            </a:r>
          </a:p>
          <a:p>
            <a:r>
              <a:rPr lang="en-US" dirty="0">
                <a:solidFill>
                  <a:srgbClr val="000000"/>
                </a:solidFill>
                <a:latin typeface="Cascadia Mono" panose="020B0609020000020004" pitchFamily="49" charset="0"/>
              </a:rPr>
              <a:t>}</a:t>
            </a:r>
            <a:endParaRPr lang="en-US" dirty="0"/>
          </a:p>
        </p:txBody>
      </p:sp>
    </p:spTree>
    <p:extLst>
      <p:ext uri="{BB962C8B-B14F-4D97-AF65-F5344CB8AC3E}">
        <p14:creationId xmlns:p14="http://schemas.microsoft.com/office/powerpoint/2010/main" val="37102209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689</TotalTime>
  <Words>1486</Words>
  <Application>Microsoft Office PowerPoint</Application>
  <PresentationFormat>Widescreen</PresentationFormat>
  <Paragraphs>257</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Cascadia Mono</vt:lpstr>
      <vt:lpstr>inter-bold</vt:lpstr>
      <vt:lpstr>inter-regular</vt:lpstr>
      <vt:lpstr>Retrospect</vt:lpstr>
      <vt:lpstr>Copy constructor, this, static in C++ </vt:lpstr>
      <vt:lpstr>Copy constructor in C++</vt:lpstr>
      <vt:lpstr>Types of Copy Constructors in C++</vt:lpstr>
      <vt:lpstr>Shallow copy of an object</vt:lpstr>
      <vt:lpstr>PowerPoint Presentation</vt:lpstr>
      <vt:lpstr>Deep copy</vt:lpstr>
      <vt:lpstr>PowerPoint Presentation</vt:lpstr>
      <vt:lpstr>Syntax of copy constructor:</vt:lpstr>
      <vt:lpstr>C++ this Pointer</vt:lpstr>
      <vt:lpstr>PowerPoint Presentation</vt:lpstr>
      <vt:lpstr>PowerPoint Presentation</vt:lpstr>
      <vt:lpstr>C++ static</vt:lpstr>
      <vt:lpstr>C++ Static Field</vt:lpstr>
      <vt:lpstr>PowerPoint Presentation</vt:lpstr>
      <vt:lpstr>PowerPoint Presentation</vt:lpstr>
      <vt:lpstr>Static Function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Anosha Khan</dc:creator>
  <cp:lastModifiedBy>Anosha Khan</cp:lastModifiedBy>
  <cp:revision>43</cp:revision>
  <dcterms:created xsi:type="dcterms:W3CDTF">2022-10-03T15:52:07Z</dcterms:created>
  <dcterms:modified xsi:type="dcterms:W3CDTF">2022-10-04T03:21:16Z</dcterms:modified>
</cp:coreProperties>
</file>