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80" r:id="rId2"/>
    <p:sldId id="281" r:id="rId3"/>
    <p:sldId id="274" r:id="rId4"/>
    <p:sldId id="275" r:id="rId5"/>
    <p:sldId id="276" r:id="rId6"/>
    <p:sldId id="277" r:id="rId7"/>
    <p:sldId id="278" r:id="rId8"/>
    <p:sldId id="279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79300" cy="6845300"/>
  <p:notesSz cx="14662150" cy="10233025"/>
  <p:embeddedFontLs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SEUTMN+Helvetica" charset="0"/>
      <p:regular r:id="rId32"/>
    </p:embeddedFont>
    <p:embeddedFont>
      <p:font typeface="QCCWQT+CalibriLight"/>
      <p:regular r:id="rId33"/>
    </p:embeddedFont>
    <p:embeddedFont>
      <p:font typeface="Arial Unicode MS" pitchFamily="34" charset="-128"/>
      <p:regular r:id="rId34"/>
    </p:embeddedFont>
    <p:embeddedFont>
      <p:font typeface="Consolas" pitchFamily="49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282" y="-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6354492" cy="512601"/>
          </a:xfrm>
          <a:prstGeom prst="rect">
            <a:avLst/>
          </a:prstGeom>
        </p:spPr>
        <p:txBody>
          <a:bodyPr vert="horz" lIns="131307" tIns="65653" rIns="131307" bIns="65653" rtlCol="0"/>
          <a:lstStyle>
            <a:lvl1pPr algn="l">
              <a:defRPr sz="17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305749" y="2"/>
            <a:ext cx="6352579" cy="512601"/>
          </a:xfrm>
          <a:prstGeom prst="rect">
            <a:avLst/>
          </a:prstGeom>
        </p:spPr>
        <p:txBody>
          <a:bodyPr vert="horz" lIns="131307" tIns="65653" rIns="131307" bIns="65653" rtlCol="0"/>
          <a:lstStyle>
            <a:lvl1pPr algn="r">
              <a:defRPr sz="1700"/>
            </a:lvl1pPr>
          </a:lstStyle>
          <a:p>
            <a:fld id="{27A0FBDF-E957-46A5-8CFB-559D2E578F38}" type="datetimeFigureOut">
              <a:rPr lang="en-US" smtClean="0"/>
              <a:t>12/6/2020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16363" y="765175"/>
            <a:ext cx="682942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1307" tIns="65653" rIns="131307" bIns="6565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5834" y="4860213"/>
            <a:ext cx="11730486" cy="4606286"/>
          </a:xfrm>
          <a:prstGeom prst="rect">
            <a:avLst/>
          </a:prstGeom>
        </p:spPr>
        <p:txBody>
          <a:bodyPr vert="horz" lIns="131307" tIns="65653" rIns="131307" bIns="6565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426"/>
            <a:ext cx="6354492" cy="510229"/>
          </a:xfrm>
          <a:prstGeom prst="rect">
            <a:avLst/>
          </a:prstGeom>
        </p:spPr>
        <p:txBody>
          <a:bodyPr vert="horz" lIns="131307" tIns="65653" rIns="131307" bIns="65653" rtlCol="0" anchor="b"/>
          <a:lstStyle>
            <a:lvl1pPr algn="l">
              <a:defRPr sz="17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305749" y="9720426"/>
            <a:ext cx="6352579" cy="510229"/>
          </a:xfrm>
          <a:prstGeom prst="rect">
            <a:avLst/>
          </a:prstGeom>
        </p:spPr>
        <p:txBody>
          <a:bodyPr vert="horz" lIns="131307" tIns="65653" rIns="131307" bIns="65653" rtlCol="0" anchor="b"/>
          <a:lstStyle>
            <a:lvl1pPr algn="r">
              <a:defRPr sz="1700"/>
            </a:lvl1pPr>
          </a:lstStyle>
          <a:p>
            <a:fld id="{4021C279-B8FD-4CAA-9B88-70BF002558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build a bridge over the sea, this slide</a:t>
            </a:r>
            <a:r>
              <a:rPr lang="en-US" baseline="0" dirty="0" smtClean="0"/>
              <a:t> says all about POLYMORPHISM.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1C279-B8FD-4CAA-9B88-70BF002558E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0524-E176-43B7-8AED-2DB414E061E6}" type="datetime1">
              <a:rPr lang="en-US" smtClean="0"/>
              <a:t>12/7/2020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666" y="2459482"/>
            <a:ext cx="6797992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276999"/>
          </a:xfrm>
        </p:spPr>
        <p:txBody>
          <a:bodyPr/>
          <a:lstStyle/>
          <a:p>
            <a:fld id="{20CD226B-FDFA-4797-A535-761F41D365D9}" type="datetime1">
              <a:rPr lang="en-US" smtClean="0"/>
              <a:t>12/7/2020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276999"/>
          </a:xfrm>
        </p:spPr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965" y="1670253"/>
            <a:ext cx="5379191" cy="166199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144" y="1670253"/>
            <a:ext cx="5379191" cy="166199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276999"/>
          </a:xfrm>
        </p:spPr>
        <p:txBody>
          <a:bodyPr/>
          <a:lstStyle/>
          <a:p>
            <a:fld id="{085009E8-B7CA-47F7-AA71-FA662078B8EB}" type="datetime1">
              <a:rPr lang="en-US" smtClean="0"/>
              <a:t>12/7/2020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276999"/>
          </a:xfrm>
        </p:spPr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250A0-14CF-4B63-82D9-308257C8E719}" type="datetime1">
              <a:rPr lang="en-US" smtClean="0"/>
              <a:t>12/7/2020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65250" y="2432050"/>
            <a:ext cx="5562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Polymorphism best explained:</a:t>
            </a:r>
          </a:p>
          <a:p>
            <a:endParaRPr lang="en-US" sz="2400" dirty="0" smtClean="0"/>
          </a:p>
          <a:p>
            <a:r>
              <a:rPr lang="en-US" sz="2400" dirty="0" smtClean="0"/>
              <a:t>1</a:t>
            </a:r>
            <a:r>
              <a:rPr lang="en-US" sz="2400" dirty="0" smtClean="0"/>
              <a:t>) Mom: Son go and get Red Label</a:t>
            </a:r>
            <a:br>
              <a:rPr lang="en-US" sz="2400" dirty="0" smtClean="0"/>
            </a:br>
            <a:r>
              <a:rPr lang="en-US" sz="2400" dirty="0" smtClean="0"/>
              <a:t>Son: </a:t>
            </a:r>
            <a:r>
              <a:rPr lang="en-US" sz="2400" dirty="0" smtClean="0"/>
              <a:t>1 or 2 </a:t>
            </a:r>
            <a:r>
              <a:rPr lang="en-US" sz="2400" dirty="0" smtClean="0"/>
              <a:t>kilo??</a:t>
            </a:r>
          </a:p>
          <a:p>
            <a:endParaRPr lang="en-US" sz="2400" dirty="0" smtClean="0"/>
          </a:p>
          <a:p>
            <a:r>
              <a:rPr lang="en-US" sz="2400" dirty="0" smtClean="0"/>
              <a:t>2</a:t>
            </a:r>
            <a:r>
              <a:rPr lang="en-US" sz="2400" dirty="0" smtClean="0"/>
              <a:t>) Dad : Son go and get  Red Label</a:t>
            </a:r>
            <a:br>
              <a:rPr lang="en-US" sz="2400" dirty="0" smtClean="0"/>
            </a:br>
            <a:r>
              <a:rPr lang="en-US" sz="2400" dirty="0" smtClean="0"/>
              <a:t>Son: Quarter or Half</a:t>
            </a:r>
            <a:r>
              <a:rPr lang="en-US" sz="2400" dirty="0" smtClean="0"/>
              <a:t>…??</a:t>
            </a:r>
            <a:endParaRPr lang="en-US" sz="24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2250" y="2051050"/>
            <a:ext cx="1447800" cy="1780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89850" y="3879850"/>
            <a:ext cx="1676400" cy="2702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object 3"/>
          <p:cNvSpPr txBox="1"/>
          <p:nvPr/>
        </p:nvSpPr>
        <p:spPr>
          <a:xfrm>
            <a:off x="831850" y="146050"/>
            <a:ext cx="9240336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83663" marR="0">
              <a:lnSpc>
                <a:spcPts val="5362"/>
              </a:lnSpc>
              <a:spcBef>
                <a:spcPts val="0"/>
              </a:spcBef>
              <a:spcAft>
                <a:spcPts val="0"/>
              </a:spcAft>
            </a:pPr>
            <a:r>
              <a:rPr sz="4800" smtClean="0">
                <a:solidFill>
                  <a:srgbClr val="002060"/>
                </a:solidFill>
                <a:latin typeface="+mj-lt"/>
                <a:cs typeface="SEUTMN+Helvetica"/>
              </a:rPr>
              <a:t>Polymorphism</a:t>
            </a:r>
          </a:p>
          <a:p>
            <a:pPr marL="0" marR="0" algn="ctr">
              <a:lnSpc>
                <a:spcPts val="6251"/>
              </a:lnSpc>
              <a:spcBef>
                <a:spcPts val="924"/>
              </a:spcBef>
              <a:spcAft>
                <a:spcPts val="0"/>
              </a:spcAft>
            </a:pPr>
            <a:r>
              <a:rPr sz="4400" smtClean="0">
                <a:solidFill>
                  <a:srgbClr val="2E75B6"/>
                </a:solidFill>
                <a:latin typeface="+mj-lt"/>
                <a:cs typeface="QCCWQT+CalibriLight"/>
              </a:rPr>
              <a:t>Object</a:t>
            </a:r>
            <a:r>
              <a:rPr lang="en-US" sz="4400" dirty="0" smtClean="0">
                <a:solidFill>
                  <a:srgbClr val="2E75B6"/>
                </a:solidFill>
                <a:latin typeface="+mj-lt"/>
                <a:cs typeface="QCCWQT+CalibriLight"/>
              </a:rPr>
              <a:t> Oriented Programming</a:t>
            </a:r>
            <a:endParaRPr sz="4400" spc="-18" dirty="0">
              <a:solidFill>
                <a:srgbClr val="2D75B6"/>
              </a:solidFill>
              <a:latin typeface="+mj-lt"/>
              <a:cs typeface="QCCWQT+CalibriLight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55850" y="2203450"/>
            <a:ext cx="7162800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83663" marR="0" algn="just">
              <a:lnSpc>
                <a:spcPts val="5362"/>
              </a:lnSpc>
              <a:spcBef>
                <a:spcPts val="0"/>
              </a:spcBef>
              <a:spcAft>
                <a:spcPts val="0"/>
              </a:spcAft>
            </a:pPr>
            <a:r>
              <a:rPr sz="4800" smtClean="0">
                <a:solidFill>
                  <a:srgbClr val="002060"/>
                </a:solidFill>
                <a:latin typeface="+mj-lt"/>
                <a:cs typeface="SEUTMN+Helvetica"/>
              </a:rPr>
              <a:t>Polymorphism</a:t>
            </a:r>
          </a:p>
          <a:p>
            <a:pPr marL="0" marR="0" algn="just">
              <a:lnSpc>
                <a:spcPts val="6251"/>
              </a:lnSpc>
              <a:spcBef>
                <a:spcPts val="924"/>
              </a:spcBef>
              <a:spcAft>
                <a:spcPts val="0"/>
              </a:spcAft>
            </a:pPr>
            <a:r>
              <a:rPr lang="en-US" sz="4400" dirty="0" smtClean="0">
                <a:solidFill>
                  <a:srgbClr val="2E75B6"/>
                </a:solidFill>
                <a:latin typeface="+mj-lt"/>
                <a:cs typeface="QCCWQT+CalibriLight"/>
              </a:rPr>
              <a:t>  </a:t>
            </a:r>
            <a:r>
              <a:rPr sz="4400" smtClean="0">
                <a:solidFill>
                  <a:srgbClr val="2E75B6"/>
                </a:solidFill>
                <a:latin typeface="+mj-lt"/>
                <a:cs typeface="QCCWQT+CalibriLight"/>
              </a:rPr>
              <a:t>Object</a:t>
            </a:r>
            <a:r>
              <a:rPr lang="en-US" sz="4400" dirty="0" smtClean="0">
                <a:solidFill>
                  <a:srgbClr val="2E75B6"/>
                </a:solidFill>
                <a:latin typeface="+mj-lt"/>
                <a:cs typeface="QCCWQT+CalibriLight"/>
              </a:rPr>
              <a:t>-</a:t>
            </a:r>
            <a:r>
              <a:rPr lang="en-US" sz="4400" dirty="0" smtClean="0">
                <a:solidFill>
                  <a:srgbClr val="2E75B6"/>
                </a:solidFill>
                <a:latin typeface="+mj-lt"/>
                <a:cs typeface="QCCWQT+CalibriLight"/>
              </a:rPr>
              <a:t>Oriented Programming</a:t>
            </a:r>
            <a:endParaRPr sz="4400" spc="-18" dirty="0">
              <a:solidFill>
                <a:srgbClr val="2D75B6"/>
              </a:solidFill>
              <a:latin typeface="+mj-lt"/>
              <a:cs typeface="QCCWQT+CalibriLigh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2850" y="984250"/>
            <a:ext cx="8943975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object 3"/>
          <p:cNvSpPr txBox="1"/>
          <p:nvPr/>
        </p:nvSpPr>
        <p:spPr>
          <a:xfrm>
            <a:off x="927892" y="620754"/>
            <a:ext cx="8097023" cy="91448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 marL="318" marR="0">
              <a:lnSpc>
                <a:spcPts val="2913"/>
              </a:lnSpc>
              <a:spcBef>
                <a:spcPts val="959"/>
              </a:spcBef>
              <a:spcAft>
                <a:spcPts val="0"/>
              </a:spcAft>
            </a:pPr>
            <a:r>
              <a:rPr lang="en-US" sz="3600" dirty="0" smtClean="0">
                <a:solidFill>
                  <a:srgbClr val="FF0000"/>
                </a:solidFill>
                <a:latin typeface="Calibri"/>
                <a:cs typeface="Calibri"/>
              </a:rPr>
              <a:t>Compile Time </a:t>
            </a:r>
            <a:r>
              <a:rPr lang="en-US" sz="3600" dirty="0" smtClean="0">
                <a:solidFill>
                  <a:srgbClr val="000000"/>
                </a:solidFill>
                <a:latin typeface="Calibri"/>
                <a:cs typeface="Calibri"/>
              </a:rPr>
              <a:t>Binding or </a:t>
            </a:r>
            <a:r>
              <a:rPr lang="en-US" sz="3600" dirty="0" smtClean="0">
                <a:solidFill>
                  <a:srgbClr val="FF0000"/>
                </a:solidFill>
                <a:latin typeface="Calibri"/>
                <a:cs typeface="Calibri"/>
              </a:rPr>
              <a:t>Static</a:t>
            </a:r>
            <a:r>
              <a:rPr lang="en-US" sz="3600" dirty="0" smtClean="0">
                <a:solidFill>
                  <a:srgbClr val="000000"/>
                </a:solidFill>
                <a:latin typeface="Calibri"/>
                <a:cs typeface="Calibri"/>
              </a:rPr>
              <a:t> Binding</a:t>
            </a:r>
          </a:p>
          <a:p>
            <a:pPr marL="318" marR="0">
              <a:lnSpc>
                <a:spcPts val="2913"/>
              </a:lnSpc>
              <a:spcBef>
                <a:spcPts val="959"/>
              </a:spcBef>
              <a:spcAft>
                <a:spcPts val="0"/>
              </a:spcAft>
            </a:pPr>
            <a:endParaRPr sz="36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98650" y="5708650"/>
            <a:ext cx="9448800" cy="923330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One of the key features of </a:t>
            </a:r>
            <a:r>
              <a:rPr lang="en-US" b="1" dirty="0" smtClean="0"/>
              <a:t>class inheritance </a:t>
            </a:r>
            <a:r>
              <a:rPr lang="en-US" dirty="0" smtClean="0"/>
              <a:t>is that a pointer to a derived class is </a:t>
            </a:r>
            <a:r>
              <a:rPr lang="en-US" b="1" dirty="0" smtClean="0"/>
              <a:t>type-compatible</a:t>
            </a:r>
            <a:r>
              <a:rPr lang="en-US" dirty="0" smtClean="0"/>
              <a:t> with a pointer to its base class. </a:t>
            </a:r>
            <a:r>
              <a:rPr lang="en-US" b="1" i="1" dirty="0" smtClean="0"/>
              <a:t>Polymorphism</a:t>
            </a:r>
            <a:r>
              <a:rPr lang="en-US" dirty="0" smtClean="0"/>
              <a:t> is the art of taking advantage of this simple but powerful and versatile feature.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1257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5" name="Picture 3" descr="untitled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01495" y="57044"/>
            <a:ext cx="6027493" cy="3975205"/>
          </a:xfrm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05476" name="Picture 4" descr="untitl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6165850" y="2660650"/>
            <a:ext cx="5839883" cy="4021614"/>
          </a:xfrm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91190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517650" y="1060450"/>
            <a:ext cx="7848600" cy="4739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word “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polymorphism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means that the one and same class may show many (“poly”)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forms (“</a:t>
            </a:r>
            <a:r>
              <a:rPr kumimoji="0" 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morphs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”) not defined by the class itself, but 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 its subclasses.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Another definition says that polymorphism is 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ability to realize class behavior in multiple ways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</a:t>
            </a:r>
            <a:r>
              <a:rPr kumimoji="0" lang="en-US" sz="2800" b="0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understand the true nature of the phenomena,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believe that an example will work better.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7049" y="146050"/>
            <a:ext cx="4829791" cy="26670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462" y="2813050"/>
            <a:ext cx="6496396" cy="20574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858" y="4915916"/>
            <a:ext cx="5292165" cy="16002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66050" y="146050"/>
            <a:ext cx="3067050" cy="435292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6394450" y="5099050"/>
            <a:ext cx="51816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Output:</a:t>
            </a:r>
          </a:p>
          <a:p>
            <a:r>
              <a:rPr lang="en-US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Kitty </a:t>
            </a:r>
            <a:r>
              <a:rPr lang="en-US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the Cat says: Meow! Meow!</a:t>
            </a:r>
          </a:p>
          <a:p>
            <a:r>
              <a:rPr lang="en-US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Kitty the Cat says: Meow! Meow!</a:t>
            </a:r>
          </a:p>
          <a:p>
            <a:r>
              <a:rPr lang="en-US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Doggie the Dog says: Woof! Woof!</a:t>
            </a:r>
          </a:p>
          <a:p>
            <a:r>
              <a:rPr lang="en-US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Doggie the Dog says: Woof! Woof!</a:t>
            </a:r>
            <a:endParaRPr lang="en-US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 b="4918"/>
          <a:stretch>
            <a:fillRect/>
          </a:stretch>
        </p:blipFill>
        <p:spPr bwMode="auto">
          <a:xfrm>
            <a:off x="374650" y="679450"/>
            <a:ext cx="4806302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3850" y="984250"/>
            <a:ext cx="4490113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8909050" y="1898650"/>
            <a:ext cx="26670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Output: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20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10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679450" y="5556250"/>
            <a:ext cx="9381799" cy="95410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Member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area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 could have been accessed with the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pointers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 to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Polygon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 if area were a member of Polygon </a:t>
            </a:r>
          </a:p>
          <a:p>
            <a:pPr marL="0" marR="0" lvl="0" indent="0" algn="just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instead of a member of its derived classes.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 B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ut the problem is that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Rectangle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 and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Triangle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 implement different </a:t>
            </a:r>
          </a:p>
          <a:p>
            <a:pPr marL="0" marR="0" lvl="0" indent="0" algn="just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cs typeface="Arial" pitchFamily="34" charset="0"/>
              </a:rPr>
              <a:t>versions of area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Arial" pitchFamily="34" charset="0"/>
              </a:rPr>
              <a:t>, therefore there is not a single common version that could be implemented in the base class.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70850" y="6590040"/>
            <a:ext cx="40386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Ref: http</a:t>
            </a:r>
            <a:r>
              <a:rPr lang="en-US" sz="1100" dirty="0" smtClean="0">
                <a:solidFill>
                  <a:srgbClr val="FF0000"/>
                </a:solidFill>
              </a:rPr>
              <a:t>://www.cplusplus.com/doc/tutorial/polymorphism/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61050" y="3422650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 what we need?</a:t>
            </a:r>
          </a:p>
          <a:p>
            <a:r>
              <a:rPr lang="en-US" dirty="0" smtClean="0"/>
              <a:t>We need some kind of MAGIC, through which area() of </a:t>
            </a:r>
            <a:r>
              <a:rPr lang="en-US" b="1" dirty="0" smtClean="0"/>
              <a:t>Rectangle</a:t>
            </a:r>
            <a:r>
              <a:rPr lang="en-US" dirty="0" smtClean="0"/>
              <a:t> or </a:t>
            </a:r>
            <a:r>
              <a:rPr lang="en-US" b="1" dirty="0" smtClean="0"/>
              <a:t>Triangle</a:t>
            </a:r>
            <a:r>
              <a:rPr lang="en-US" dirty="0" smtClean="0"/>
              <a:t> can be called having just </a:t>
            </a:r>
            <a:r>
              <a:rPr lang="en-US" dirty="0" smtClean="0">
                <a:solidFill>
                  <a:srgbClr val="FF0000"/>
                </a:solidFill>
              </a:rPr>
              <a:t>pointers of the base class.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4650" y="222250"/>
            <a:ext cx="4724400" cy="52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250" y="1212850"/>
            <a:ext cx="4002107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984250" y="1746250"/>
            <a:ext cx="23622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9823450" y="2584450"/>
            <a:ext cx="136525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Output: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20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0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013450" y="5099050"/>
            <a:ext cx="4191000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What will happen if we remove virtual keyword in Polygon class?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Do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 you remember slicing problem?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2250" y="5632450"/>
            <a:ext cx="48006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A class that declares or inherits a virtual function is called a </a:t>
            </a:r>
            <a:r>
              <a:rPr lang="en-US" sz="2000" i="1" dirty="0" smtClean="0">
                <a:solidFill>
                  <a:srgbClr val="FF0000"/>
                </a:solidFill>
              </a:rPr>
              <a:t>polymorphic</a:t>
            </a:r>
            <a:r>
              <a:rPr lang="en-US" sz="2000" i="1" dirty="0" smtClean="0"/>
              <a:t> class</a:t>
            </a:r>
            <a:r>
              <a:rPr lang="en-US" sz="2000" dirty="0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5650" y="527050"/>
            <a:ext cx="8097023" cy="535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3200" b="1" baseline="43" smtClean="0">
                <a:solidFill>
                  <a:srgbClr val="002060"/>
                </a:solidFill>
                <a:latin typeface="Arial"/>
                <a:cs typeface="Arial"/>
              </a:rPr>
              <a:t>Polymorphism</a:t>
            </a:r>
            <a:endParaRPr sz="3600" b="1" baseline="43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5317" y="1815828"/>
            <a:ext cx="8514334" cy="189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+mj-lt"/>
                <a:cs typeface="Arial"/>
              </a:rPr>
              <a:t>•</a:t>
            </a:r>
            <a:r>
              <a:rPr sz="2000" spc="359" dirty="0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Same</a:t>
            </a:r>
            <a:r>
              <a:rPr sz="2000" spc="-23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base type</a:t>
            </a:r>
            <a:r>
              <a:rPr sz="2000" spc="-1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behavior will be changed according </a:t>
            </a:r>
            <a:r>
              <a:rPr sz="2000" spc="-23" dirty="0">
                <a:solidFill>
                  <a:srgbClr val="000000"/>
                </a:solidFill>
                <a:latin typeface="+mj-lt"/>
                <a:cs typeface="Calibri"/>
              </a:rPr>
              <a:t>to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 object of derived.</a:t>
            </a:r>
          </a:p>
          <a:p>
            <a:pPr marL="0" marR="0">
              <a:lnSpc>
                <a:spcPts val="2500"/>
              </a:lnSpc>
              <a:spcBef>
                <a:spcPts val="595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+mj-lt"/>
                <a:cs typeface="Arial"/>
              </a:rPr>
              <a:t>•</a:t>
            </a:r>
            <a:r>
              <a:rPr sz="2000" spc="359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Calibri"/>
              </a:rPr>
              <a:t>U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Calibri"/>
              </a:rPr>
              <a:t>se o</a:t>
            </a:r>
            <a:r>
              <a:rPr sz="2000" smtClean="0">
                <a:solidFill>
                  <a:srgbClr val="000000"/>
                </a:solidFill>
                <a:latin typeface="+mj-lt"/>
                <a:cs typeface="Calibri"/>
              </a:rPr>
              <a:t>bjects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without</a:t>
            </a:r>
            <a:r>
              <a:rPr sz="2000" spc="-12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knowing their types</a:t>
            </a:r>
            <a:r>
              <a:rPr sz="2000" spc="-20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spc="-17" dirty="0">
                <a:solidFill>
                  <a:srgbClr val="000000"/>
                </a:solidFill>
                <a:latin typeface="+mj-lt"/>
                <a:cs typeface="Calibri"/>
              </a:rPr>
              <a:t>explicitly.</a:t>
            </a:r>
          </a:p>
          <a:p>
            <a:pPr marL="0" marR="0">
              <a:lnSpc>
                <a:spcPts val="2500"/>
              </a:lnSpc>
              <a:spcBef>
                <a:spcPts val="583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+mj-lt"/>
                <a:cs typeface="Arial"/>
              </a:rPr>
              <a:t>•</a:t>
            </a:r>
            <a:r>
              <a:rPr sz="2000" spc="359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sz="2000" smtClean="0">
                <a:solidFill>
                  <a:srgbClr val="000000"/>
                </a:solidFill>
                <a:latin typeface="+mj-lt"/>
                <a:cs typeface="Calibri"/>
              </a:rPr>
              <a:t>Extend</a:t>
            </a:r>
            <a:r>
              <a:rPr sz="2000" spc="-21" smtClean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the </a:t>
            </a:r>
            <a:r>
              <a:rPr sz="2000" spc="-14" dirty="0">
                <a:solidFill>
                  <a:srgbClr val="000000"/>
                </a:solidFill>
                <a:latin typeface="+mj-lt"/>
                <a:cs typeface="Calibri"/>
              </a:rPr>
              <a:t>program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 with</a:t>
            </a:r>
            <a:r>
              <a:rPr sz="2000" spc="-12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spc="-11" dirty="0">
                <a:solidFill>
                  <a:srgbClr val="000000"/>
                </a:solidFill>
                <a:latin typeface="+mj-lt"/>
                <a:cs typeface="Calibri"/>
              </a:rPr>
              <a:t>more</a:t>
            </a:r>
            <a:r>
              <a:rPr sz="2000" spc="12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functionalities</a:t>
            </a:r>
            <a:r>
              <a:rPr sz="2000" spc="-12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through derive</a:t>
            </a:r>
            <a:r>
              <a:rPr sz="2000" spc="18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classes.</a:t>
            </a:r>
          </a:p>
          <a:p>
            <a:pPr marL="0" marR="0">
              <a:lnSpc>
                <a:spcPts val="2500"/>
              </a:lnSpc>
              <a:spcBef>
                <a:spcPts val="59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+mj-lt"/>
                <a:cs typeface="Arial"/>
              </a:rPr>
              <a:t>•</a:t>
            </a:r>
            <a:r>
              <a:rPr sz="2000" spc="359" dirty="0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Need</a:t>
            </a:r>
            <a:r>
              <a:rPr sz="2000" spc="-18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one single </a:t>
            </a:r>
            <a:r>
              <a:rPr sz="2000" spc="-20" dirty="0">
                <a:solidFill>
                  <a:srgbClr val="000000"/>
                </a:solidFill>
                <a:latin typeface="+mj-lt"/>
                <a:cs typeface="Calibri"/>
              </a:rPr>
              <a:t>array</a:t>
            </a:r>
            <a:r>
              <a:rPr sz="2000" spc="11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of base class</a:t>
            </a:r>
            <a:r>
              <a:rPr sz="2000" spc="-15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spc="-23" dirty="0">
                <a:solidFill>
                  <a:srgbClr val="000000"/>
                </a:solidFill>
                <a:latin typeface="+mj-lt"/>
                <a:cs typeface="Calibri"/>
              </a:rPr>
              <a:t>to</a:t>
            </a:r>
            <a:r>
              <a:rPr sz="2000" spc="15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collect</a:t>
            </a:r>
            <a:r>
              <a:rPr sz="2000" spc="-25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all </a:t>
            </a:r>
            <a:r>
              <a:rPr sz="2000" spc="-17" dirty="0">
                <a:solidFill>
                  <a:srgbClr val="000000"/>
                </a:solidFill>
                <a:latin typeface="+mj-lt"/>
                <a:cs typeface="Calibri"/>
              </a:rPr>
              <a:t>different</a:t>
            </a:r>
            <a:r>
              <a:rPr sz="2000" spc="25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objects</a:t>
            </a:r>
            <a:r>
              <a:rPr sz="2000" spc="-18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>
                <a:solidFill>
                  <a:srgbClr val="000000"/>
                </a:solidFill>
                <a:latin typeface="+mj-lt"/>
                <a:cs typeface="Calibri"/>
              </a:rPr>
              <a:t>of </a:t>
            </a:r>
            <a:r>
              <a:rPr sz="2000" smtClean="0">
                <a:solidFill>
                  <a:srgbClr val="000000"/>
                </a:solidFill>
                <a:latin typeface="+mj-lt"/>
                <a:cs typeface="Calibri"/>
              </a:rPr>
              <a:t>derive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Calibri"/>
              </a:rPr>
              <a:t>d</a:t>
            </a:r>
            <a:r>
              <a:rPr sz="2000" smtClean="0">
                <a:solidFill>
                  <a:srgbClr val="000000"/>
                </a:solidFill>
                <a:latin typeface="+mj-lt"/>
                <a:cs typeface="Calibri"/>
              </a:rPr>
              <a:t>.</a:t>
            </a:r>
            <a:endParaRPr sz="2000" dirty="0">
              <a:solidFill>
                <a:srgbClr val="000000"/>
              </a:solidFill>
              <a:latin typeface="+mj-lt"/>
              <a:cs typeface="Calibri"/>
            </a:endParaRPr>
          </a:p>
          <a:p>
            <a:pPr marL="0" marR="0">
              <a:lnSpc>
                <a:spcPts val="2500"/>
              </a:lnSpc>
              <a:spcBef>
                <a:spcPts val="59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+mj-lt"/>
                <a:cs typeface="Arial"/>
              </a:rPr>
              <a:t>•</a:t>
            </a:r>
            <a:r>
              <a:rPr sz="2000" spc="359" dirty="0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Base</a:t>
            </a:r>
            <a:r>
              <a:rPr sz="2000" spc="-18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class</a:t>
            </a:r>
            <a:r>
              <a:rPr sz="2000" spc="-18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+mj-lt"/>
                <a:cs typeface="Calibri"/>
              </a:rPr>
              <a:t>represent</a:t>
            </a:r>
            <a:r>
              <a:rPr sz="2000" spc="18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a</a:t>
            </a:r>
            <a:r>
              <a:rPr sz="2000" spc="-11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+mj-lt"/>
                <a:cs typeface="Calibri"/>
              </a:rPr>
              <a:t>larger</a:t>
            </a:r>
            <a:r>
              <a:rPr sz="2000" spc="18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set </a:t>
            </a:r>
            <a:r>
              <a:rPr sz="2000" spc="-25" dirty="0">
                <a:solidFill>
                  <a:srgbClr val="000000"/>
                </a:solidFill>
                <a:latin typeface="+mj-lt"/>
                <a:cs typeface="Calibri"/>
              </a:rPr>
              <a:t>for</a:t>
            </a:r>
            <a:r>
              <a:rPr sz="2000" spc="25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all</a:t>
            </a:r>
            <a:r>
              <a:rPr sz="2000" spc="-12" dirty="0">
                <a:solidFill>
                  <a:srgbClr val="00000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+mj-lt"/>
                <a:cs typeface="Calibri"/>
              </a:rPr>
              <a:t>objects (base and derived)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06355" y="4005816"/>
            <a:ext cx="1353591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Animal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56250" y="4066777"/>
            <a:ext cx="929386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Shape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3916" y="4103352"/>
            <a:ext cx="1385143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Vehicle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16695" y="5555724"/>
            <a:ext cx="3330586" cy="793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-14" dirty="0">
                <a:solidFill>
                  <a:srgbClr val="FFFFFF"/>
                </a:solidFill>
                <a:latin typeface="Calibri"/>
                <a:cs typeface="Calibri"/>
              </a:rPr>
              <a:t>Snake</a:t>
            </a:r>
            <a:r>
              <a:rPr sz="2400" b="1" spc="353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Lion</a:t>
            </a:r>
            <a:r>
              <a:rPr sz="2400" b="1" spc="397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Dog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79391" y="5618208"/>
            <a:ext cx="4362367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Circle</a:t>
            </a:r>
            <a:r>
              <a:rPr sz="2400" b="1" spc="269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Rectangle</a:t>
            </a:r>
            <a:r>
              <a:rPr sz="2400" b="1" spc="29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7" dirty="0">
                <a:solidFill>
                  <a:srgbClr val="FFFFFF"/>
                </a:solidFill>
                <a:latin typeface="Calibri"/>
                <a:cs typeface="Calibri"/>
              </a:rPr>
              <a:t>Triangle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8179" y="5642592"/>
            <a:ext cx="1003286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Ship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01951" y="5642592"/>
            <a:ext cx="877357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Car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62655" y="5642592"/>
            <a:ext cx="1161752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Plane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9850" y="450850"/>
            <a:ext cx="6477000" cy="707886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2060"/>
                </a:solidFill>
              </a:rPr>
              <a:t>Polymorphism is a feature of </a:t>
            </a:r>
            <a:r>
              <a:rPr lang="en-US" sz="2000" b="1" dirty="0" smtClean="0">
                <a:solidFill>
                  <a:srgbClr val="002060"/>
                </a:solidFill>
              </a:rPr>
              <a:t>OOP</a:t>
            </a:r>
            <a:r>
              <a:rPr lang="en-US" sz="2000" dirty="0" smtClean="0">
                <a:solidFill>
                  <a:srgbClr val="002060"/>
                </a:solidFill>
              </a:rPr>
              <a:t> that allows the object to behave differently in different </a:t>
            </a:r>
            <a:r>
              <a:rPr lang="en-US" sz="2000" dirty="0" smtClean="0">
                <a:solidFill>
                  <a:srgbClr val="002060"/>
                </a:solidFill>
              </a:rPr>
              <a:t>conditions.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8050" y="4489450"/>
            <a:ext cx="8771896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Rectangle 19"/>
          <p:cNvSpPr/>
          <p:nvPr/>
        </p:nvSpPr>
        <p:spPr>
          <a:xfrm>
            <a:off x="984250" y="1434420"/>
            <a:ext cx="7330084" cy="464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8" marR="0">
              <a:lnSpc>
                <a:spcPts val="2913"/>
              </a:lnSpc>
              <a:spcBef>
                <a:spcPts val="959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US" sz="2800" spc="12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8" dirty="0" smtClean="0">
                <a:solidFill>
                  <a:srgbClr val="000000"/>
                </a:solidFill>
                <a:cs typeface="Calibri"/>
              </a:rPr>
              <a:t>Poly</a:t>
            </a:r>
            <a:r>
              <a:rPr lang="en-US" sz="2400" b="1" dirty="0" smtClean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means</a:t>
            </a:r>
            <a:r>
              <a:rPr lang="en-US" sz="2400" spc="10" dirty="0" smtClean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“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Many”</a:t>
            </a:r>
            <a:r>
              <a:rPr lang="en-US" sz="2400" spc="1302" dirty="0" smtClean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cs typeface="Calibri"/>
              </a:rPr>
              <a:t>Morphism</a:t>
            </a:r>
            <a:r>
              <a:rPr lang="en-US" sz="2400" b="1" dirty="0" smtClean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mean</a:t>
            </a:r>
            <a:r>
              <a:rPr lang="en-US" sz="2400" spc="10" dirty="0" smtClean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“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Forms/Shapes”</a:t>
            </a:r>
            <a:endParaRPr lang="en-US" sz="2800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7892" y="703599"/>
            <a:ext cx="8971758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000" b="1" baseline="43" smtClean="0">
                <a:solidFill>
                  <a:srgbClr val="002060"/>
                </a:solidFill>
                <a:latin typeface="Arial"/>
                <a:cs typeface="Arial"/>
              </a:rPr>
              <a:t>Polymorphism</a:t>
            </a:r>
            <a:endParaRPr sz="4000" b="1" baseline="43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8079" y="721596"/>
            <a:ext cx="641895" cy="3091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6" marR="0">
              <a:lnSpc>
                <a:spcPts val="2500"/>
              </a:lnSpc>
              <a:spcBef>
                <a:spcPts val="6763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8" marR="0">
              <a:lnSpc>
                <a:spcPts val="2500"/>
              </a:lnSpc>
              <a:spcBef>
                <a:spcPts val="642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4753" y="1549496"/>
            <a:ext cx="11059883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One object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show</a:t>
            </a:r>
            <a:r>
              <a:rPr sz="28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different</a:t>
            </a:r>
            <a:r>
              <a:rPr sz="28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>
                <a:solidFill>
                  <a:srgbClr val="000000"/>
                </a:solidFill>
                <a:latin typeface="Calibri"/>
                <a:cs typeface="Calibri"/>
              </a:rPr>
              <a:t>behaviors</a:t>
            </a:r>
            <a:r>
              <a:rPr sz="2800" spc="-12" smtClean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800" spc="-12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898" y="2850429"/>
            <a:ext cx="2153816" cy="677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21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main(){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42021" y="3200873"/>
            <a:ext cx="7727680" cy="1029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*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a1 =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new A(2);</a:t>
            </a:r>
            <a:r>
              <a:rPr sz="2100" spc="-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48235"/>
                </a:solidFill>
                <a:latin typeface="Consolas"/>
                <a:cs typeface="Consolas"/>
              </a:rPr>
              <a:t>//A’s</a:t>
            </a:r>
            <a:r>
              <a:rPr sz="2100" spc="-14" dirty="0">
                <a:solidFill>
                  <a:srgbClr val="54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48235"/>
                </a:solidFill>
                <a:latin typeface="Consolas"/>
                <a:cs typeface="Consolas"/>
              </a:rPr>
              <a:t>pointer</a:t>
            </a:r>
            <a:r>
              <a:rPr sz="2100" spc="-14" dirty="0">
                <a:solidFill>
                  <a:srgbClr val="54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to</a:t>
            </a:r>
            <a:r>
              <a:rPr sz="21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A’s</a:t>
            </a:r>
            <a:r>
              <a:rPr sz="2100" spc="-23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2188"/>
              </a:lnSpc>
              <a:spcBef>
                <a:spcPts val="583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a1-&gt;print();</a:t>
            </a:r>
            <a:r>
              <a:rPr sz="2100" spc="-4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1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21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90355" y="3226815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88068" y="3226815"/>
            <a:ext cx="722338" cy="1557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a=2</a:t>
            </a:r>
          </a:p>
          <a:p>
            <a:pPr marL="25831" marR="0">
              <a:lnSpc>
                <a:spcPts val="1875"/>
              </a:lnSpc>
              <a:spcBef>
                <a:spcPts val="5815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34704" y="4193107"/>
            <a:ext cx="571691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800" b="1" smtClean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 sz="1800" b="1" dirty="0">
              <a:solidFill>
                <a:srgbClr val="001F5F"/>
              </a:solidFill>
              <a:latin typeface="Calibri"/>
              <a:cs typeface="Calibri"/>
            </a:endParaRPr>
          </a:p>
          <a:p>
            <a:pPr marL="0" marR="0">
              <a:lnSpc>
                <a:spcPts val="1875"/>
              </a:lnSpc>
              <a:spcBef>
                <a:spcPts val="4843"/>
              </a:spcBef>
              <a:spcAft>
                <a:spcPts val="0"/>
              </a:spcAft>
            </a:pPr>
            <a:endParaRPr sz="1800" b="1" dirty="0">
              <a:solidFill>
                <a:srgbClr val="001F5F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10444" y="4196079"/>
            <a:ext cx="6855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42021" y="4255672"/>
            <a:ext cx="8233436" cy="1029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*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a2 =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new B(3,</a:t>
            </a:r>
            <a:r>
              <a:rPr sz="2100" spc="-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4);</a:t>
            </a:r>
            <a:r>
              <a:rPr sz="2100" spc="-34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100" spc="-2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1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to B’s</a:t>
            </a:r>
            <a:r>
              <a:rPr sz="21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2188"/>
              </a:lnSpc>
              <a:spcBef>
                <a:spcPts val="583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a2-&gt;print();</a:t>
            </a:r>
            <a:r>
              <a:rPr sz="2100" spc="-4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FF0000"/>
                </a:solidFill>
                <a:latin typeface="Consolas"/>
                <a:cs typeface="Consolas"/>
              </a:rPr>
              <a:t>//Should</a:t>
            </a:r>
            <a:r>
              <a:rPr sz="2100" spc="-2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FF0000"/>
                </a:solidFill>
                <a:latin typeface="Consolas"/>
                <a:cs typeface="Consolas"/>
              </a:rPr>
              <a:t>call B’s</a:t>
            </a:r>
            <a:r>
              <a:rPr sz="2100" spc="-14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700183" y="5051043"/>
            <a:ext cx="1939862" cy="591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c=7</a:t>
            </a:r>
            <a:r>
              <a:rPr sz="1800" b="1" spc="14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b=6</a:t>
            </a:r>
            <a:r>
              <a:rPr sz="1800" b="1" spc="227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42021" y="5310203"/>
            <a:ext cx="873489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*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a3 =</a:t>
            </a:r>
            <a:r>
              <a:rPr sz="21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new C(5,</a:t>
            </a:r>
            <a:r>
              <a:rPr sz="2100" spc="-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6, 7);</a:t>
            </a:r>
            <a:r>
              <a:rPr sz="21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1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1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538235"/>
                </a:solidFill>
                <a:latin typeface="Consolas"/>
                <a:cs typeface="Consolas"/>
              </a:rPr>
              <a:t>to</a:t>
            </a:r>
            <a:r>
              <a:rPr sz="21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100">
                <a:solidFill>
                  <a:srgbClr val="538235"/>
                </a:solidFill>
                <a:latin typeface="Consolas"/>
                <a:cs typeface="Consolas"/>
              </a:rPr>
              <a:t>C’s</a:t>
            </a:r>
            <a:r>
              <a:rPr sz="2100" spc="-23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lang="en-US" sz="2100" spc="-23" dirty="0" err="1" smtClean="0">
                <a:solidFill>
                  <a:srgbClr val="538235"/>
                </a:solidFill>
                <a:latin typeface="Consolas"/>
                <a:cs typeface="Consolas"/>
              </a:rPr>
              <a:t>obj</a:t>
            </a:r>
            <a:r>
              <a:rPr sz="2100" smtClean="0">
                <a:solidFill>
                  <a:srgbClr val="538235"/>
                </a:solidFill>
                <a:latin typeface="Consolas"/>
                <a:cs typeface="Consolas"/>
              </a:rPr>
              <a:t>ect</a:t>
            </a:r>
            <a:endParaRPr sz="2100" dirty="0">
              <a:solidFill>
                <a:srgbClr val="538235"/>
              </a:solidFill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2021" y="5662248"/>
            <a:ext cx="6047549" cy="677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Consolas"/>
                <a:cs typeface="Consolas"/>
              </a:rPr>
              <a:t>a3-&gt;print();</a:t>
            </a:r>
            <a:r>
              <a:rPr sz="2100" spc="-4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FF0000"/>
                </a:solidFill>
                <a:latin typeface="Consolas"/>
                <a:cs typeface="Consolas"/>
              </a:rPr>
              <a:t>//Should</a:t>
            </a:r>
            <a:r>
              <a:rPr sz="2100" spc="-2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FF0000"/>
                </a:solidFill>
                <a:latin typeface="Consolas"/>
                <a:cs typeface="Consolas"/>
              </a:rPr>
              <a:t>call</a:t>
            </a:r>
            <a:r>
              <a:rPr sz="2100" spc="-12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FF0000"/>
                </a:solidFill>
                <a:latin typeface="Consolas"/>
                <a:cs typeface="Consolas"/>
              </a:rPr>
              <a:t>C’s</a:t>
            </a:r>
            <a:r>
              <a:rPr sz="2100" spc="-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1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4872" y="6077263"/>
            <a:ext cx="650533" cy="806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5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2850" y="1136650"/>
            <a:ext cx="279082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7892" y="703599"/>
            <a:ext cx="10578054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Polymorphism</a:t>
            </a:r>
            <a:endParaRPr sz="3600" b="1" baseline="43" dirty="0">
              <a:solidFill>
                <a:srgbClr val="002060"/>
              </a:solidFill>
              <a:latin typeface="Arial"/>
              <a:cs typeface="Arial"/>
            </a:endParaRPr>
          </a:p>
          <a:p>
            <a:pPr marL="224" marR="0">
              <a:lnSpc>
                <a:spcPts val="2500"/>
              </a:lnSpc>
              <a:spcBef>
                <a:spcPts val="10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sz="2400" spc="16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Only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base class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inherited functions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be called through base </a:t>
            </a:r>
            <a:r>
              <a:rPr sz="2400" spc="-36" dirty="0">
                <a:solidFill>
                  <a:srgbClr val="000000"/>
                </a:solidFill>
                <a:latin typeface="Calibri"/>
                <a:cs typeface="Calibri"/>
              </a:rPr>
              <a:t>pointer.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91900" y="973056"/>
            <a:ext cx="641895" cy="3092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5" marR="0">
              <a:lnSpc>
                <a:spcPts val="2500"/>
              </a:lnSpc>
              <a:spcBef>
                <a:spcPts val="67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7" marR="0">
              <a:lnSpc>
                <a:spcPts val="2500"/>
              </a:lnSpc>
              <a:spcBef>
                <a:spcPts val="64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8116" y="1824972"/>
            <a:ext cx="7247856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sz="2400" spc="16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Override base class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function in derived</a:t>
            </a:r>
            <a:r>
              <a:rPr sz="2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classes.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8116" y="2280648"/>
            <a:ext cx="11704719" cy="1559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sz="2400" spc="16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Change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Compile time binding of functions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4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Run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time binding,</a:t>
            </a:r>
          </a:p>
          <a:p>
            <a:pPr marL="457200" marR="0">
              <a:lnSpc>
                <a:spcPts val="2500"/>
              </a:lnSpc>
              <a:spcBef>
                <a:spcPts val="595"/>
              </a:spcBef>
              <a:spcAft>
                <a:spcPts val="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2400" b="1" spc="165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Run</a:t>
            </a:r>
            <a:r>
              <a:rPr sz="2400" b="1" spc="-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time binding:</a:t>
            </a:r>
            <a:r>
              <a:rPr sz="2400" b="1" spc="1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Call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functions according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object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type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pointer</a:t>
            </a:r>
            <a:r>
              <a:rPr sz="24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type.</a:t>
            </a:r>
          </a:p>
          <a:p>
            <a:pPr marL="457200" marR="0">
              <a:lnSpc>
                <a:spcPts val="2500"/>
              </a:lnSpc>
              <a:spcBef>
                <a:spcPts val="58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sz="2400" spc="16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Make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functions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virtual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 base class.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42639" y="3459023"/>
            <a:ext cx="9528584" cy="70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200" spc="4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Inherited as virtual</a:t>
            </a:r>
            <a:r>
              <a:rPr sz="22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in all</a:t>
            </a:r>
            <a:r>
              <a:rPr sz="22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derived classes, no need</a:t>
            </a:r>
            <a:r>
              <a:rPr sz="22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8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0000"/>
                </a:solidFill>
                <a:latin typeface="Calibri"/>
                <a:cs typeface="Calibri"/>
              </a:rPr>
              <a:t>make</a:t>
            </a:r>
            <a:r>
              <a:rPr sz="2200" spc="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virtual</a:t>
            </a:r>
            <a:r>
              <a:rPr sz="22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again.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42639" y="3824651"/>
            <a:ext cx="6376170" cy="29495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2060"/>
                </a:solidFill>
                <a:latin typeface="Arial"/>
                <a:cs typeface="Arial"/>
              </a:rPr>
              <a:t>•</a:t>
            </a:r>
            <a:r>
              <a:rPr sz="2200" spc="478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2060"/>
                </a:solidFill>
                <a:latin typeface="Calibri"/>
                <a:cs typeface="Calibri"/>
              </a:rPr>
              <a:t>All</a:t>
            </a:r>
            <a:r>
              <a:rPr sz="2200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060"/>
                </a:solidFill>
                <a:latin typeface="Calibri"/>
                <a:cs typeface="Calibri"/>
              </a:rPr>
              <a:t>virtual</a:t>
            </a:r>
            <a:r>
              <a:rPr sz="2200" spc="-18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060"/>
                </a:solidFill>
                <a:latin typeface="Calibri"/>
                <a:cs typeface="Calibri"/>
              </a:rPr>
              <a:t>functions binding change</a:t>
            </a:r>
            <a:r>
              <a:rPr sz="2200" spc="23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200" spc="-28" dirty="0">
                <a:solidFill>
                  <a:srgbClr val="002060"/>
                </a:solidFill>
                <a:latin typeface="Calibri"/>
                <a:cs typeface="Calibri"/>
              </a:rPr>
              <a:t>to</a:t>
            </a:r>
            <a:r>
              <a:rPr sz="2200" spc="37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060"/>
                </a:solidFill>
                <a:latin typeface="Calibri"/>
                <a:cs typeface="Calibri"/>
              </a:rPr>
              <a:t>runtime.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316" y="4191507"/>
            <a:ext cx="1345266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class A{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42516" y="4502403"/>
            <a:ext cx="1093577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int a;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85316" y="4813299"/>
            <a:ext cx="1222697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85316" y="5122595"/>
            <a:ext cx="4990914" cy="1202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A(int a=0){ this-&gt;a=a;}</a:t>
            </a:r>
          </a:p>
          <a:p>
            <a:pPr marL="457200" marR="0">
              <a:lnSpc>
                <a:spcPts val="1875"/>
              </a:lnSpc>
              <a:spcBef>
                <a:spcPts val="522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virtual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800" spc="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print(){</a:t>
            </a:r>
            <a:r>
              <a:rPr sz="1800" spc="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cout&lt;&lt;a;}</a:t>
            </a:r>
          </a:p>
          <a:p>
            <a:pPr marL="0" marR="0">
              <a:lnSpc>
                <a:spcPts val="1875"/>
              </a:lnSpc>
              <a:spcBef>
                <a:spcPts val="57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5050" y="1365250"/>
            <a:ext cx="6667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8255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703599"/>
            <a:ext cx="9200358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3200" b="1" baseline="43" smtClean="0">
                <a:solidFill>
                  <a:srgbClr val="002060"/>
                </a:solidFill>
                <a:latin typeface="Arial"/>
                <a:cs typeface="Arial"/>
              </a:rPr>
              <a:t>Runtime</a:t>
            </a:r>
            <a:r>
              <a:rPr sz="3200" b="1" spc="-355" baseline="43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200" b="1" baseline="43" dirty="0">
                <a:solidFill>
                  <a:srgbClr val="002060"/>
                </a:solidFill>
                <a:latin typeface="Arial"/>
                <a:cs typeface="Arial"/>
              </a:rPr>
              <a:t>Binding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78895" y="1114788"/>
            <a:ext cx="641895" cy="309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6" marR="0">
              <a:lnSpc>
                <a:spcPts val="2500"/>
              </a:lnSpc>
              <a:spcBef>
                <a:spcPts val="67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8" marR="0">
              <a:lnSpc>
                <a:spcPts val="2500"/>
              </a:lnSpc>
              <a:spcBef>
                <a:spcPts val="64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9455" y="1446707"/>
            <a:ext cx="1551463" cy="1265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class A{</a:t>
            </a:r>
          </a:p>
          <a:p>
            <a:pPr marL="457200" marR="0">
              <a:lnSpc>
                <a:spcPts val="1875"/>
              </a:lnSpc>
              <a:spcBef>
                <a:spcPts val="52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sz="18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a;</a:t>
            </a:r>
          </a:p>
          <a:p>
            <a:pPr marL="0" marR="0">
              <a:lnSpc>
                <a:spcPts val="1875"/>
              </a:lnSpc>
              <a:spcBef>
                <a:spcPts val="106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49875" y="1559635"/>
            <a:ext cx="2599137" cy="89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class B: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public</a:t>
            </a:r>
            <a:r>
              <a:rPr sz="1800" spc="1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A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pPr marL="457200" marR="0">
              <a:lnSpc>
                <a:spcPts val="1875"/>
              </a:lnSpc>
              <a:spcBef>
                <a:spcPts val="52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int b;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49875" y="2243835"/>
            <a:ext cx="1222697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6655" y="2442031"/>
            <a:ext cx="3309733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A(int a=0){ this-&gt;a=a;}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07075" y="2554731"/>
            <a:ext cx="3456690" cy="89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B(int a=0, int b=0):A(a)</a:t>
            </a:r>
          </a:p>
          <a:p>
            <a:pPr marL="0" marR="0">
              <a:lnSpc>
                <a:spcPts val="1875"/>
              </a:lnSpc>
              <a:spcBef>
                <a:spcPts val="52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r>
              <a:rPr sz="18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this-&gt;b</a:t>
            </a:r>
            <a:r>
              <a:rPr sz="1800" spc="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b;}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6655" y="2752928"/>
            <a:ext cx="4465135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virtual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800" spc="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print(){</a:t>
            </a:r>
            <a:r>
              <a:rPr sz="1800" spc="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cout&lt;&lt;a;}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9455" y="3126231"/>
            <a:ext cx="594270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49875" y="3238931"/>
            <a:ext cx="6058777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//override</a:t>
            </a:r>
            <a:r>
              <a:rPr sz="1800" spc="1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1800" spc="1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function</a:t>
            </a:r>
            <a:r>
              <a:rPr sz="1800" spc="23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inherited</a:t>
            </a:r>
            <a:r>
              <a:rPr sz="1800" spc="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from A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07075" y="3549827"/>
            <a:ext cx="432186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virtual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800" spc="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000000"/>
                </a:solidFill>
                <a:latin typeface="Consolas"/>
                <a:cs typeface="Consolas"/>
              </a:rPr>
              <a:t>print</a:t>
            </a:r>
            <a:r>
              <a:rPr sz="1800" smtClean="0">
                <a:solidFill>
                  <a:srgbClr val="000000"/>
                </a:solidFill>
                <a:latin typeface="Consolas"/>
                <a:cs typeface="Consolas"/>
              </a:rPr>
              <a:t>(){</a:t>
            </a:r>
            <a:endParaRPr sz="18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64275" y="3859352"/>
            <a:ext cx="1725438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A::print();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07075" y="4170247"/>
            <a:ext cx="1800866" cy="89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cout&lt;&lt;b;</a:t>
            </a:r>
          </a:p>
          <a:p>
            <a:pPr marL="0" marR="0">
              <a:lnSpc>
                <a:spcPts val="1875"/>
              </a:lnSpc>
              <a:spcBef>
                <a:spcPts val="52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949875" y="4854447"/>
            <a:ext cx="6058777" cy="89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//overload</a:t>
            </a:r>
            <a:r>
              <a:rPr sz="1800" spc="1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1800" spc="1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function</a:t>
            </a:r>
            <a:r>
              <a:rPr sz="1800" spc="23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inherited</a:t>
            </a:r>
            <a:r>
              <a:rPr sz="1800" spc="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from A</a:t>
            </a:r>
          </a:p>
          <a:p>
            <a:pPr marL="457200" marR="0">
              <a:lnSpc>
                <a:spcPts val="1875"/>
              </a:lnSpc>
              <a:spcBef>
                <a:spcPts val="52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void print(int</a:t>
            </a:r>
            <a:r>
              <a:rPr sz="1800" spc="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x){ cout&lt;&lt;x+b;</a:t>
            </a:r>
            <a:r>
              <a:rPr sz="1800" spc="3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07075" y="5474639"/>
            <a:ext cx="489680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void funb()</a:t>
            </a:r>
            <a:r>
              <a:rPr sz="1800" spc="1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{ cout&lt;&lt;“funb”&lt;&lt;endl};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949875" y="5849543"/>
            <a:ext cx="594270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703599"/>
            <a:ext cx="9124158" cy="547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Runtime</a:t>
            </a:r>
            <a:r>
              <a:rPr sz="3600" b="1" spc="-355" baseline="43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Binding</a:t>
            </a:r>
            <a:r>
              <a:rPr lang="en-US" sz="3600" b="1" baseline="43" dirty="0" smtClean="0">
                <a:solidFill>
                  <a:srgbClr val="002060"/>
                </a:solidFill>
                <a:latin typeface="Arial"/>
                <a:cs typeface="Arial"/>
              </a:rPr>
              <a:t>…</a:t>
            </a:r>
            <a:endParaRPr sz="3600" b="1" baseline="43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78895" y="1114788"/>
            <a:ext cx="641895" cy="309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6" marR="0">
              <a:lnSpc>
                <a:spcPts val="2500"/>
              </a:lnSpc>
              <a:spcBef>
                <a:spcPts val="67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8" marR="0">
              <a:lnSpc>
                <a:spcPts val="2500"/>
              </a:lnSpc>
              <a:spcBef>
                <a:spcPts val="64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94892" y="1404187"/>
            <a:ext cx="2599137" cy="835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class C: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public</a:t>
            </a:r>
            <a:r>
              <a:rPr sz="1800" spc="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B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pPr marL="457199" marR="0">
              <a:lnSpc>
                <a:spcPts val="1875"/>
              </a:lnSpc>
              <a:spcBef>
                <a:spcPts val="12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int c;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94892" y="1978659"/>
            <a:ext cx="1222697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52092" y="2233091"/>
            <a:ext cx="5186768" cy="837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C(int a=0, int b=0,</a:t>
            </a:r>
            <a:r>
              <a:rPr sz="1800" spc="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int c=0) :B(a,b)</a:t>
            </a:r>
          </a:p>
          <a:p>
            <a:pPr marL="0" marR="0">
              <a:lnSpc>
                <a:spcPts val="1875"/>
              </a:lnSpc>
              <a:spcBef>
                <a:spcPts val="1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r>
              <a:rPr sz="18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this-&gt;c</a:t>
            </a:r>
            <a:r>
              <a:rPr sz="1800" spc="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c;}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94892" y="2807791"/>
            <a:ext cx="6055882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//override</a:t>
            </a:r>
            <a:r>
              <a:rPr sz="1800" spc="1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1800" spc="1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function</a:t>
            </a:r>
            <a:r>
              <a:rPr sz="1800" spc="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inherited</a:t>
            </a:r>
            <a:r>
              <a:rPr sz="1800" spc="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from</a:t>
            </a:r>
            <a:r>
              <a:rPr sz="1800" spc="-1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B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8336" y="3127831"/>
            <a:ext cx="4322648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800" b="1" spc="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void print</a:t>
            </a:r>
            <a:r>
              <a:rPr sz="1800">
                <a:solidFill>
                  <a:srgbClr val="000000"/>
                </a:solidFill>
                <a:latin typeface="Consolas"/>
                <a:cs typeface="Consolas"/>
              </a:rPr>
              <a:t>()</a:t>
            </a:r>
            <a:r>
              <a:rPr sz="1800" spc="11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smtClean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endParaRPr sz="18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2092" y="3382263"/>
            <a:ext cx="2176912" cy="1093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B::print();</a:t>
            </a:r>
          </a:p>
          <a:p>
            <a:pPr marL="457200" marR="0">
              <a:lnSpc>
                <a:spcPts val="1875"/>
              </a:lnSpc>
              <a:spcBef>
                <a:spcPts val="1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cout&lt;&lt;c;</a:t>
            </a:r>
          </a:p>
          <a:p>
            <a:pPr marL="0" marR="0">
              <a:lnSpc>
                <a:spcPts val="1875"/>
              </a:lnSpc>
              <a:spcBef>
                <a:spcPts val="1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94892" y="4212767"/>
            <a:ext cx="6057459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//overload</a:t>
            </a:r>
            <a:r>
              <a:rPr sz="1800" spc="1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1800" spc="1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function</a:t>
            </a:r>
            <a:r>
              <a:rPr sz="1800" spc="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inherited</a:t>
            </a:r>
            <a:r>
              <a:rPr sz="1800" spc="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from B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52092" y="4468799"/>
            <a:ext cx="3602593" cy="1091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void print(int</a:t>
            </a:r>
            <a:r>
              <a:rPr sz="1800" spc="3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x, int y){</a:t>
            </a:r>
          </a:p>
          <a:p>
            <a:pPr marL="457200" marR="0">
              <a:lnSpc>
                <a:spcPts val="1875"/>
              </a:lnSpc>
              <a:spcBef>
                <a:spcPts val="12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cout&lt;&lt;x+y+c;</a:t>
            </a:r>
          </a:p>
          <a:p>
            <a:pPr marL="0" marR="0">
              <a:lnSpc>
                <a:spcPts val="1875"/>
              </a:lnSpc>
              <a:spcBef>
                <a:spcPts val="1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94892" y="5489955"/>
            <a:ext cx="5715965" cy="901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199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void func(){</a:t>
            </a:r>
            <a:r>
              <a:rPr sz="1800" spc="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cout&lt;&lt;</a:t>
            </a:r>
            <a:r>
              <a:rPr sz="1800" spc="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“func”</a:t>
            </a:r>
            <a:r>
              <a:rPr sz="1800" spc="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&lt;&lt;endl;</a:t>
            </a:r>
            <a:r>
              <a:rPr sz="1800" spc="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}</a:t>
            </a:r>
          </a:p>
          <a:p>
            <a:pPr marL="0" marR="0">
              <a:lnSpc>
                <a:spcPts val="1875"/>
              </a:lnSpc>
              <a:spcBef>
                <a:spcPts val="64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1365250"/>
            <a:ext cx="10209032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8" marR="0">
              <a:lnSpc>
                <a:spcPts val="2913"/>
              </a:lnSpc>
              <a:spcBef>
                <a:spcPts val="697"/>
              </a:spcBef>
              <a:spcAft>
                <a:spcPts val="0"/>
              </a:spcAft>
            </a:pPr>
            <a:r>
              <a:rPr sz="240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Call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 function</a:t>
            </a:r>
            <a:r>
              <a:rPr sz="24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according</a:t>
            </a:r>
            <a:r>
              <a:rPr sz="2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4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 type</a:t>
            </a:r>
            <a:r>
              <a:rPr sz="24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 object</a:t>
            </a:r>
            <a:r>
              <a:rPr sz="24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sz="2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43" dirty="0">
                <a:solidFill>
                  <a:srgbClr val="000000"/>
                </a:solidFill>
                <a:latin typeface="Calibri"/>
                <a:cs typeface="Calibri"/>
              </a:rPr>
              <a:t>pointer.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89435" y="704832"/>
            <a:ext cx="641895" cy="3091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6" marR="0">
              <a:lnSpc>
                <a:spcPts val="2500"/>
              </a:lnSpc>
              <a:spcBef>
                <a:spcPts val="6763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8" marR="0">
              <a:lnSpc>
                <a:spcPts val="2500"/>
              </a:lnSpc>
              <a:spcBef>
                <a:spcPts val="642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8190" y="1812177"/>
            <a:ext cx="2057903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main(){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77224" y="2088387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74935" y="2088387"/>
            <a:ext cx="6855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85287" y="2120132"/>
            <a:ext cx="7391389" cy="953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a1 = new A(2);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A’s object</a:t>
            </a:r>
          </a:p>
          <a:p>
            <a:pPr marL="0" marR="0">
              <a:lnSpc>
                <a:spcPts val="2088"/>
              </a:lnSpc>
              <a:spcBef>
                <a:spcPts val="33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a1-&gt;print();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287" y="3041960"/>
            <a:ext cx="7873441" cy="95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a2 = new B(3,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4);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B’s object</a:t>
            </a:r>
          </a:p>
          <a:p>
            <a:pPr marL="0" marR="0">
              <a:lnSpc>
                <a:spcPts val="2088"/>
              </a:lnSpc>
              <a:spcBef>
                <a:spcPts val="33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called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77224" y="3092627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755047" y="3103371"/>
            <a:ext cx="696506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451592" y="3095827"/>
            <a:ext cx="6855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85287" y="3656342"/>
            <a:ext cx="7389927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a2-&gt;funb();</a:t>
            </a:r>
            <a:r>
              <a:rPr sz="2000" spc="-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a2-&gt;print(3);</a:t>
            </a:r>
            <a:r>
              <a:rPr sz="2000" spc="-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//Compile</a:t>
            </a:r>
            <a:r>
              <a:rPr sz="2000" spc="-31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time</a:t>
            </a:r>
            <a:r>
              <a:rPr sz="2000" spc="-12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Error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85287" y="4263059"/>
            <a:ext cx="8878837" cy="960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a3 = new C(5,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6, 7);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C’s object</a:t>
            </a:r>
            <a:r>
              <a:rPr sz="2000" spc="68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a3</a:t>
            </a:r>
          </a:p>
          <a:p>
            <a:pPr marL="0" marR="0">
              <a:lnSpc>
                <a:spcPts val="2088"/>
              </a:lnSpc>
              <a:spcBef>
                <a:spcPts val="32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a3-&gt;print();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//C’s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called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742931" y="4267631"/>
            <a:ext cx="1941234" cy="5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c=7</a:t>
            </a:r>
            <a:r>
              <a:rPr sz="1800" b="1" spc="14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b=6</a:t>
            </a:r>
            <a:r>
              <a:rPr sz="1800" b="1" spc="228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85287" y="4886125"/>
            <a:ext cx="7712172" cy="953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a3-&gt;funb();</a:t>
            </a:r>
            <a:r>
              <a:rPr sz="2000" spc="-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a3-&gt;print(3);</a:t>
            </a:r>
            <a:r>
              <a:rPr sz="2000" spc="-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//Compile</a:t>
            </a:r>
            <a:r>
              <a:rPr sz="2000" spc="-31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time</a:t>
            </a:r>
            <a:r>
              <a:rPr sz="2000" spc="-12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Error</a:t>
            </a:r>
          </a:p>
          <a:p>
            <a:pPr marL="0" marR="0">
              <a:lnSpc>
                <a:spcPts val="2088"/>
              </a:lnSpc>
              <a:spcBef>
                <a:spcPts val="33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a3-&gt;func();</a:t>
            </a:r>
            <a:r>
              <a:rPr sz="2000" spc="-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a3-&gt;print(3,8);</a:t>
            </a:r>
            <a:r>
              <a:rPr sz="2000" spc="-4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//Compile</a:t>
            </a:r>
            <a:r>
              <a:rPr sz="2000" spc="-4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time Error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8116" y="5558772"/>
            <a:ext cx="624780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0" name="object 3"/>
          <p:cNvSpPr txBox="1"/>
          <p:nvPr/>
        </p:nvSpPr>
        <p:spPr>
          <a:xfrm>
            <a:off x="927892" y="703599"/>
            <a:ext cx="9124158" cy="547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Runtime</a:t>
            </a:r>
            <a:r>
              <a:rPr sz="3600" b="1" spc="-355" baseline="43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Binding</a:t>
            </a:r>
            <a:r>
              <a:rPr lang="en-US" sz="3600" b="1" baseline="43" dirty="0" smtClean="0">
                <a:solidFill>
                  <a:srgbClr val="002060"/>
                </a:solidFill>
                <a:latin typeface="Arial"/>
                <a:cs typeface="Arial"/>
              </a:rPr>
              <a:t>…</a:t>
            </a:r>
            <a:endParaRPr sz="3600" b="1" baseline="43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6985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361420" y="625584"/>
            <a:ext cx="641895" cy="309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4" marR="0">
              <a:lnSpc>
                <a:spcPts val="2500"/>
              </a:lnSpc>
              <a:spcBef>
                <a:spcPts val="67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8" marR="0">
              <a:lnSpc>
                <a:spcPts val="2500"/>
              </a:lnSpc>
              <a:spcBef>
                <a:spcPts val="64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7892" y="1365250"/>
            <a:ext cx="8895558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" marR="0">
              <a:lnSpc>
                <a:spcPts val="2288"/>
              </a:lnSpc>
              <a:spcBef>
                <a:spcPts val="881"/>
              </a:spcBef>
              <a:spcAft>
                <a:spcPts val="0"/>
              </a:spcAft>
            </a:pPr>
            <a:r>
              <a:rPr sz="220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200" spc="48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Call</a:t>
            </a:r>
            <a:r>
              <a:rPr sz="22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function according</a:t>
            </a:r>
            <a:r>
              <a:rPr sz="22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8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type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of object not </a:t>
            </a:r>
            <a:r>
              <a:rPr sz="2200" spc="-34" dirty="0">
                <a:solidFill>
                  <a:srgbClr val="000000"/>
                </a:solidFill>
                <a:latin typeface="Calibri"/>
                <a:cs typeface="Calibri"/>
              </a:rPr>
              <a:t>pointer.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8190" y="1739133"/>
            <a:ext cx="2057903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main(){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5287" y="2046833"/>
            <a:ext cx="8033246" cy="95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b1 = new B(9,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10);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B’s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2088"/>
              </a:lnSpc>
              <a:spcBef>
                <a:spcPts val="33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b1-&gt;print();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62340" y="2077643"/>
            <a:ext cx="58152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b1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46335" y="2080843"/>
            <a:ext cx="1382078" cy="588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b=10</a:t>
            </a:r>
            <a:r>
              <a:rPr sz="1800" b="1" spc="137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287" y="2968916"/>
            <a:ext cx="8676273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b2 = new C(5,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60, 70);</a:t>
            </a:r>
            <a:r>
              <a:rPr sz="2000" spc="-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C’s object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5287" y="3276871"/>
            <a:ext cx="5143575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b2-&gt;print();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//C’s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called.</a:t>
            </a:r>
          </a:p>
          <a:p>
            <a:pPr marL="0" marR="0">
              <a:lnSpc>
                <a:spcPts val="2088"/>
              </a:lnSpc>
              <a:spcBef>
                <a:spcPts val="336"/>
              </a:spcBef>
              <a:spcAft>
                <a:spcPts val="0"/>
              </a:spcAft>
            </a:pP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b2-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&gt;funb();</a:t>
            </a:r>
            <a:r>
              <a:rPr sz="2000" spc="-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b2-&gt;print(3);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63992" y="3309111"/>
            <a:ext cx="582205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b2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34271" y="3313683"/>
            <a:ext cx="1941234" cy="59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c=70</a:t>
            </a:r>
            <a:r>
              <a:rPr sz="1800" b="1" spc="5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b=60</a:t>
            </a:r>
            <a:r>
              <a:rPr sz="1800" b="1" spc="137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85287" y="4198699"/>
            <a:ext cx="7712172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b2-&gt;func();</a:t>
            </a:r>
            <a:r>
              <a:rPr sz="2000" spc="-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b2-&gt;print(3,8);</a:t>
            </a:r>
            <a:r>
              <a:rPr sz="2000" spc="-4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//Compile</a:t>
            </a:r>
            <a:r>
              <a:rPr sz="2000" spc="-4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time Error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85287" y="4812827"/>
            <a:ext cx="9320179" cy="88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b3 = new A(2);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//Error:</a:t>
            </a:r>
            <a:r>
              <a:rPr sz="2000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B’s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pointer</a:t>
            </a:r>
            <a:r>
              <a:rPr sz="2000" spc="-14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to A’s</a:t>
            </a:r>
            <a:r>
              <a:rPr sz="2000" spc="-12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2088"/>
              </a:lnSpc>
              <a:spcBef>
                <a:spcPts val="336"/>
              </a:spcBef>
              <a:spcAft>
                <a:spcPts val="0"/>
              </a:spcAft>
            </a:pPr>
            <a:r>
              <a:rPr sz="20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//Every</a:t>
            </a:r>
            <a:r>
              <a:rPr sz="2000" spc="-37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derived</a:t>
            </a:r>
            <a:r>
              <a:rPr sz="2000" spc="-14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is a base</a:t>
            </a:r>
            <a:r>
              <a:rPr sz="2000" spc="-12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but every</a:t>
            </a:r>
            <a:r>
              <a:rPr sz="2000" spc="-18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base</a:t>
            </a:r>
            <a:r>
              <a:rPr sz="2000" spc="-1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is not a derived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.</a:t>
            </a:r>
          </a:p>
          <a:p>
            <a:pPr marL="0" marR="0">
              <a:lnSpc>
                <a:spcPts val="2088"/>
              </a:lnSpc>
              <a:spcBef>
                <a:spcPts val="324"/>
              </a:spcBef>
              <a:spcAft>
                <a:spcPts val="0"/>
              </a:spcAft>
            </a:pPr>
            <a:r>
              <a:rPr sz="2000" dirty="0">
                <a:solidFill>
                  <a:srgbClr val="001F5F"/>
                </a:solidFill>
                <a:latin typeface="Consolas"/>
                <a:cs typeface="Consolas"/>
              </a:rPr>
              <a:t>//Allowed</a:t>
            </a:r>
            <a:r>
              <a:rPr sz="2000" spc="-43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1F5F"/>
                </a:solidFill>
                <a:latin typeface="Consolas"/>
                <a:cs typeface="Consolas"/>
              </a:rPr>
              <a:t>if explicit</a:t>
            </a:r>
            <a:r>
              <a:rPr sz="2000" spc="-25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1F5F"/>
                </a:solidFill>
                <a:latin typeface="Consolas"/>
                <a:cs typeface="Consolas"/>
              </a:rPr>
              <a:t>cast made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8190" y="5799045"/>
            <a:ext cx="520929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8" name="object 3"/>
          <p:cNvSpPr txBox="1"/>
          <p:nvPr/>
        </p:nvSpPr>
        <p:spPr>
          <a:xfrm>
            <a:off x="927892" y="703599"/>
            <a:ext cx="9124158" cy="547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Runtime</a:t>
            </a:r>
            <a:r>
              <a:rPr sz="3600" b="1" spc="-355" baseline="43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Binding</a:t>
            </a:r>
            <a:r>
              <a:rPr lang="en-US" sz="3600" b="1" baseline="43" dirty="0" smtClean="0">
                <a:solidFill>
                  <a:srgbClr val="002060"/>
                </a:solidFill>
                <a:latin typeface="Arial"/>
                <a:cs typeface="Arial"/>
              </a:rPr>
              <a:t>…</a:t>
            </a:r>
            <a:endParaRPr sz="3600" b="1" baseline="43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2379" y="1422016"/>
            <a:ext cx="2772530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Base class</a:t>
            </a:r>
            <a:r>
              <a:rPr sz="20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11" dirty="0">
                <a:solidFill>
                  <a:srgbClr val="0070C0"/>
                </a:solidFill>
                <a:latin typeface="Calibri"/>
                <a:cs typeface="Calibri"/>
              </a:rPr>
              <a:t>static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 object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59752" y="1434591"/>
            <a:ext cx="30791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Call base class functions</a:t>
            </a:r>
            <a:r>
              <a:rPr sz="1800" spc="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only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2379" y="1851880"/>
            <a:ext cx="3125480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Derived</a:t>
            </a:r>
            <a:r>
              <a:rPr sz="2000" b="1" spc="12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class</a:t>
            </a:r>
            <a:r>
              <a:rPr sz="2000" b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spc="-11" dirty="0">
                <a:solidFill>
                  <a:srgbClr val="EC7C30"/>
                </a:solidFill>
                <a:latin typeface="Calibri"/>
                <a:cs typeface="Calibri"/>
              </a:rPr>
              <a:t>static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 object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59752" y="1864359"/>
            <a:ext cx="5269745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Call derived</a:t>
            </a:r>
            <a:r>
              <a:rPr sz="1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class functions</a:t>
            </a:r>
            <a:r>
              <a:rPr sz="18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&amp; inherited</a:t>
            </a:r>
            <a:r>
              <a:rPr sz="18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functions.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02522" y="2255785"/>
            <a:ext cx="2379767" cy="950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Derived</a:t>
            </a:r>
            <a:r>
              <a:rPr sz="2000" b="1" spc="12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class</a:t>
            </a:r>
            <a:r>
              <a:rPr sz="2000" b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spc="-11" dirty="0">
                <a:solidFill>
                  <a:srgbClr val="EC7C30"/>
                </a:solidFill>
                <a:latin typeface="Calibri"/>
                <a:cs typeface="Calibri"/>
              </a:rPr>
              <a:t>static</a:t>
            </a:r>
          </a:p>
          <a:p>
            <a:pPr marL="0" marR="0">
              <a:lnSpc>
                <a:spcPts val="2088"/>
              </a:lnSpc>
              <a:spcBef>
                <a:spcPts val="310"/>
              </a:spcBef>
              <a:spcAft>
                <a:spcPts val="0"/>
              </a:spcAft>
            </a:pP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object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59752" y="2283383"/>
            <a:ext cx="5194959" cy="855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Call base class functions</a:t>
            </a:r>
            <a:r>
              <a:rPr sz="1800" spc="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23" dirty="0">
                <a:solidFill>
                  <a:srgbClr val="000000"/>
                </a:solidFill>
                <a:latin typeface="Calibri"/>
                <a:cs typeface="Calibri"/>
              </a:rPr>
              <a:t>only.</a:t>
            </a:r>
          </a:p>
          <a:p>
            <a:pPr marL="0" marR="0">
              <a:lnSpc>
                <a:spcPts val="1875"/>
              </a:lnSpc>
              <a:spcBef>
                <a:spcPts val="234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Slicing</a:t>
            </a:r>
            <a:r>
              <a:rPr sz="1800" b="1" spc="-4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Issue</a:t>
            </a:r>
            <a:r>
              <a:rPr sz="1800" b="1" spc="-28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only</a:t>
            </a:r>
            <a:r>
              <a:rPr sz="18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copies</a:t>
            </a:r>
            <a:r>
              <a:rPr sz="1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base </a:t>
            </a:r>
            <a:r>
              <a:rPr sz="1800" spc="-11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18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800" spc="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base object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2379" y="2407980"/>
            <a:ext cx="2772530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Base class</a:t>
            </a:r>
            <a:r>
              <a:rPr sz="20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1" dirty="0">
                <a:solidFill>
                  <a:srgbClr val="006FC0"/>
                </a:solidFill>
                <a:latin typeface="Calibri"/>
                <a:cs typeface="Calibri"/>
              </a:rPr>
              <a:t>static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 object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2379" y="2984186"/>
            <a:ext cx="3125480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Derived</a:t>
            </a:r>
            <a:r>
              <a:rPr sz="2000" b="1" spc="12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class</a:t>
            </a:r>
            <a:r>
              <a:rPr sz="2000" b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spc="-11" dirty="0">
                <a:solidFill>
                  <a:srgbClr val="EC7C30"/>
                </a:solidFill>
                <a:latin typeface="Calibri"/>
                <a:cs typeface="Calibri"/>
              </a:rPr>
              <a:t>static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 object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02522" y="2984186"/>
            <a:ext cx="5821928" cy="269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Base class</a:t>
            </a:r>
            <a:r>
              <a:rPr sz="20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1" dirty="0">
                <a:solidFill>
                  <a:srgbClr val="006FC0"/>
                </a:solidFill>
                <a:latin typeface="Calibri"/>
                <a:cs typeface="Calibri"/>
              </a:rPr>
              <a:t>static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 object</a:t>
            </a:r>
            <a:r>
              <a:rPr sz="2000" b="1" spc="852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Error: Explicit</a:t>
            </a: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cast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2379" y="3429066"/>
            <a:ext cx="3711943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Base class</a:t>
            </a:r>
            <a:r>
              <a:rPr sz="20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pointer</a:t>
            </a:r>
            <a:r>
              <a:rPr sz="2000" b="1" spc="-18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libri"/>
                <a:cs typeface="Calibri"/>
              </a:rPr>
              <a:t>or </a:t>
            </a:r>
            <a:r>
              <a:rPr sz="2000" b="1" spc="-10" dirty="0">
                <a:solidFill>
                  <a:srgbClr val="00B050"/>
                </a:solidFill>
                <a:latin typeface="Calibri"/>
                <a:cs typeface="Calibri"/>
              </a:rPr>
              <a:t>reference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02522" y="3429066"/>
            <a:ext cx="2151276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Base class</a:t>
            </a:r>
            <a:r>
              <a:rPr sz="20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object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59752" y="3441699"/>
            <a:ext cx="30791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Call base class functions</a:t>
            </a:r>
            <a:r>
              <a:rPr sz="1800" spc="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only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59752" y="3824089"/>
            <a:ext cx="4644898" cy="5129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2060"/>
                </a:solidFill>
                <a:latin typeface="Calibri"/>
                <a:cs typeface="Calibri"/>
              </a:rPr>
              <a:t>Call</a:t>
            </a:r>
            <a:r>
              <a:rPr sz="1800" b="1" spc="-2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060"/>
                </a:solidFill>
                <a:latin typeface="Calibri"/>
                <a:cs typeface="Calibri"/>
              </a:rPr>
              <a:t>derived</a:t>
            </a:r>
            <a:r>
              <a:rPr sz="1800" b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060"/>
                </a:solidFill>
                <a:latin typeface="Calibri"/>
                <a:cs typeface="Calibri"/>
              </a:rPr>
              <a:t>class</a:t>
            </a:r>
            <a:r>
              <a:rPr sz="1800" b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060"/>
                </a:solidFill>
                <a:latin typeface="Calibri"/>
                <a:cs typeface="Calibri"/>
              </a:rPr>
              <a:t>overridden</a:t>
            </a:r>
            <a:r>
              <a:rPr sz="1800" b="1" spc="-56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060"/>
                </a:solidFill>
                <a:latin typeface="Calibri"/>
                <a:cs typeface="Calibri"/>
              </a:rPr>
              <a:t>functions</a:t>
            </a:r>
            <a:r>
              <a:rPr sz="1800" b="1" spc="-34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060"/>
                </a:solidFill>
                <a:latin typeface="Calibri"/>
                <a:cs typeface="Calibri"/>
              </a:rPr>
              <a:t>that exist</a:t>
            </a:r>
          </a:p>
          <a:p>
            <a:pPr marL="0" marR="0">
              <a:lnSpc>
                <a:spcPts val="1875"/>
              </a:lnSpc>
              <a:spcBef>
                <a:spcPts val="234"/>
              </a:spcBef>
              <a:spcAft>
                <a:spcPts val="0"/>
              </a:spcAft>
            </a:pPr>
            <a:r>
              <a:rPr sz="1800" b="1" dirty="0">
                <a:solidFill>
                  <a:srgbClr val="002060"/>
                </a:solidFill>
                <a:latin typeface="Calibri"/>
                <a:cs typeface="Calibri"/>
              </a:rPr>
              <a:t>in</a:t>
            </a:r>
            <a:r>
              <a:rPr sz="1800" b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2060"/>
                </a:solidFill>
                <a:latin typeface="Calibri"/>
                <a:cs typeface="Calibri"/>
              </a:rPr>
              <a:t>base</a:t>
            </a:r>
            <a:r>
              <a:rPr sz="1800" b="1" smtClean="0">
                <a:solidFill>
                  <a:srgbClr val="002060"/>
                </a:solidFill>
                <a:latin typeface="Calibri"/>
                <a:cs typeface="Calibri"/>
              </a:rPr>
              <a:t>.</a:t>
            </a:r>
            <a:endParaRPr sz="1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2379" y="3968623"/>
            <a:ext cx="3711943" cy="269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Base class</a:t>
            </a:r>
            <a:r>
              <a:rPr sz="20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pointer</a:t>
            </a:r>
            <a:r>
              <a:rPr sz="2000" b="1" spc="-18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or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reference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02522" y="3968623"/>
            <a:ext cx="2477809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Derived</a:t>
            </a:r>
            <a:r>
              <a:rPr sz="2000" b="1" spc="12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class</a:t>
            </a:r>
            <a:r>
              <a:rPr sz="2000" b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object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2379" y="4486802"/>
            <a:ext cx="6689496" cy="1042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Derived</a:t>
            </a:r>
            <a:r>
              <a:rPr sz="2000" b="1" spc="12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class</a:t>
            </a:r>
            <a:r>
              <a:rPr sz="20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pointer or</a:t>
            </a:r>
            <a:r>
              <a:rPr sz="2000" b="1" spc="-1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reference</a:t>
            </a:r>
            <a:r>
              <a:rPr sz="2000" b="1" spc="868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Base class</a:t>
            </a:r>
            <a:r>
              <a:rPr sz="20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object</a:t>
            </a:r>
          </a:p>
          <a:p>
            <a:pPr marL="0" marR="0">
              <a:lnSpc>
                <a:spcPts val="2088"/>
              </a:lnSpc>
              <a:spcBef>
                <a:spcPts val="1032"/>
              </a:spcBef>
              <a:spcAft>
                <a:spcPts val="0"/>
              </a:spcAf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Derived</a:t>
            </a:r>
            <a:r>
              <a:rPr sz="2000" b="1" spc="12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class</a:t>
            </a:r>
            <a:r>
              <a:rPr sz="20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pointer or</a:t>
            </a:r>
            <a:r>
              <a:rPr sz="2000" b="1" spc="-1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reference</a:t>
            </a:r>
            <a:r>
              <a:rPr sz="2000" b="1" spc="868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Derived</a:t>
            </a:r>
            <a:r>
              <a:rPr sz="2000" b="1" spc="12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class</a:t>
            </a:r>
            <a:r>
              <a:rPr sz="2000" b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object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59752" y="4499431"/>
            <a:ext cx="2881115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Error: Explicit</a:t>
            </a: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cast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59752" y="4895595"/>
            <a:ext cx="5269745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Call derived</a:t>
            </a:r>
            <a:r>
              <a:rPr sz="1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class functions</a:t>
            </a:r>
            <a:r>
              <a:rPr sz="18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&amp; inherited</a:t>
            </a:r>
            <a:r>
              <a:rPr sz="18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functions.</a:t>
            </a:r>
          </a:p>
        </p:txBody>
      </p:sp>
      <p:sp>
        <p:nvSpPr>
          <p:cNvPr id="24" name="object 3"/>
          <p:cNvSpPr txBox="1"/>
          <p:nvPr/>
        </p:nvSpPr>
        <p:spPr>
          <a:xfrm>
            <a:off x="927892" y="703599"/>
            <a:ext cx="9124158" cy="547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Runtime</a:t>
            </a:r>
            <a:r>
              <a:rPr sz="3600" b="1" spc="-355" baseline="43" smtClean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3600" b="1" baseline="43" smtClean="0">
                <a:solidFill>
                  <a:srgbClr val="002060"/>
                </a:solidFill>
                <a:latin typeface="Arial"/>
                <a:cs typeface="Arial"/>
              </a:rPr>
              <a:t>Binding</a:t>
            </a:r>
            <a:r>
              <a:rPr lang="en-US" sz="3600" b="1" baseline="43" dirty="0" smtClean="0">
                <a:solidFill>
                  <a:srgbClr val="002060"/>
                </a:solidFill>
                <a:latin typeface="Arial"/>
                <a:cs typeface="Arial"/>
              </a:rPr>
              <a:t>…</a:t>
            </a:r>
            <a:endParaRPr sz="3600" b="1" baseline="43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703599"/>
            <a:ext cx="8401773" cy="1614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Virtual</a:t>
            </a:r>
            <a:r>
              <a:rPr sz="4200" b="1" spc="-386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Destructor</a:t>
            </a:r>
          </a:p>
          <a:p>
            <a:pPr marL="74" marR="0">
              <a:lnSpc>
                <a:spcPts val="2713"/>
              </a:lnSpc>
              <a:spcBef>
                <a:spcPts val="524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600" spc="2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Destructor</a:t>
            </a:r>
            <a:r>
              <a:rPr sz="26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should be</a:t>
            </a:r>
            <a:r>
              <a:rPr sz="26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called according </a:t>
            </a:r>
            <a:r>
              <a:rPr sz="2600" spc="-14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object type.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39271" y="736836"/>
            <a:ext cx="641895" cy="309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5" marR="0">
              <a:lnSpc>
                <a:spcPts val="2500"/>
              </a:lnSpc>
              <a:spcBef>
                <a:spcPts val="67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7" marR="0">
              <a:lnSpc>
                <a:spcPts val="2500"/>
              </a:lnSpc>
              <a:spcBef>
                <a:spcPts val="64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7966" y="1710102"/>
            <a:ext cx="10732634" cy="83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600" spc="2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Derived</a:t>
            </a:r>
            <a:r>
              <a:rPr sz="26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class </a:t>
            </a:r>
            <a:r>
              <a:rPr sz="2600" spc="-21" dirty="0">
                <a:solidFill>
                  <a:srgbClr val="000000"/>
                </a:solidFill>
                <a:latin typeface="Calibri"/>
                <a:cs typeface="Calibri"/>
              </a:rPr>
              <a:t>may</a:t>
            </a:r>
            <a:r>
              <a:rPr sz="26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21" dirty="0">
                <a:solidFill>
                  <a:srgbClr val="000000"/>
                </a:solidFill>
                <a:latin typeface="Calibri"/>
                <a:cs typeface="Calibri"/>
              </a:rPr>
              <a:t>have</a:t>
            </a:r>
            <a:r>
              <a:rPr sz="26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some dynamic members</a:t>
            </a:r>
            <a:r>
              <a:rPr sz="26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need</a:t>
            </a:r>
            <a:r>
              <a:rPr sz="26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17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6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deallocate.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8012" y="2133026"/>
            <a:ext cx="1954019" cy="612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900" spc="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main(){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5276" y="2399824"/>
            <a:ext cx="7045664" cy="879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 *</a:t>
            </a:r>
            <a:r>
              <a:rPr sz="1900" spc="1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a1</a:t>
            </a:r>
            <a:r>
              <a:rPr sz="1900" spc="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=</a:t>
            </a:r>
            <a:r>
              <a:rPr sz="1900" spc="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new</a:t>
            </a:r>
            <a:r>
              <a:rPr sz="1900" spc="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A(2);</a:t>
            </a:r>
            <a:r>
              <a:rPr sz="1900" spc="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1900" spc="4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1900" spc="4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to</a:t>
            </a:r>
            <a:r>
              <a:rPr sz="1900" spc="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A’s</a:t>
            </a:r>
            <a:r>
              <a:rPr sz="1900" spc="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1975"/>
              </a:lnSpc>
              <a:spcBef>
                <a:spcPts val="12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a1-&gt;print();</a:t>
            </a:r>
            <a:r>
              <a:rPr sz="1900" spc="6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1900" spc="4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1900" spc="4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78091" y="2766643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75804" y="2766643"/>
            <a:ext cx="6855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5276" y="3198290"/>
            <a:ext cx="7506998" cy="879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 *</a:t>
            </a:r>
            <a:r>
              <a:rPr sz="1900" spc="1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a2</a:t>
            </a:r>
            <a:r>
              <a:rPr sz="1900" spc="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=</a:t>
            </a:r>
            <a:r>
              <a:rPr sz="1900" spc="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new</a:t>
            </a:r>
            <a:r>
              <a:rPr sz="1900" spc="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B(3,</a:t>
            </a:r>
            <a:r>
              <a:rPr sz="1900" spc="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4);</a:t>
            </a:r>
            <a:r>
              <a:rPr sz="1900" spc="3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1900" spc="4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1900" spc="46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to</a:t>
            </a:r>
            <a:r>
              <a:rPr sz="1900" spc="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B’s</a:t>
            </a:r>
            <a:r>
              <a:rPr sz="1900" spc="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1975"/>
              </a:lnSpc>
              <a:spcBef>
                <a:spcPts val="12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a2-&gt;print();</a:t>
            </a:r>
            <a:r>
              <a:rPr sz="1900" spc="6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//B’s</a:t>
            </a:r>
            <a:r>
              <a:rPr sz="1900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1900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called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78091" y="3661155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57516" y="3664127"/>
            <a:ext cx="1380477" cy="588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b=4</a:t>
            </a:r>
            <a:r>
              <a:rPr sz="1800" b="1" spc="227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85276" y="3996997"/>
            <a:ext cx="7966392" cy="879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 *</a:t>
            </a:r>
            <a:r>
              <a:rPr sz="1900" spc="1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a3</a:t>
            </a:r>
            <a:r>
              <a:rPr sz="1900" spc="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=</a:t>
            </a:r>
            <a:r>
              <a:rPr sz="1900" spc="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new</a:t>
            </a:r>
            <a:r>
              <a:rPr sz="1900" spc="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C(5,</a:t>
            </a:r>
            <a:r>
              <a:rPr sz="1900" spc="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6,</a:t>
            </a:r>
            <a:r>
              <a:rPr sz="1900" spc="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7);</a:t>
            </a:r>
            <a:r>
              <a:rPr sz="1900" spc="34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1900" spc="4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1900" spc="46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to</a:t>
            </a:r>
            <a:r>
              <a:rPr sz="1900" spc="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C’s</a:t>
            </a:r>
            <a:r>
              <a:rPr sz="1900" spc="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1975"/>
              </a:lnSpc>
              <a:spcBef>
                <a:spcPts val="12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a3-&gt;print();</a:t>
            </a:r>
            <a:r>
              <a:rPr sz="1900" spc="6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//C’s</a:t>
            </a:r>
            <a:r>
              <a:rPr sz="1900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1900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called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78091" y="4610531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543800" y="4615103"/>
            <a:ext cx="1939862" cy="591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c=7</a:t>
            </a:r>
            <a:r>
              <a:rPr sz="1800" b="1" spc="14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b=6</a:t>
            </a:r>
            <a:r>
              <a:rPr sz="1800" b="1" spc="227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85276" y="4795463"/>
            <a:ext cx="5205868" cy="612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1900" spc="2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a1;</a:t>
            </a:r>
            <a:r>
              <a:rPr sz="1900" spc="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1900" spc="5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destructor</a:t>
            </a:r>
            <a:r>
              <a:rPr sz="1900" spc="49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538235"/>
                </a:solidFill>
                <a:latin typeface="Consolas"/>
                <a:cs typeface="Consolas"/>
              </a:rPr>
              <a:t>called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85276" y="5062261"/>
            <a:ext cx="7814922" cy="87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1900" spc="2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a2;</a:t>
            </a:r>
            <a:r>
              <a:rPr sz="1900" spc="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//A’s</a:t>
            </a:r>
            <a:r>
              <a:rPr sz="1900" spc="4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destructor</a:t>
            </a:r>
            <a:r>
              <a:rPr sz="1900" spc="49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called,</a:t>
            </a:r>
            <a:r>
              <a:rPr sz="1900" spc="46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should</a:t>
            </a:r>
            <a:r>
              <a:rPr sz="1900" spc="5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call</a:t>
            </a:r>
            <a:r>
              <a:rPr sz="1900" spc="2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b’s</a:t>
            </a:r>
          </a:p>
          <a:p>
            <a:pPr marL="0" marR="0">
              <a:lnSpc>
                <a:spcPts val="1975"/>
              </a:lnSpc>
              <a:spcBef>
                <a:spcPts val="111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1900" spc="2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0000"/>
                </a:solidFill>
                <a:latin typeface="Consolas"/>
                <a:cs typeface="Consolas"/>
              </a:rPr>
              <a:t>a3;</a:t>
            </a:r>
            <a:r>
              <a:rPr sz="1900" spc="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//A’s</a:t>
            </a:r>
            <a:r>
              <a:rPr sz="1900" spc="52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destructor</a:t>
            </a:r>
            <a:r>
              <a:rPr sz="1900" spc="49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called,</a:t>
            </a:r>
            <a:r>
              <a:rPr sz="1900" spc="46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should</a:t>
            </a:r>
            <a:r>
              <a:rPr sz="1900" spc="5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call</a:t>
            </a:r>
            <a:r>
              <a:rPr sz="1900" spc="2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FF0000"/>
                </a:solidFill>
                <a:latin typeface="Consolas"/>
                <a:cs typeface="Consolas"/>
              </a:rPr>
              <a:t>c’s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28210" y="5633765"/>
            <a:ext cx="645059" cy="90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}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703599"/>
            <a:ext cx="8819358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Virtual</a:t>
            </a:r>
            <a:r>
              <a:rPr sz="4200" b="1" spc="-386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Destructor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78895" y="1114788"/>
            <a:ext cx="641895" cy="309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6" marR="0">
              <a:lnSpc>
                <a:spcPts val="2500"/>
              </a:lnSpc>
              <a:spcBef>
                <a:spcPts val="67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8" marR="0">
              <a:lnSpc>
                <a:spcPts val="2500"/>
              </a:lnSpc>
              <a:spcBef>
                <a:spcPts val="64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5035" y="1409122"/>
            <a:ext cx="1428484" cy="1047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class</a:t>
            </a:r>
            <a:r>
              <a:rPr sz="1600" spc="-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A{</a:t>
            </a:r>
          </a:p>
          <a:p>
            <a:pPr marL="457273" marR="0">
              <a:lnSpc>
                <a:spcPts val="1663"/>
              </a:lnSpc>
              <a:spcBef>
                <a:spcPts val="1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sz="1600" spc="-2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a;</a:t>
            </a:r>
          </a:p>
          <a:p>
            <a:pPr marL="0" marR="0">
              <a:lnSpc>
                <a:spcPts val="1663"/>
              </a:lnSpc>
              <a:spcBef>
                <a:spcPts val="67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49875" y="1536775"/>
            <a:ext cx="2599137" cy="864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class C: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public</a:t>
            </a:r>
            <a:r>
              <a:rPr sz="1800" spc="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B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pPr marL="457200" marR="0">
              <a:lnSpc>
                <a:spcPts val="1875"/>
              </a:lnSpc>
              <a:spcBef>
                <a:spcPts val="3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int c;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2308" y="2175703"/>
            <a:ext cx="3961184" cy="983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A(int</a:t>
            </a:r>
            <a:r>
              <a:rPr sz="1600" spc="-3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a=0){ this-&gt;a=a;}</a:t>
            </a:r>
          </a:p>
          <a:p>
            <a:pPr marL="0" marR="0">
              <a:lnSpc>
                <a:spcPts val="1663"/>
              </a:lnSpc>
              <a:spcBef>
                <a:spcPts val="122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600" b="1" spc="-2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void print(){</a:t>
            </a:r>
            <a:r>
              <a:rPr sz="1600" spc="-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cout&lt;&lt;a;}</a:t>
            </a:r>
          </a:p>
          <a:p>
            <a:pPr marL="0" marR="0">
              <a:lnSpc>
                <a:spcPts val="1663"/>
              </a:lnSpc>
              <a:spcBef>
                <a:spcPts val="135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600" b="1" spc="-3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~A(){}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49875" y="2166111"/>
            <a:ext cx="1222697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07075" y="2449575"/>
            <a:ext cx="5186768" cy="862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C(int a=0, int b=0,</a:t>
            </a:r>
            <a:r>
              <a:rPr sz="1800" spc="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int c=0) :B(a,b)</a:t>
            </a:r>
          </a:p>
          <a:p>
            <a:pPr marL="0" marR="0">
              <a:lnSpc>
                <a:spcPts val="1875"/>
              </a:lnSpc>
              <a:spcBef>
                <a:spcPts val="34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r>
              <a:rPr sz="18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this-&gt;c</a:t>
            </a:r>
            <a:r>
              <a:rPr sz="1800" spc="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c;}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5035" y="2940663"/>
            <a:ext cx="527721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49875" y="3078911"/>
            <a:ext cx="6056145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548235"/>
                </a:solidFill>
                <a:latin typeface="Consolas"/>
                <a:cs typeface="Consolas"/>
              </a:rPr>
              <a:t>//overrid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e print</a:t>
            </a:r>
            <a:r>
              <a:rPr sz="1800" spc="1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function</a:t>
            </a:r>
            <a:r>
              <a:rPr sz="1800" spc="23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inherited</a:t>
            </a:r>
            <a:r>
              <a:rPr sz="1800" spc="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from</a:t>
            </a:r>
            <a:r>
              <a:rPr sz="18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38235"/>
                </a:solidFill>
                <a:latin typeface="Consolas"/>
                <a:cs typeface="Consolas"/>
              </a:rPr>
              <a:t>B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05035" y="3239431"/>
            <a:ext cx="2304519" cy="749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class</a:t>
            </a:r>
            <a:r>
              <a:rPr sz="1600" spc="-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B: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public </a:t>
            </a:r>
            <a:r>
              <a:rPr sz="1600" spc="-10" dirty="0">
                <a:solidFill>
                  <a:srgbClr val="FF0000"/>
                </a:solidFill>
                <a:latin typeface="Consolas"/>
                <a:cs typeface="Consolas"/>
              </a:rPr>
              <a:t>A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pPr marL="457273" marR="0">
              <a:lnSpc>
                <a:spcPts val="1663"/>
              </a:lnSpc>
              <a:spcBef>
                <a:spcPts val="12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sz="1600" spc="-2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b;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49823" y="3425011"/>
            <a:ext cx="2133479" cy="1146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800" spc="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print(){</a:t>
            </a:r>
          </a:p>
          <a:p>
            <a:pPr marL="414451" marR="0">
              <a:lnSpc>
                <a:spcPts val="1875"/>
              </a:lnSpc>
              <a:spcBef>
                <a:spcPts val="3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B::print();</a:t>
            </a:r>
          </a:p>
          <a:p>
            <a:pPr marL="414451" marR="0">
              <a:lnSpc>
                <a:spcPts val="1875"/>
              </a:lnSpc>
              <a:spcBef>
                <a:spcPts val="34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cout&lt;&lt;c;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5035" y="3771295"/>
            <a:ext cx="1084887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62308" y="4004390"/>
            <a:ext cx="3067494" cy="1453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B(int</a:t>
            </a:r>
            <a:r>
              <a:rPr sz="1600" spc="-3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a=0,</a:t>
            </a:r>
            <a:r>
              <a:rPr sz="16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int b=0):A(a)</a:t>
            </a:r>
          </a:p>
          <a:p>
            <a:pPr marL="0" marR="0">
              <a:lnSpc>
                <a:spcPts val="1663"/>
              </a:lnSpc>
              <a:spcBef>
                <a:spcPts val="1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r>
              <a:rPr sz="1600" spc="-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this-&gt;b</a:t>
            </a:r>
            <a:r>
              <a:rPr sz="16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= b;}</a:t>
            </a:r>
          </a:p>
          <a:p>
            <a:pPr marL="0" marR="0">
              <a:lnSpc>
                <a:spcPts val="1663"/>
              </a:lnSpc>
              <a:spcBef>
                <a:spcPts val="1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600" spc="-2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print(){</a:t>
            </a:r>
          </a:p>
          <a:p>
            <a:pPr marL="457070" marR="0">
              <a:lnSpc>
                <a:spcPts val="1663"/>
              </a:lnSpc>
              <a:spcBef>
                <a:spcPts val="12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A::print();</a:t>
            </a:r>
          </a:p>
          <a:p>
            <a:pPr marL="457070" marR="0">
              <a:lnSpc>
                <a:spcPts val="1663"/>
              </a:lnSpc>
              <a:spcBef>
                <a:spcPts val="1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cout&lt;&lt;b;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07075" y="4273803"/>
            <a:ext cx="468585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07075" y="4557267"/>
            <a:ext cx="209507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virtual </a:t>
            </a: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~C(){}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949875" y="4903139"/>
            <a:ext cx="594270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62308" y="5176356"/>
            <a:ext cx="416241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949926" y="5245744"/>
            <a:ext cx="4760159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2060"/>
                </a:solidFill>
                <a:latin typeface="Arial"/>
                <a:cs typeface="Arial"/>
              </a:rPr>
              <a:t>•</a:t>
            </a:r>
            <a:r>
              <a:rPr sz="2000" spc="598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2060"/>
                </a:solidFill>
                <a:latin typeface="Consolas"/>
                <a:cs typeface="Consolas"/>
              </a:rPr>
              <a:t>Make</a:t>
            </a:r>
            <a:r>
              <a:rPr sz="2000" b="1" spc="-25" dirty="0">
                <a:solidFill>
                  <a:srgbClr val="00206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2060"/>
                </a:solidFill>
                <a:latin typeface="Consolas"/>
                <a:cs typeface="Consolas"/>
              </a:rPr>
              <a:t>d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estructor</a:t>
            </a:r>
            <a:r>
              <a:rPr sz="2000" b="1" spc="-2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virtual</a:t>
            </a:r>
            <a:r>
              <a:rPr sz="2000" b="1" spc="-25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too.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62308" y="5409654"/>
            <a:ext cx="1859813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600" b="1" spc="-3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~B(){}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949926" y="5617581"/>
            <a:ext cx="6366116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2060"/>
                </a:solidFill>
                <a:latin typeface="Arial"/>
                <a:cs typeface="Arial"/>
              </a:rPr>
              <a:t>•</a:t>
            </a:r>
            <a:r>
              <a:rPr sz="2000" spc="598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2060"/>
                </a:solidFill>
                <a:latin typeface="Consolas"/>
                <a:cs typeface="Consolas"/>
              </a:rPr>
              <a:t>Destru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ctor</a:t>
            </a:r>
            <a:r>
              <a:rPr sz="2000" b="1" spc="-54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is not inherited</a:t>
            </a:r>
            <a:r>
              <a:rPr sz="2000" b="1" spc="-25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so </a:t>
            </a:r>
            <a:r>
              <a:rPr sz="2000" b="1">
                <a:solidFill>
                  <a:srgbClr val="001F5F"/>
                </a:solidFill>
                <a:latin typeface="Consolas"/>
                <a:cs typeface="Consolas"/>
              </a:rPr>
              <a:t>make</a:t>
            </a:r>
            <a:r>
              <a:rPr sz="2000" b="1" spc="-12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smtClean="0">
                <a:solidFill>
                  <a:srgbClr val="001F5F"/>
                </a:solidFill>
                <a:latin typeface="Consolas"/>
                <a:cs typeface="Consolas"/>
              </a:rPr>
              <a:t>i</a:t>
            </a:r>
            <a:r>
              <a:rPr lang="en-US" sz="2000" b="1" smtClean="0">
                <a:solidFill>
                  <a:srgbClr val="001F5F"/>
                </a:solidFill>
                <a:latin typeface="Consolas"/>
                <a:cs typeface="Consolas"/>
              </a:rPr>
              <a:t>t</a:t>
            </a:r>
            <a:endParaRPr sz="2000" b="1" dirty="0">
              <a:solidFill>
                <a:srgbClr val="001F5F"/>
              </a:solidFill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78474" y="5861399"/>
            <a:ext cx="3697421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2060"/>
                </a:solidFill>
                <a:latin typeface="Consolas"/>
                <a:cs typeface="Consolas"/>
              </a:rPr>
              <a:t>virtua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l</a:t>
            </a:r>
            <a:r>
              <a:rPr sz="2000" b="1" spc="-34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in all classes.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5035" y="5941518"/>
            <a:ext cx="527721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703599"/>
            <a:ext cx="8401773" cy="164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Virtual</a:t>
            </a:r>
            <a:r>
              <a:rPr sz="4200" b="1" spc="-386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Destructor</a:t>
            </a:r>
          </a:p>
          <a:p>
            <a:pPr marL="74" marR="0">
              <a:lnSpc>
                <a:spcPts val="2713"/>
              </a:lnSpc>
              <a:spcBef>
                <a:spcPts val="753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600" spc="2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Destructor</a:t>
            </a:r>
            <a:r>
              <a:rPr sz="26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should be</a:t>
            </a:r>
            <a:r>
              <a:rPr sz="26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called according </a:t>
            </a:r>
            <a:r>
              <a:rPr sz="2600" spc="-14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object type.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19004" y="762744"/>
            <a:ext cx="641895" cy="309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5" marR="0">
              <a:lnSpc>
                <a:spcPts val="2500"/>
              </a:lnSpc>
              <a:spcBef>
                <a:spcPts val="67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7" marR="0">
              <a:lnSpc>
                <a:spcPts val="2500"/>
              </a:lnSpc>
              <a:spcBef>
                <a:spcPts val="647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8190" y="1787744"/>
            <a:ext cx="2057903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main(){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5287" y="2095699"/>
            <a:ext cx="7391389" cy="953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a1 = new A(2);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A’s object</a:t>
            </a:r>
          </a:p>
          <a:p>
            <a:pPr marL="0" marR="0">
              <a:lnSpc>
                <a:spcPts val="2088"/>
              </a:lnSpc>
              <a:spcBef>
                <a:spcPts val="33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a1-&gt;print();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78091" y="2486151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74203" y="2486151"/>
            <a:ext cx="6855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287" y="3017782"/>
            <a:ext cx="8291278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a2 = new B(3,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4);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B’s object</a:t>
            </a:r>
          </a:p>
          <a:p>
            <a:pPr marL="0" marR="0">
              <a:lnSpc>
                <a:spcPts val="2088"/>
              </a:lnSpc>
              <a:spcBef>
                <a:spcPts val="33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2000" spc="-18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smtClean="0">
                <a:solidFill>
                  <a:srgbClr val="FF0000"/>
                </a:solidFill>
                <a:latin typeface="Consolas"/>
                <a:cs typeface="Consolas"/>
              </a:rPr>
              <a:t>called</a:t>
            </a:r>
            <a:r>
              <a:rPr lang="en-US" sz="2000" dirty="0" smtClean="0">
                <a:solidFill>
                  <a:srgbClr val="FF0000"/>
                </a:solidFill>
                <a:latin typeface="Consolas"/>
                <a:cs typeface="Consolas"/>
              </a:rPr>
              <a:t>			   </a:t>
            </a:r>
            <a:r>
              <a:rPr sz="1800" b="1" smtClean="0">
                <a:solidFill>
                  <a:srgbClr val="FFFFFF"/>
                </a:solidFill>
                <a:latin typeface="Calibri"/>
                <a:cs typeface="Calibri"/>
              </a:rPr>
              <a:t>a=3</a:t>
            </a:r>
            <a:endParaRPr sz="18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8091" y="3382263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555916" y="3393007"/>
            <a:ext cx="696506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85287" y="3939609"/>
            <a:ext cx="8355491" cy="95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a3 = new C(5,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6, 7);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C’s object</a:t>
            </a:r>
          </a:p>
          <a:p>
            <a:pPr marL="0" marR="0">
              <a:lnSpc>
                <a:spcPts val="2088"/>
              </a:lnSpc>
              <a:spcBef>
                <a:spcPts val="33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a3-&gt;print();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//C’s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called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78091" y="4330267"/>
            <a:ext cx="57169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542200" y="4342383"/>
            <a:ext cx="1255890" cy="585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c=7</a:t>
            </a:r>
            <a:r>
              <a:rPr sz="1800" b="1" spc="14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98128" y="4334840"/>
            <a:ext cx="685534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85287" y="4861692"/>
            <a:ext cx="10440868" cy="1260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a1;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destructor</a:t>
            </a:r>
            <a:r>
              <a:rPr sz="2000" spc="-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</a:t>
            </a:r>
          </a:p>
          <a:p>
            <a:pPr marL="0" marR="0">
              <a:lnSpc>
                <a:spcPts val="2088"/>
              </a:lnSpc>
              <a:spcBef>
                <a:spcPts val="33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destructor</a:t>
            </a:r>
            <a:r>
              <a:rPr sz="2000" spc="-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called,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which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also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A’s</a:t>
            </a:r>
          </a:p>
          <a:p>
            <a:pPr marL="0" marR="0">
              <a:lnSpc>
                <a:spcPts val="2088"/>
              </a:lnSpc>
              <a:spcBef>
                <a:spcPts val="32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a3;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//C’s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destructor</a:t>
            </a:r>
            <a:r>
              <a:rPr sz="2000" spc="-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called,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which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also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B’s then</a:t>
            </a:r>
            <a:r>
              <a:rPr sz="2000" spc="-1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A’s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8190" y="5847656"/>
            <a:ext cx="461030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}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703599"/>
            <a:ext cx="9352758" cy="974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Virtual</a:t>
            </a:r>
            <a:r>
              <a:rPr sz="4200" b="1" spc="-386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200" b="1" baseline="43" dirty="0">
                <a:solidFill>
                  <a:srgbClr val="FF0000"/>
                </a:solidFill>
                <a:latin typeface="Arial"/>
                <a:cs typeface="Arial"/>
              </a:rPr>
              <a:t>Destructor</a:t>
            </a:r>
          </a:p>
          <a:p>
            <a:pPr marL="260" marR="0">
              <a:lnSpc>
                <a:spcPts val="2288"/>
              </a:lnSpc>
              <a:spcBef>
                <a:spcPts val="697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200" spc="4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Call</a:t>
            </a:r>
            <a:r>
              <a:rPr sz="22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function according</a:t>
            </a:r>
            <a:r>
              <a:rPr sz="22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8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type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of object not </a:t>
            </a:r>
            <a:r>
              <a:rPr sz="2200" spc="-34" dirty="0">
                <a:solidFill>
                  <a:srgbClr val="000000"/>
                </a:solidFill>
                <a:latin typeface="Calibri"/>
                <a:cs typeface="Calibri"/>
              </a:rPr>
              <a:t>pointer.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2528" y="694164"/>
            <a:ext cx="641895" cy="3091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  <a:p>
            <a:pPr marL="6095" marR="0">
              <a:lnSpc>
                <a:spcPts val="2500"/>
              </a:lnSpc>
              <a:spcBef>
                <a:spcPts val="6763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  <a:p>
            <a:pPr marL="10667" marR="0">
              <a:lnSpc>
                <a:spcPts val="2500"/>
              </a:lnSpc>
              <a:spcBef>
                <a:spcPts val="6425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8190" y="1682632"/>
            <a:ext cx="2057903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main(){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5287" y="1960046"/>
            <a:ext cx="8033246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b1 = new B(9,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10);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B’s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5287" y="2237460"/>
            <a:ext cx="5142697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b1-&gt;print();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93076" y="2396311"/>
            <a:ext cx="581521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b1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78672" y="2399283"/>
            <a:ext cx="1380478" cy="588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b=10</a:t>
            </a:r>
            <a:r>
              <a:rPr sz="1800" b="1" spc="136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5287" y="2790506"/>
            <a:ext cx="8676273" cy="923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b2 = new C(5,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60, 70);</a:t>
            </a:r>
            <a:r>
              <a:rPr sz="2000" spc="-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C’s object</a:t>
            </a:r>
          </a:p>
          <a:p>
            <a:pPr marL="0" marR="0">
              <a:lnSpc>
                <a:spcPts val="2088"/>
              </a:lnSpc>
              <a:spcBef>
                <a:spcPts val="9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b1-&gt;print();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//C’s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93076" y="3211499"/>
            <a:ext cx="582206" cy="581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b2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64956" y="3216071"/>
            <a:ext cx="1939633" cy="59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c=70</a:t>
            </a:r>
            <a:r>
              <a:rPr sz="1800" b="1" spc="5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b=60</a:t>
            </a:r>
            <a:r>
              <a:rPr sz="1800" b="1" spc="136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a=5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85287" y="3621220"/>
            <a:ext cx="9320179" cy="119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b3 = new A(2);</a:t>
            </a:r>
            <a:r>
              <a:rPr sz="2000" spc="-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//Error:</a:t>
            </a:r>
            <a:r>
              <a:rPr sz="2000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B’s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pointer</a:t>
            </a:r>
            <a:r>
              <a:rPr sz="2000" spc="-14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to A’s</a:t>
            </a:r>
            <a:r>
              <a:rPr sz="2000" spc="-12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2088"/>
              </a:lnSpc>
              <a:spcBef>
                <a:spcPts val="96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//Every</a:t>
            </a:r>
            <a:r>
              <a:rPr sz="2000" spc="-37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derived</a:t>
            </a:r>
            <a:r>
              <a:rPr sz="2000" spc="-14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is a base</a:t>
            </a:r>
            <a:r>
              <a:rPr sz="2000" spc="-12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but every</a:t>
            </a:r>
            <a:r>
              <a:rPr sz="2000" spc="-1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base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is not a derived.</a:t>
            </a:r>
          </a:p>
          <a:p>
            <a:pPr marL="0" marR="0">
              <a:lnSpc>
                <a:spcPts val="2088"/>
              </a:lnSpc>
              <a:spcBef>
                <a:spcPts val="32"/>
              </a:spcBef>
              <a:spcAft>
                <a:spcPts val="0"/>
              </a:spcAft>
            </a:pPr>
            <a:r>
              <a:rPr sz="2000" dirty="0">
                <a:solidFill>
                  <a:srgbClr val="001F5F"/>
                </a:solidFill>
                <a:latin typeface="Consolas"/>
                <a:cs typeface="Consolas"/>
              </a:rPr>
              <a:t>//Allowed</a:t>
            </a:r>
            <a:r>
              <a:rPr sz="2000" spc="-43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1F5F"/>
                </a:solidFill>
                <a:latin typeface="Consolas"/>
                <a:cs typeface="Consolas"/>
              </a:rPr>
              <a:t>if explicit</a:t>
            </a:r>
            <a:r>
              <a:rPr sz="2000" spc="-25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1F5F"/>
                </a:solidFill>
                <a:latin typeface="Consolas"/>
                <a:cs typeface="Consolas"/>
              </a:rPr>
              <a:t>cast made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85287" y="4729093"/>
            <a:ext cx="10440575" cy="922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b1;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destructor</a:t>
            </a:r>
            <a:r>
              <a:rPr sz="2000" spc="-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called,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which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also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A’s</a:t>
            </a:r>
          </a:p>
          <a:p>
            <a:pPr marL="0" marR="0">
              <a:lnSpc>
                <a:spcPts val="2088"/>
              </a:lnSpc>
              <a:spcBef>
                <a:spcPts val="8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b2;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//C’s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destructor</a:t>
            </a:r>
            <a:r>
              <a:rPr sz="2000" spc="-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called,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which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also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calls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B’s then</a:t>
            </a:r>
            <a:r>
              <a:rPr sz="2000" spc="-1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A’s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8190" y="5622162"/>
            <a:ext cx="520929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14788" y="413748"/>
            <a:ext cx="1493639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4492" y="703599"/>
            <a:ext cx="10190958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</a:t>
            </a:r>
            <a:r>
              <a:rPr sz="4400" spc="-220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Polymorphism</a:t>
            </a:r>
            <a:r>
              <a:rPr sz="3200" b="1" spc="-350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4200" b="1" baseline="43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800" y="1332036"/>
            <a:ext cx="3388275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class</a:t>
            </a:r>
            <a:r>
              <a:rPr sz="1400" spc="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Current:</a:t>
            </a:r>
            <a:r>
              <a:rPr sz="1400" spc="5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public</a:t>
            </a:r>
            <a:r>
              <a:rPr sz="1400" spc="38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Account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8747" y="1395339"/>
            <a:ext cx="1860421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class</a:t>
            </a:r>
            <a:r>
              <a:rPr sz="1600" spc="-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Account{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26982" y="1543866"/>
            <a:ext cx="2368336" cy="665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float</a:t>
            </a:r>
            <a:r>
              <a:rPr sz="1400" spc="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serviceCharges;</a:t>
            </a:r>
          </a:p>
          <a:p>
            <a:pPr marL="0" marR="0">
              <a:lnSpc>
                <a:spcPts val="1462"/>
              </a:lnSpc>
              <a:spcBef>
                <a:spcPts val="16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float</a:t>
            </a:r>
            <a:r>
              <a:rPr sz="1400" spc="1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minBalance;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6020" y="1677284"/>
            <a:ext cx="1861029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int</a:t>
            </a:r>
            <a:r>
              <a:rPr sz="1600" spc="-2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accountNo;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489947" y="1759440"/>
            <a:ext cx="1278880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Saving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898123" y="1759440"/>
            <a:ext cx="1421457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6020" y="1960850"/>
            <a:ext cx="1748940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float</a:t>
            </a:r>
            <a:r>
              <a:rPr sz="1600" spc="-3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amount;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69800" y="2032965"/>
            <a:ext cx="952942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26982" y="2246399"/>
            <a:ext cx="3388683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400" b="1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400" b="1" spc="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nsolas"/>
                <a:cs typeface="Consolas"/>
              </a:rPr>
              <a:t>print()</a:t>
            </a:r>
            <a:r>
              <a:rPr sz="1400" b="1" spc="4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override{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8747" y="2306642"/>
            <a:ext cx="1084887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884164" y="2459656"/>
            <a:ext cx="1933288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Account::print();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8747" y="2654259"/>
            <a:ext cx="3833914" cy="954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//override</a:t>
            </a:r>
            <a:r>
              <a:rPr sz="1600" spc="-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Debit and</a:t>
            </a:r>
            <a:r>
              <a:rPr sz="16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Credit</a:t>
            </a:r>
          </a:p>
          <a:p>
            <a:pPr marL="0" marR="0">
              <a:lnSpc>
                <a:spcPts val="1663"/>
              </a:lnSpc>
              <a:spcBef>
                <a:spcPts val="13"/>
              </a:spcBef>
              <a:spcAft>
                <a:spcPts val="0"/>
              </a:spcAft>
            </a:pP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functions</a:t>
            </a:r>
            <a:r>
              <a:rPr sz="1600" spc="-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according</a:t>
            </a:r>
            <a:r>
              <a:rPr sz="1600" spc="-1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to</a:t>
            </a:r>
            <a:r>
              <a:rPr sz="1600" spc="-1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derived</a:t>
            </a:r>
          </a:p>
          <a:p>
            <a:pPr marL="0" marR="0">
              <a:lnSpc>
                <a:spcPts val="1663"/>
              </a:lnSpc>
              <a:spcBef>
                <a:spcPts val="15"/>
              </a:spcBef>
              <a:spcAft>
                <a:spcPts val="0"/>
              </a:spcAft>
            </a:pPr>
            <a:r>
              <a:rPr sz="1600" dirty="0">
                <a:solidFill>
                  <a:srgbClr val="538235"/>
                </a:solidFill>
                <a:latin typeface="Consolas"/>
                <a:cs typeface="Consolas"/>
              </a:rPr>
              <a:t>classes.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884164" y="2671486"/>
            <a:ext cx="2368335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cout&lt;&lt;serviceCharges;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426982" y="2884920"/>
            <a:ext cx="364734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26982" y="3098355"/>
            <a:ext cx="2255965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400" b="1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~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Current(){}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426982" y="3310185"/>
            <a:ext cx="3615883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//Use</a:t>
            </a:r>
            <a:r>
              <a:rPr sz="1400" spc="2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inherited</a:t>
            </a:r>
            <a:r>
              <a:rPr sz="1400" spc="3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Debit</a:t>
            </a:r>
            <a:r>
              <a:rPr sz="1400" spc="4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and</a:t>
            </a:r>
            <a:r>
              <a:rPr sz="1400" spc="2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Credit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46020" y="3375031"/>
            <a:ext cx="3578440" cy="1931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600" b="1" spc="-3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void debit(float);</a:t>
            </a:r>
          </a:p>
          <a:p>
            <a:pPr marL="0" marR="0">
              <a:lnSpc>
                <a:spcPts val="1663"/>
              </a:lnSpc>
              <a:spcBef>
                <a:spcPts val="519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600" b="1" spc="-3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void credit</a:t>
            </a:r>
            <a:r>
              <a:rPr sz="1600" spc="-2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(float);</a:t>
            </a:r>
          </a:p>
          <a:p>
            <a:pPr marL="0" marR="0">
              <a:lnSpc>
                <a:spcPts val="1663"/>
              </a:lnSpc>
              <a:spcBef>
                <a:spcPts val="518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600" b="1" spc="-3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600" b="1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nsolas"/>
                <a:cs typeface="Consolas"/>
              </a:rPr>
              <a:t>print()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pPr marL="457273" marR="0">
              <a:lnSpc>
                <a:spcPts val="1663"/>
              </a:lnSpc>
              <a:spcBef>
                <a:spcPts val="50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cout&lt;&lt;</a:t>
            </a:r>
            <a:r>
              <a:rPr sz="16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accountNo ;</a:t>
            </a:r>
          </a:p>
          <a:p>
            <a:pPr marL="457273" marR="0">
              <a:lnSpc>
                <a:spcPts val="1663"/>
              </a:lnSpc>
              <a:spcBef>
                <a:spcPts val="568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cout&lt;&lt;</a:t>
            </a:r>
            <a:r>
              <a:rPr sz="16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amount &lt;&lt;endl;</a:t>
            </a:r>
          </a:p>
          <a:p>
            <a:pPr marL="0" marR="0">
              <a:lnSpc>
                <a:spcPts val="1663"/>
              </a:lnSpc>
              <a:spcBef>
                <a:spcPts val="51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969800" y="3587453"/>
            <a:ext cx="462804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969800" y="3863296"/>
            <a:ext cx="3274470" cy="665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class</a:t>
            </a:r>
            <a:r>
              <a:rPr sz="1400" spc="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Saving:</a:t>
            </a:r>
            <a:r>
              <a:rPr sz="1400" spc="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public</a:t>
            </a:r>
            <a:r>
              <a:rPr sz="1400" spc="41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Account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pPr marL="457181" marR="0">
              <a:lnSpc>
                <a:spcPts val="1462"/>
              </a:lnSpc>
              <a:spcBef>
                <a:spcPts val="16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float</a:t>
            </a:r>
            <a:r>
              <a:rPr sz="1400" spc="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interestRate;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969800" y="4352573"/>
            <a:ext cx="952942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public: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26982" y="4565829"/>
            <a:ext cx="3388683" cy="664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400" b="1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400" b="1" spc="2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nsolas"/>
                <a:cs typeface="Consolas"/>
              </a:rPr>
              <a:t>print()</a:t>
            </a:r>
            <a:r>
              <a:rPr sz="1400" b="1" spc="4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override{</a:t>
            </a:r>
          </a:p>
          <a:p>
            <a:pPr marL="457181" marR="0">
              <a:lnSpc>
                <a:spcPts val="1462"/>
              </a:lnSpc>
              <a:spcBef>
                <a:spcPts val="154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Account::print();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884164" y="4991094"/>
            <a:ext cx="2142160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cout&lt;&lt;interestRate;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146020" y="5072780"/>
            <a:ext cx="2556316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600" b="1" spc="-33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0000"/>
                </a:solidFill>
                <a:latin typeface="Consolas"/>
                <a:cs typeface="Consolas"/>
              </a:rPr>
              <a:t>~</a:t>
            </a: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Account(){}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426982" y="5204529"/>
            <a:ext cx="364734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88747" y="5420194"/>
            <a:ext cx="527721" cy="516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426982" y="5416359"/>
            <a:ext cx="2143185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400" b="1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~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Saving(){}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426982" y="5629615"/>
            <a:ext cx="4180604" cy="877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//override</a:t>
            </a:r>
            <a:r>
              <a:rPr sz="1400" spc="43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Debit</a:t>
            </a:r>
            <a:r>
              <a:rPr sz="1400" spc="4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and</a:t>
            </a:r>
            <a:r>
              <a:rPr sz="1400" spc="2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38235"/>
                </a:solidFill>
                <a:latin typeface="Consolas"/>
                <a:cs typeface="Consolas"/>
              </a:rPr>
              <a:t>Credit</a:t>
            </a:r>
          </a:p>
          <a:p>
            <a:pPr marL="0" marR="0">
              <a:lnSpc>
                <a:spcPts val="1462"/>
              </a:lnSpc>
              <a:spcBef>
                <a:spcPts val="167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400" b="1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400" spc="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debit(float)</a:t>
            </a:r>
            <a:r>
              <a:rPr sz="1400" spc="4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override;</a:t>
            </a:r>
          </a:p>
          <a:p>
            <a:pPr marL="0" marR="0">
              <a:lnSpc>
                <a:spcPts val="1462"/>
              </a:lnSpc>
              <a:spcBef>
                <a:spcPts val="204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1400" b="1" spc="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1400" spc="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credit</a:t>
            </a:r>
            <a:r>
              <a:rPr sz="1400" spc="4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(float)</a:t>
            </a:r>
            <a:r>
              <a:rPr sz="1400" spc="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override;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969800" y="6332149"/>
            <a:ext cx="462804" cy="452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82784" y="491472"/>
            <a:ext cx="1493639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7892" y="703599"/>
            <a:ext cx="9581358" cy="167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</a:t>
            </a:r>
            <a:r>
              <a:rPr sz="4400" spc="-220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Polymorphism</a:t>
            </a:r>
            <a:r>
              <a:rPr sz="3200" b="1" spc="-350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4200" b="1" baseline="43" dirty="0">
              <a:solidFill>
                <a:srgbClr val="FF0000"/>
              </a:solidFill>
              <a:latin typeface="Arial"/>
              <a:cs typeface="Arial"/>
            </a:endParaRPr>
          </a:p>
          <a:p>
            <a:pPr marL="260" marR="0">
              <a:lnSpc>
                <a:spcPts val="2288"/>
              </a:lnSpc>
              <a:spcBef>
                <a:spcPts val="697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200" spc="4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Call</a:t>
            </a:r>
            <a:r>
              <a:rPr sz="22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function according</a:t>
            </a:r>
            <a:r>
              <a:rPr sz="22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8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type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of object not </a:t>
            </a:r>
            <a:r>
              <a:rPr sz="2200" spc="-34" dirty="0">
                <a:solidFill>
                  <a:srgbClr val="000000"/>
                </a:solidFill>
                <a:latin typeface="Calibri"/>
                <a:cs typeface="Calibri"/>
              </a:rPr>
              <a:t>pointer.</a:t>
            </a:r>
          </a:p>
          <a:p>
            <a:pPr marL="260" marR="0">
              <a:lnSpc>
                <a:spcPts val="2288"/>
              </a:lnSpc>
              <a:spcBef>
                <a:spcPts val="505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200" spc="4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Debit, credit and print </a:t>
            </a:r>
            <a:r>
              <a:rPr sz="2200">
                <a:solidFill>
                  <a:srgbClr val="000000"/>
                </a:solidFill>
                <a:latin typeface="Calibri"/>
                <a:cs typeface="Calibri"/>
              </a:rPr>
              <a:t>function </a:t>
            </a:r>
            <a:r>
              <a:rPr lang="en-US" sz="2200" smtClean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2200" smtClean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000000"/>
                </a:solidFill>
                <a:latin typeface="Calibri"/>
                <a:cs typeface="Calibri"/>
              </a:rPr>
              <a:t>different</a:t>
            </a:r>
            <a:r>
              <a:rPr sz="22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2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7" dirty="0">
                <a:solidFill>
                  <a:srgbClr val="000000"/>
                </a:solidFill>
                <a:latin typeface="Calibri"/>
                <a:cs typeface="Calibri"/>
              </a:rPr>
              <a:t>different</a:t>
            </a:r>
            <a:r>
              <a:rPr sz="2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accounts.</a:t>
            </a:r>
          </a:p>
          <a:p>
            <a:pPr marL="298" marR="0">
              <a:lnSpc>
                <a:spcPts val="2088"/>
              </a:lnSpc>
              <a:spcBef>
                <a:spcPts val="63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000000"/>
                </a:solidFill>
                <a:latin typeface="Consolas"/>
                <a:cs typeface="Consolas"/>
              </a:rPr>
              <a:t>main</a:t>
            </a: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(){</a:t>
            </a:r>
            <a:endParaRPr sz="20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57944" y="1835640"/>
            <a:ext cx="1278880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Saving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66120" y="1835640"/>
            <a:ext cx="1421457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5287" y="2374028"/>
            <a:ext cx="9479106" cy="1201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Account</a:t>
            </a:r>
            <a:r>
              <a:rPr sz="2000" spc="-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a1 = new Saving;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//Base</a:t>
            </a:r>
            <a:r>
              <a:rPr sz="2000" spc="-1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derived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2088"/>
              </a:lnSpc>
              <a:spcBef>
                <a:spcPts val="9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a1-&gt;print();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//Saving’s</a:t>
            </a:r>
            <a:r>
              <a:rPr sz="2000" spc="-3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  <a:p>
            <a:pPr marL="0" marR="0">
              <a:lnSpc>
                <a:spcPts val="2088"/>
              </a:lnSpc>
              <a:spcBef>
                <a:spcPts val="9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a1-&gt;debit(300);</a:t>
            </a:r>
            <a:r>
              <a:rPr sz="2000" spc="-4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//Saving’s</a:t>
            </a:r>
            <a:r>
              <a:rPr sz="2000" spc="-4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Debit</a:t>
            </a:r>
            <a:r>
              <a:rPr sz="2000" spc="-1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85287" y="3233655"/>
            <a:ext cx="6748947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a1-&gt;credit(900);</a:t>
            </a:r>
            <a:r>
              <a:rPr sz="2000" spc="-54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//Saving’s</a:t>
            </a:r>
            <a:r>
              <a:rPr sz="2000" spc="-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credit</a:t>
            </a:r>
            <a:r>
              <a:rPr sz="2000" spc="-2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287" y="3706480"/>
            <a:ext cx="9640082" cy="1199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Account</a:t>
            </a:r>
            <a:r>
              <a:rPr sz="2000" spc="-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 a2 = new Current;</a:t>
            </a:r>
            <a:r>
              <a:rPr sz="2000" spc="-2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//Base</a:t>
            </a:r>
            <a:r>
              <a:rPr sz="2000" spc="-2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pointer</a:t>
            </a:r>
            <a:r>
              <a:rPr sz="2000" spc="-14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derived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object</a:t>
            </a:r>
          </a:p>
          <a:p>
            <a:pPr marL="0" marR="0">
              <a:lnSpc>
                <a:spcPts val="2088"/>
              </a:lnSpc>
              <a:spcBef>
                <a:spcPts val="8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a2-&gt;print();</a:t>
            </a:r>
            <a:r>
              <a:rPr sz="2000" spc="-46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//Current’s</a:t>
            </a:r>
            <a:r>
              <a:rPr sz="2000" spc="-3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print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  <a:p>
            <a:pPr marL="0" marR="0">
              <a:lnSpc>
                <a:spcPts val="2088"/>
              </a:lnSpc>
              <a:spcBef>
                <a:spcPts val="4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a2-&gt;debit(500);</a:t>
            </a:r>
            <a:r>
              <a:rPr sz="2000" spc="-4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//Current’s</a:t>
            </a:r>
            <a:r>
              <a:rPr sz="2000" spc="-3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Debit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5287" y="4537194"/>
            <a:ext cx="7392267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a2-&gt;credit(30085);</a:t>
            </a:r>
            <a:r>
              <a:rPr sz="2000" spc="-43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 Current’s</a:t>
            </a:r>
            <a:r>
              <a:rPr sz="2000" spc="-40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credit</a:t>
            </a:r>
            <a:r>
              <a:rPr sz="2000" spc="-1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called.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85287" y="5090240"/>
            <a:ext cx="8355492" cy="923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a1;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//Saving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destructor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called,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then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Account</a:t>
            </a:r>
          </a:p>
          <a:p>
            <a:pPr marL="0" marR="0">
              <a:lnSpc>
                <a:spcPts val="2088"/>
              </a:lnSpc>
              <a:spcBef>
                <a:spcPts val="9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a2;</a:t>
            </a:r>
            <a:r>
              <a:rPr sz="2000" spc="-12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//Current</a:t>
            </a:r>
            <a:r>
              <a:rPr sz="2000" spc="-31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destructor</a:t>
            </a:r>
            <a:r>
              <a:rPr sz="2000" spc="-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called,</a:t>
            </a:r>
            <a:r>
              <a:rPr sz="2000" spc="-14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then</a:t>
            </a:r>
            <a:r>
              <a:rPr sz="2000" spc="-1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Account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28190" y="5707422"/>
            <a:ext cx="520929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22407" y="290304"/>
            <a:ext cx="1493639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7892" y="703599"/>
            <a:ext cx="9549629" cy="98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</a:t>
            </a:r>
            <a:r>
              <a:rPr sz="4400" spc="-220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Polymorphism</a:t>
            </a:r>
            <a:r>
              <a:rPr sz="3200" b="1" spc="-350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4200" b="1" baseline="43" dirty="0">
              <a:solidFill>
                <a:srgbClr val="FF0000"/>
              </a:solidFill>
              <a:latin typeface="Arial"/>
              <a:cs typeface="Arial"/>
            </a:endParaRPr>
          </a:p>
          <a:p>
            <a:pPr marL="224" marR="0">
              <a:lnSpc>
                <a:spcPts val="2500"/>
              </a:lnSpc>
              <a:spcBef>
                <a:spcPts val="6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Maintain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single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array</a:t>
            </a:r>
            <a:r>
              <a:rPr sz="24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 Account instead of two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separate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arrays.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96044" y="1634472"/>
            <a:ext cx="1278880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Saving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05743" y="1634472"/>
            <a:ext cx="1421457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8190" y="1704011"/>
            <a:ext cx="2058158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void</a:t>
            </a:r>
            <a:r>
              <a:rPr sz="2000" spc="-25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main(){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8190" y="2045306"/>
            <a:ext cx="6313727" cy="2029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//Array</a:t>
            </a:r>
            <a:r>
              <a:rPr sz="2000" spc="-3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of base pointers</a:t>
            </a:r>
          </a:p>
          <a:p>
            <a:pPr marL="457096" marR="0">
              <a:lnSpc>
                <a:spcPts val="2088"/>
              </a:lnSpc>
              <a:spcBef>
                <a:spcPts val="8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Account</a:t>
            </a:r>
            <a:r>
              <a:rPr sz="2000" spc="-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** alist</a:t>
            </a:r>
            <a:r>
              <a:rPr sz="2000" spc="-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= new</a:t>
            </a:r>
            <a:r>
              <a:rPr sz="2000" spc="-1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Account*[10];</a:t>
            </a:r>
          </a:p>
          <a:p>
            <a:pPr marL="457096" marR="0">
              <a:lnSpc>
                <a:spcPts val="2088"/>
              </a:lnSpc>
              <a:spcBef>
                <a:spcPts val="4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alist[0]</a:t>
            </a:r>
            <a:r>
              <a:rPr sz="2000" spc="-3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= new Saving;</a:t>
            </a:r>
          </a:p>
          <a:p>
            <a:pPr marL="457096" marR="0">
              <a:lnSpc>
                <a:spcPts val="2088"/>
              </a:lnSpc>
              <a:spcBef>
                <a:spcPts val="96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alist[1]</a:t>
            </a:r>
            <a:r>
              <a:rPr sz="2000" spc="-3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= new Current;</a:t>
            </a:r>
          </a:p>
          <a:p>
            <a:pPr marL="457096" marR="0">
              <a:lnSpc>
                <a:spcPts val="2088"/>
              </a:lnSpc>
              <a:spcBef>
                <a:spcPts val="8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alist[2]</a:t>
            </a:r>
            <a:r>
              <a:rPr sz="2000" spc="-3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= new Account;</a:t>
            </a:r>
          </a:p>
          <a:p>
            <a:pPr marL="457096" marR="0">
              <a:lnSpc>
                <a:spcPts val="2088"/>
              </a:lnSpc>
              <a:spcBef>
                <a:spcPts val="9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….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8190" y="3769089"/>
            <a:ext cx="7872562" cy="923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//Print</a:t>
            </a:r>
            <a:r>
              <a:rPr sz="2000" spc="-3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data of all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accounts</a:t>
            </a:r>
            <a:r>
              <a:rPr sz="2000" spc="-25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polymorphic</a:t>
            </a:r>
            <a:r>
              <a:rPr sz="2000" spc="-3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behavior</a:t>
            </a:r>
          </a:p>
          <a:p>
            <a:pPr marL="457096" marR="0">
              <a:lnSpc>
                <a:spcPts val="2088"/>
              </a:lnSpc>
              <a:spcBef>
                <a:spcPts val="9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for(int</a:t>
            </a:r>
            <a:r>
              <a:rPr sz="2000" spc="-4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i=0; i&lt;10</a:t>
            </a:r>
            <a:r>
              <a:rPr sz="2000" spc="-14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;i++)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42637" y="4323662"/>
            <a:ext cx="276085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alist[i]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cs typeface="Consolas"/>
              </a:rPr>
              <a:t>-&gt;</a:t>
            </a: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print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();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8190" y="4940844"/>
            <a:ext cx="6267483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//credit</a:t>
            </a:r>
            <a:r>
              <a:rPr sz="2000" spc="-3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and debit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polymorphic</a:t>
            </a:r>
            <a:r>
              <a:rPr sz="2000" spc="-3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behavior</a:t>
            </a:r>
          </a:p>
          <a:p>
            <a:pPr marL="457096" marR="0">
              <a:lnSpc>
                <a:spcPts val="2088"/>
              </a:lnSpc>
              <a:spcBef>
                <a:spcPts val="84"/>
              </a:spcBef>
              <a:spcAft>
                <a:spcPts val="0"/>
              </a:spcAft>
            </a:pP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alist[0]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cs typeface="Consolas"/>
              </a:rPr>
              <a:t>-&gt;</a:t>
            </a: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credit(50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85287" y="5494144"/>
            <a:ext cx="32188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alist[2]</a:t>
            </a:r>
            <a:r>
              <a:rPr lang="en-US" sz="2000" smtClean="0">
                <a:solidFill>
                  <a:srgbClr val="000000"/>
                </a:solidFill>
                <a:latin typeface="Consolas"/>
                <a:cs typeface="Consolas"/>
              </a:rPr>
              <a:t>-&gt;</a:t>
            </a:r>
            <a:r>
              <a:rPr sz="2000" smtClean="0">
                <a:solidFill>
                  <a:srgbClr val="000000"/>
                </a:solidFill>
                <a:latin typeface="Consolas"/>
                <a:cs typeface="Consolas"/>
              </a:rPr>
              <a:t>debit(333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28190" y="5833913"/>
            <a:ext cx="520929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48315" y="564624"/>
            <a:ext cx="1493639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3365" y="703599"/>
            <a:ext cx="10341892" cy="1474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526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(is-a)</a:t>
            </a:r>
            <a:r>
              <a:rPr sz="4400" spc="-220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3600" b="1" baseline="43" dirty="0">
                <a:solidFill>
                  <a:srgbClr val="FF0000"/>
                </a:solidFill>
                <a:latin typeface="Arial"/>
                <a:cs typeface="Arial"/>
              </a:rPr>
              <a:t>Polymorphism</a:t>
            </a:r>
            <a:r>
              <a:rPr sz="3600" b="1" spc="-350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b="1" baseline="43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4200" b="1" baseline="43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92" marR="0">
              <a:lnSpc>
                <a:spcPts val="2713"/>
              </a:lnSpc>
              <a:spcBef>
                <a:spcPts val="919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600" spc="2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Maintain</a:t>
            </a:r>
            <a:r>
              <a:rPr sz="26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a single</a:t>
            </a:r>
            <a:r>
              <a:rPr sz="26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18" dirty="0">
                <a:solidFill>
                  <a:srgbClr val="000000"/>
                </a:solidFill>
                <a:latin typeface="Calibri"/>
                <a:cs typeface="Calibri"/>
              </a:rPr>
              <a:t>array</a:t>
            </a:r>
            <a:r>
              <a:rPr sz="26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of Account instead</a:t>
            </a:r>
            <a:r>
              <a:rPr sz="26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of two</a:t>
            </a:r>
            <a:r>
              <a:rPr sz="2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0000"/>
                </a:solidFill>
                <a:latin typeface="Calibri"/>
                <a:cs typeface="Calibri"/>
              </a:rPr>
              <a:t>separate</a:t>
            </a:r>
            <a:r>
              <a:rPr sz="26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17" dirty="0">
                <a:solidFill>
                  <a:srgbClr val="000000"/>
                </a:solidFill>
                <a:latin typeface="Calibri"/>
                <a:cs typeface="Calibri"/>
              </a:rPr>
              <a:t>arrays.</a:t>
            </a:r>
          </a:p>
          <a:p>
            <a:pPr marL="0" marR="0">
              <a:lnSpc>
                <a:spcPts val="2088"/>
              </a:lnSpc>
              <a:spcBef>
                <a:spcPts val="1237"/>
              </a:spcBef>
              <a:spcAft>
                <a:spcPts val="0"/>
              </a:spcAft>
            </a:pP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//Destructors</a:t>
            </a:r>
            <a:r>
              <a:rPr sz="2000" spc="-5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show polymorphic</a:t>
            </a:r>
            <a:r>
              <a:rPr sz="2000" spc="-3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behavior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21952" y="1910316"/>
            <a:ext cx="1278880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Saving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31652" y="1910316"/>
            <a:ext cx="1421457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3365" y="2245095"/>
            <a:ext cx="7871098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//Destructors</a:t>
            </a:r>
            <a:r>
              <a:rPr sz="2000" spc="-5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are called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according</a:t>
            </a:r>
            <a:r>
              <a:rPr sz="2000" spc="-43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to object</a:t>
            </a:r>
            <a:r>
              <a:rPr sz="2000" spc="-17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type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3365" y="2645691"/>
            <a:ext cx="4221327" cy="132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//Destroy</a:t>
            </a:r>
            <a:r>
              <a:rPr sz="2000" spc="-43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all</a:t>
            </a:r>
            <a:r>
              <a:rPr sz="2000" spc="-12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accounts</a:t>
            </a:r>
          </a:p>
          <a:p>
            <a:pPr marL="457350" marR="0">
              <a:lnSpc>
                <a:spcPts val="2088"/>
              </a:lnSpc>
              <a:spcBef>
                <a:spcPts val="57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for(int</a:t>
            </a:r>
            <a:r>
              <a:rPr sz="2000" spc="-3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i=0; i&lt;10</a:t>
            </a:r>
            <a:r>
              <a:rPr sz="2000" spc="-14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;i++)</a:t>
            </a:r>
          </a:p>
          <a:p>
            <a:pPr marL="914447" marR="0">
              <a:lnSpc>
                <a:spcPts val="2088"/>
              </a:lnSpc>
              <a:spcBef>
                <a:spcPts val="513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alist[i];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3365" y="4124128"/>
            <a:ext cx="4821623" cy="98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//Deallocate</a:t>
            </a:r>
            <a:r>
              <a:rPr sz="2000" spc="-41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array</a:t>
            </a:r>
            <a:r>
              <a:rPr sz="2000" spc="-18" dirty="0">
                <a:solidFill>
                  <a:srgbClr val="53823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38235"/>
                </a:solidFill>
                <a:latin typeface="Consolas"/>
                <a:cs typeface="Consolas"/>
              </a:rPr>
              <a:t>of pointers</a:t>
            </a:r>
          </a:p>
          <a:p>
            <a:pPr marL="457350" marR="0">
              <a:lnSpc>
                <a:spcPts val="2088"/>
              </a:lnSpc>
              <a:spcBef>
                <a:spcPts val="57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delete</a:t>
            </a:r>
            <a:r>
              <a:rPr sz="2000" spc="-28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[] alist;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82550"/>
            <a:ext cx="12179300" cy="6844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892" y="703599"/>
            <a:ext cx="10930676" cy="1500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88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Inheritance</a:t>
            </a:r>
            <a:r>
              <a:rPr sz="4400" spc="-27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4400" dirty="0">
                <a:solidFill>
                  <a:srgbClr val="000000"/>
                </a:solidFill>
                <a:latin typeface="QCCWQT+CalibriLight"/>
                <a:cs typeface="QCCWQT+CalibriLight"/>
              </a:rPr>
              <a:t>(is-a</a:t>
            </a:r>
            <a:r>
              <a:rPr sz="3200" dirty="0">
                <a:solidFill>
                  <a:srgbClr val="000000"/>
                </a:solidFill>
                <a:latin typeface="QCCWQT+CalibriLight"/>
                <a:cs typeface="QCCWQT+CalibriLight"/>
              </a:rPr>
              <a:t>)</a:t>
            </a:r>
            <a:r>
              <a:rPr sz="3200" spc="-220" dirty="0">
                <a:solidFill>
                  <a:srgbClr val="000000"/>
                </a:solidFill>
                <a:latin typeface="QCCWQT+CalibriLight"/>
                <a:cs typeface="QCCWQT+CalibriLight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Polymorphism</a:t>
            </a:r>
            <a:r>
              <a:rPr sz="3200" b="1" spc="-347" baseline="4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baseline="43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endParaRPr sz="4200" b="1" baseline="43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18" marR="0">
              <a:lnSpc>
                <a:spcPts val="2913"/>
              </a:lnSpc>
              <a:spcBef>
                <a:spcPts val="95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payroll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program</a:t>
            </a:r>
            <a:r>
              <a:rPr sz="28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1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8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3 types</a:t>
            </a:r>
            <a:r>
              <a:rPr sz="28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of employees,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paid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monthly</a:t>
            </a:r>
          </a:p>
          <a:p>
            <a:pPr marL="457424" marR="0">
              <a:lnSpc>
                <a:spcPts val="2500"/>
              </a:lnSpc>
              <a:spcBef>
                <a:spcPts val="7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Salaried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(fixed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salary,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no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matter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the hours)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5316" y="2209020"/>
            <a:ext cx="7428648" cy="1166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Hourly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(overtime [&gt;40 hours] </a:t>
            </a:r>
            <a:r>
              <a:rPr sz="2400" spc="-21" dirty="0">
                <a:solidFill>
                  <a:srgbClr val="000000"/>
                </a:solidFill>
                <a:latin typeface="Calibri"/>
                <a:cs typeface="Calibri"/>
              </a:rPr>
              <a:t>pays</a:t>
            </a:r>
            <a:r>
              <a:rPr sz="24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time and a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half)</a:t>
            </a:r>
          </a:p>
          <a:p>
            <a:pPr marL="0" marR="0">
              <a:lnSpc>
                <a:spcPts val="2500"/>
              </a:lnSpc>
              <a:spcBef>
                <a:spcPts val="58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Commission</a:t>
            </a:r>
            <a:r>
              <a:rPr sz="2400" spc="-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(paid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percentage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 sales)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8116" y="3060623"/>
            <a:ext cx="9043892" cy="954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1.</a:t>
            </a:r>
            <a:r>
              <a:rPr sz="1800" b="1" spc="-25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Each employee’s</a:t>
            </a:r>
            <a:r>
              <a:rPr sz="1800" b="1" spc="41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pay will be calculated</a:t>
            </a:r>
            <a:r>
              <a:rPr sz="1800" b="1" spc="2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in different</a:t>
            </a:r>
            <a:r>
              <a:rPr sz="1800" b="1" spc="23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way.</a:t>
            </a:r>
          </a:p>
          <a:p>
            <a:pPr marL="0" marR="0">
              <a:lnSpc>
                <a:spcPts val="1875"/>
              </a:lnSpc>
              <a:spcBef>
                <a:spcPts val="1015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2.</a:t>
            </a:r>
            <a:r>
              <a:rPr sz="1800" b="1" spc="-25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Override</a:t>
            </a:r>
            <a:r>
              <a:rPr sz="1800" b="1" spc="12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calculatePay</a:t>
            </a:r>
            <a:r>
              <a:rPr sz="1800" b="1" spc="1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function</a:t>
            </a:r>
            <a:r>
              <a:rPr sz="1800" b="1" spc="23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in all employees</a:t>
            </a:r>
            <a:r>
              <a:rPr sz="1800" b="1" spc="2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accordingly.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8116" y="3807459"/>
            <a:ext cx="10242690" cy="884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3.</a:t>
            </a:r>
            <a:r>
              <a:rPr sz="1800" b="1" spc="-25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Convert the binding</a:t>
            </a:r>
            <a:r>
              <a:rPr sz="1800" b="1" spc="2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to Runtime</a:t>
            </a:r>
            <a:r>
              <a:rPr sz="1800" b="1" spc="17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in employee</a:t>
            </a:r>
            <a:r>
              <a:rPr sz="1800" b="1" spc="28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onsolas"/>
                <a:cs typeface="Consolas"/>
              </a:rPr>
              <a:t>class.</a:t>
            </a:r>
          </a:p>
          <a:p>
            <a:pPr marL="7659623" marR="0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5287" y="4242983"/>
            <a:ext cx="4665036" cy="646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virtual</a:t>
            </a:r>
            <a:r>
              <a:rPr sz="20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onsolas"/>
                <a:cs typeface="Consolas"/>
              </a:rPr>
              <a:t>float</a:t>
            </a:r>
            <a:r>
              <a:rPr sz="2000" b="1" spc="-17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onsolas"/>
                <a:cs typeface="Consolas"/>
              </a:rPr>
              <a:t>calculatePay()</a:t>
            </a:r>
            <a:r>
              <a:rPr sz="20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14744" y="5578584"/>
            <a:ext cx="3465764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Commission</a:t>
            </a:r>
            <a:r>
              <a:rPr sz="2400" b="1" spc="294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Salaried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587228" y="5578584"/>
            <a:ext cx="1304736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Hourly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62571" y="5944344"/>
            <a:ext cx="5487888" cy="774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2400" b="1" spc="3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2400" b="1" spc="38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1197</TotalTime>
  <Words>2249</Words>
  <PresentationFormat>Custom</PresentationFormat>
  <Paragraphs>434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SEUTMN+Helvetica</vt:lpstr>
      <vt:lpstr>QCCWQT+CalibriLight</vt:lpstr>
      <vt:lpstr>Courier New</vt:lpstr>
      <vt:lpstr>Arial Unicode MS</vt:lpstr>
      <vt:lpstr>Times New Roman</vt:lpstr>
      <vt:lpstr>Consolas</vt:lpstr>
      <vt:lpstr>Theme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ibrahim nadir</cp:lastModifiedBy>
  <cp:revision>120</cp:revision>
  <dcterms:modified xsi:type="dcterms:W3CDTF">2020-12-06T19:16:20Z</dcterms:modified>
</cp:coreProperties>
</file>