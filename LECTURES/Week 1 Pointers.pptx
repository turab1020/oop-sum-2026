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5" r:id="rId18"/>
    <p:sldId id="276" r:id="rId19"/>
    <p:sldId id="277" r:id="rId20"/>
    <p:sldId id="278" r:id="rId21"/>
    <p:sldId id="273" r:id="rId22"/>
    <p:sldId id="274"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3" r:id="rId37"/>
    <p:sldId id="292" r:id="rId38"/>
    <p:sldId id="296" r:id="rId39"/>
    <p:sldId id="297" r:id="rId40"/>
    <p:sldId id="29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5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B508AC-77B7-4816-B0FA-9CEB6ECC0BD6}" type="datetimeFigureOut">
              <a:rPr lang="en-US" smtClean="0"/>
              <a:t>9/15/2022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46CA8-9395-452A-A848-34B95F48EB3B}" type="slidenum">
              <a:rPr lang="en-US" smtClean="0"/>
              <a:t>‹#›</a:t>
            </a:fld>
            <a:endParaRPr lang="en-US"/>
          </a:p>
        </p:txBody>
      </p:sp>
    </p:spTree>
    <p:extLst>
      <p:ext uri="{BB962C8B-B14F-4D97-AF65-F5344CB8AC3E}">
        <p14:creationId xmlns:p14="http://schemas.microsoft.com/office/powerpoint/2010/main" val="2771196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46CA8-9395-452A-A848-34B95F48EB3B}" type="slidenum">
              <a:rPr lang="en-US" smtClean="0"/>
              <a:t>1</a:t>
            </a:fld>
            <a:endParaRPr lang="en-US"/>
          </a:p>
        </p:txBody>
      </p:sp>
    </p:spTree>
    <p:extLst>
      <p:ext uri="{BB962C8B-B14F-4D97-AF65-F5344CB8AC3E}">
        <p14:creationId xmlns:p14="http://schemas.microsoft.com/office/powerpoint/2010/main" val="1680217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miter lim="800000"/>
            <a:headEnd/>
            <a:tailEnd/>
          </a:ln>
        </p:spPr>
        <p:txBody>
          <a:bodyPr/>
          <a:lstStyle/>
          <a:p>
            <a:fld id="{08F45199-BC01-46A3-AC72-B456B8115A26}" type="slidenum">
              <a:rPr lang="en-US" smtClean="0">
                <a:cs typeface="Arial" pitchFamily="34" charset="0"/>
              </a:rPr>
              <a:pPr/>
              <a:t>3</a:t>
            </a:fld>
            <a:endParaRPr lang="en-US" smtClean="0">
              <a:cs typeface="Arial" pitchFamily="3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pPr eaLnBrk="1" hangingPunct="1"/>
            <a:endParaRPr lang="en-US" smtClean="0">
              <a:cs typeface="Arial" pitchFamily="34" charset="0"/>
            </a:endParaRPr>
          </a:p>
        </p:txBody>
      </p:sp>
    </p:spTree>
    <p:extLst>
      <p:ext uri="{BB962C8B-B14F-4D97-AF65-F5344CB8AC3E}">
        <p14:creationId xmlns:p14="http://schemas.microsoft.com/office/powerpoint/2010/main" val="1437845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46CA8-9395-452A-A848-34B95F48EB3B}" type="slidenum">
              <a:rPr lang="en-US" smtClean="0"/>
              <a:t>6</a:t>
            </a:fld>
            <a:endParaRPr lang="en-US"/>
          </a:p>
        </p:txBody>
      </p:sp>
    </p:spTree>
    <p:extLst>
      <p:ext uri="{BB962C8B-B14F-4D97-AF65-F5344CB8AC3E}">
        <p14:creationId xmlns:p14="http://schemas.microsoft.com/office/powerpoint/2010/main" val="2577554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miter lim="800000"/>
            <a:headEnd/>
            <a:tailEnd/>
          </a:ln>
        </p:spPr>
        <p:txBody>
          <a:bodyPr/>
          <a:lstStyle/>
          <a:p>
            <a:fld id="{5B156A0C-05EF-457B-9B62-A0A621308EE0}" type="slidenum">
              <a:rPr lang="en-US" smtClean="0">
                <a:cs typeface="Arial" pitchFamily="34" charset="0"/>
              </a:rPr>
              <a:pPr/>
              <a:t>13</a:t>
            </a:fld>
            <a:endParaRPr lang="en-US" smtClean="0">
              <a:cs typeface="Arial"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endParaRPr lang="en-US" smtClean="0">
              <a:cs typeface="Arial" pitchFamily="34" charset="0"/>
            </a:endParaRPr>
          </a:p>
        </p:txBody>
      </p:sp>
    </p:spTree>
    <p:extLst>
      <p:ext uri="{BB962C8B-B14F-4D97-AF65-F5344CB8AC3E}">
        <p14:creationId xmlns:p14="http://schemas.microsoft.com/office/powerpoint/2010/main" val="1238550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a:t>
            </a:r>
            <a:r>
              <a:rPr lang="en-US" dirty="0" err="1"/>
              <a:t>sum+A</a:t>
            </a:r>
            <a:r>
              <a:rPr lang="en-US" dirty="0"/>
              <a:t>[</a:t>
            </a:r>
            <a:r>
              <a:rPr lang="en-US" dirty="0" err="1"/>
              <a:t>i</a:t>
            </a:r>
            <a:r>
              <a:rPr lang="en-US" dirty="0"/>
              <a:t>]</a:t>
            </a:r>
          </a:p>
        </p:txBody>
      </p:sp>
      <p:sp>
        <p:nvSpPr>
          <p:cNvPr id="4" name="Slide Number Placeholder 3"/>
          <p:cNvSpPr>
            <a:spLocks noGrp="1"/>
          </p:cNvSpPr>
          <p:nvPr>
            <p:ph type="sldNum" sz="quarter" idx="10"/>
          </p:nvPr>
        </p:nvSpPr>
        <p:spPr/>
        <p:txBody>
          <a:bodyPr/>
          <a:lstStyle/>
          <a:p>
            <a:fld id="{7A5CD257-9886-403F-BF56-EFEB94012F85}" type="slidenum">
              <a:rPr lang="en-US" smtClean="0"/>
              <a:t>36</a:t>
            </a:fld>
            <a:endParaRPr lang="en-US"/>
          </a:p>
        </p:txBody>
      </p:sp>
    </p:spTree>
    <p:extLst>
      <p:ext uri="{BB962C8B-B14F-4D97-AF65-F5344CB8AC3E}">
        <p14:creationId xmlns:p14="http://schemas.microsoft.com/office/powerpoint/2010/main" val="3327136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FFE0C39-2DCE-4C9F-AC45-E7929D6D9A93}"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503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9A2F96-788D-4588-AB17-3A44EA55C435}"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3316696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0113A3-B05F-4C1D-8806-D79061BA33CF}"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56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6D7D03-B1BC-4A91-8E19-1622F21639EE}" type="datetime1">
              <a:rPr lang="en-US" smtClean="0"/>
              <a:t>9/15/2022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
        <p:nvSpPr>
          <p:cNvPr id="7" name="Slide Number Placeholder 6"/>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4140775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2E547E1-F03C-4CA5-A187-A2CD32497235}" type="datetime1">
              <a:rPr lang="en-US" smtClean="0"/>
              <a:t>9/15/2022</a:t>
            </a:fld>
            <a:endParaRPr lang="en-US"/>
          </a:p>
        </p:txBody>
      </p:sp>
      <p:sp>
        <p:nvSpPr>
          <p:cNvPr id="8" name="Footer Placeholder 7"/>
          <p:cNvSpPr>
            <a:spLocks noGrp="1"/>
          </p:cNvSpPr>
          <p:nvPr>
            <p:ph type="ftr" sz="quarter" idx="11"/>
          </p:nvPr>
        </p:nvSpPr>
        <p:spPr/>
        <p:txBody>
          <a:bodyPr/>
          <a:lstStyle/>
          <a:p>
            <a:r>
              <a:rPr lang="en-US" smtClean="0"/>
              <a:t>Designed by Ms Anosha Khan</a:t>
            </a:r>
            <a:endParaRPr lang="en-US"/>
          </a:p>
        </p:txBody>
      </p:sp>
      <p:sp>
        <p:nvSpPr>
          <p:cNvPr id="9" name="Slide Number Placeholder 8"/>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3689490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860D697-C8C7-4492-9984-1A4E247002F5}" type="datetime1">
              <a:rPr lang="en-US" smtClean="0"/>
              <a:t>9/15/2022</a:t>
            </a:fld>
            <a:endParaRPr lang="en-US"/>
          </a:p>
        </p:txBody>
      </p:sp>
      <p:sp>
        <p:nvSpPr>
          <p:cNvPr id="4" name="Footer Placeholder 3"/>
          <p:cNvSpPr>
            <a:spLocks noGrp="1"/>
          </p:cNvSpPr>
          <p:nvPr>
            <p:ph type="ftr" sz="quarter" idx="11"/>
          </p:nvPr>
        </p:nvSpPr>
        <p:spPr/>
        <p:txBody>
          <a:bodyPr/>
          <a:lstStyle/>
          <a:p>
            <a:r>
              <a:rPr lang="en-US" smtClean="0"/>
              <a:t>Designed by Ms Anosha Khan</a:t>
            </a:r>
            <a:endParaRPr lang="en-US"/>
          </a:p>
        </p:txBody>
      </p:sp>
      <p:sp>
        <p:nvSpPr>
          <p:cNvPr id="5" name="Slide Number Placeholder 4"/>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2324618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B828AA6-91C9-48F1-BB4F-3027BDF2CB0D}" type="datetime1">
              <a:rPr lang="en-US" smtClean="0"/>
              <a:t>9/15/2022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Designed by Ms Anosha Khan</a:t>
            </a:r>
            <a:endParaRPr lang="en-US"/>
          </a:p>
        </p:txBody>
      </p:sp>
      <p:sp>
        <p:nvSpPr>
          <p:cNvPr id="9" name="Slide Number Placeholder 8"/>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3963244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D052471-02D2-4A5A-81BE-69AD32B213FE}" type="datetime1">
              <a:rPr lang="en-US" smtClean="0"/>
              <a:t>9/15/2022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Designed by Ms Anosha Khan</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1C66BDA-7DC2-4E71-B5DC-5DAF0934BE3E}" type="slidenum">
              <a:rPr lang="en-US" smtClean="0"/>
              <a:t>‹#›</a:t>
            </a:fld>
            <a:endParaRPr lang="en-US"/>
          </a:p>
        </p:txBody>
      </p:sp>
    </p:spTree>
    <p:extLst>
      <p:ext uri="{BB962C8B-B14F-4D97-AF65-F5344CB8AC3E}">
        <p14:creationId xmlns:p14="http://schemas.microsoft.com/office/powerpoint/2010/main" val="3255041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1A9C42-64CE-4847-A8E0-638DBBFC2833}" type="datetime1">
              <a:rPr lang="en-US" smtClean="0"/>
              <a:t>9/15/2022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
        <p:nvSpPr>
          <p:cNvPr id="7" name="Slide Number Placeholder 6"/>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987851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2D1230-C5E4-4EF9-B5F9-698980CF2ACC}"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1804613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AF68D4-129F-4DBD-8502-95C1D9A95087}"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a:t>
            </a:fld>
            <a:endParaRPr lang="en-US"/>
          </a:p>
        </p:txBody>
      </p:sp>
    </p:spTree>
    <p:extLst>
      <p:ext uri="{BB962C8B-B14F-4D97-AF65-F5344CB8AC3E}">
        <p14:creationId xmlns:p14="http://schemas.microsoft.com/office/powerpoint/2010/main" val="977119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6AE88DB-FED4-4897-B3FE-27893782CDFB}" type="datetime1">
              <a:rPr lang="en-US" smtClean="0"/>
              <a:t>9/15/2022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Designed by Ms Anosha Khan</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1C66BDA-7DC2-4E71-B5DC-5DAF0934BE3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5327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Pointers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71413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sz="6000" dirty="0" smtClean="0"/>
              <a:t>Introduction to Pointers</a:t>
            </a:r>
          </a:p>
        </p:txBody>
      </p:sp>
      <p:sp>
        <p:nvSpPr>
          <p:cNvPr id="5123" name="Rectangle 3"/>
          <p:cNvSpPr>
            <a:spLocks noGrp="1" noChangeArrowheads="1"/>
          </p:cNvSpPr>
          <p:nvPr>
            <p:ph type="body" idx="1"/>
          </p:nvPr>
        </p:nvSpPr>
        <p:spPr/>
        <p:txBody>
          <a:bodyPr>
            <a:noAutofit/>
          </a:bodyPr>
          <a:lstStyle/>
          <a:p>
            <a:pPr eaLnBrk="1" hangingPunct="1"/>
            <a:r>
              <a:rPr lang="en-US" sz="2800" dirty="0"/>
              <a:t>When we declare a variable some memory is allocated for it. The memory location can be referenced through the identifier “</a:t>
            </a:r>
            <a:r>
              <a:rPr lang="en-US" sz="2800" dirty="0" err="1"/>
              <a:t>i</a:t>
            </a:r>
            <a:r>
              <a:rPr lang="en-US" sz="2800" dirty="0"/>
              <a:t>”. Thus, we have two properties for any variable : its address and its data value. The address of the variable can be accessed through the referencing operator “&amp;”. “&amp;</a:t>
            </a:r>
            <a:r>
              <a:rPr lang="en-US" sz="2800" dirty="0" err="1"/>
              <a:t>i</a:t>
            </a:r>
            <a:r>
              <a:rPr lang="en-US" sz="2800" dirty="0"/>
              <a:t>” gives the memory location where the data value for “</a:t>
            </a:r>
            <a:r>
              <a:rPr lang="en-US" sz="2800" dirty="0" err="1"/>
              <a:t>i</a:t>
            </a:r>
            <a:r>
              <a:rPr lang="en-US" sz="2800" dirty="0"/>
              <a:t>” is stored.</a:t>
            </a:r>
          </a:p>
        </p:txBody>
      </p:sp>
      <p:sp>
        <p:nvSpPr>
          <p:cNvPr id="4" name="Date Placeholder 3"/>
          <p:cNvSpPr>
            <a:spLocks noGrp="1"/>
          </p:cNvSpPr>
          <p:nvPr>
            <p:ph type="dt" sz="half" idx="10"/>
          </p:nvPr>
        </p:nvSpPr>
        <p:spPr/>
        <p:txBody>
          <a:bodyPr/>
          <a:lstStyle/>
          <a:p>
            <a:fld id="{B1949852-30DE-499B-B3C2-EDD05A0428F1}" type="datetime1">
              <a:rPr lang="en-US" smtClean="0"/>
              <a:t>9/15/2022</a:t>
            </a:fld>
            <a:endParaRPr lang="en-US"/>
          </a:p>
        </p:txBody>
      </p:sp>
      <p:sp>
        <p:nvSpPr>
          <p:cNvPr id="5" name="Slide Number Placeholder 4"/>
          <p:cNvSpPr>
            <a:spLocks noGrp="1"/>
          </p:cNvSpPr>
          <p:nvPr>
            <p:ph type="sldNum" sz="quarter" idx="12"/>
          </p:nvPr>
        </p:nvSpPr>
        <p:spPr/>
        <p:txBody>
          <a:bodyPr/>
          <a:lstStyle/>
          <a:p>
            <a:fld id="{A04D1FF3-96D2-4F17-898C-74B5120CFF37}"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31460040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97012DB2-6FA9-43FC-A348-1C4B1CF8194C}" type="slidenum">
              <a:rPr lang="en-US"/>
              <a:pPr>
                <a:defRPr/>
              </a:pPr>
              <a:t>3</a:t>
            </a:fld>
            <a:endParaRPr lang="en-US"/>
          </a:p>
        </p:txBody>
      </p:sp>
      <p:sp>
        <p:nvSpPr>
          <p:cNvPr id="4099" name="Rectangle 2"/>
          <p:cNvSpPr>
            <a:spLocks noGrp="1" noChangeArrowheads="1"/>
          </p:cNvSpPr>
          <p:nvPr>
            <p:ph type="title"/>
          </p:nvPr>
        </p:nvSpPr>
        <p:spPr>
          <a:xfrm>
            <a:off x="1250830" y="794493"/>
            <a:ext cx="7239000" cy="899160"/>
          </a:xfrm>
        </p:spPr>
        <p:txBody>
          <a:bodyPr>
            <a:normAutofit/>
          </a:bodyPr>
          <a:lstStyle/>
          <a:p>
            <a:pPr eaLnBrk="1" hangingPunct="1"/>
            <a:r>
              <a:rPr lang="en-US" dirty="0"/>
              <a:t>Pointers </a:t>
            </a:r>
          </a:p>
        </p:txBody>
      </p:sp>
      <p:sp>
        <p:nvSpPr>
          <p:cNvPr id="4100" name="Rectangle 3"/>
          <p:cNvSpPr>
            <a:spLocks noGrp="1" noChangeArrowheads="1"/>
          </p:cNvSpPr>
          <p:nvPr>
            <p:ph type="body" idx="1"/>
          </p:nvPr>
        </p:nvSpPr>
        <p:spPr>
          <a:xfrm>
            <a:off x="1250829" y="1837426"/>
            <a:ext cx="10196423" cy="4639574"/>
          </a:xfrm>
        </p:spPr>
        <p:txBody>
          <a:bodyPr>
            <a:normAutofit/>
          </a:bodyPr>
          <a:lstStyle/>
          <a:p>
            <a:pPr eaLnBrk="1" hangingPunct="1"/>
            <a:r>
              <a:rPr lang="en-US" sz="2800" dirty="0"/>
              <a:t>What is pointer?</a:t>
            </a:r>
          </a:p>
          <a:p>
            <a:pPr lvl="1" eaLnBrk="1" hangingPunct="1"/>
            <a:r>
              <a:rPr lang="en-US" sz="2400" dirty="0"/>
              <a:t>A variable that can hold an </a:t>
            </a:r>
            <a:r>
              <a:rPr lang="en-US" sz="2400" b="1" i="1" dirty="0"/>
              <a:t>Address</a:t>
            </a:r>
          </a:p>
          <a:p>
            <a:pPr lvl="1"/>
            <a:r>
              <a:rPr lang="en-US" sz="2400" dirty="0"/>
              <a:t>A pointer variable is one that stores an address. We can declare pointers as follows int* p; .This means that p stores the address of a variable of type int.</a:t>
            </a:r>
          </a:p>
          <a:p>
            <a:pPr eaLnBrk="1" hangingPunct="1"/>
            <a:r>
              <a:rPr lang="en-US" sz="2800" dirty="0"/>
              <a:t>Related operators:</a:t>
            </a:r>
          </a:p>
          <a:p>
            <a:pPr lvl="1" eaLnBrk="1" hangingPunct="1"/>
            <a:r>
              <a:rPr lang="en-US" sz="4000" b="1" dirty="0">
                <a:solidFill>
                  <a:srgbClr val="FF0000"/>
                </a:solidFill>
              </a:rPr>
              <a:t>*</a:t>
            </a:r>
            <a:r>
              <a:rPr lang="en-US" sz="2400" dirty="0"/>
              <a:t> : can be used in two ways</a:t>
            </a:r>
          </a:p>
          <a:p>
            <a:pPr lvl="2" eaLnBrk="1" hangingPunct="1"/>
            <a:r>
              <a:rPr lang="en-US" sz="2400" dirty="0"/>
              <a:t>In declaration : read as </a:t>
            </a:r>
            <a:r>
              <a:rPr lang="en-US" sz="2400" b="1" i="1" dirty="0"/>
              <a:t>pointer</a:t>
            </a:r>
            <a:r>
              <a:rPr lang="en-US" sz="2400" dirty="0"/>
              <a:t>, e.g., int *p;</a:t>
            </a:r>
          </a:p>
          <a:p>
            <a:pPr lvl="2" eaLnBrk="1" hangingPunct="1"/>
            <a:r>
              <a:rPr lang="en-US" sz="2400" dirty="0"/>
              <a:t>In accessing : read as </a:t>
            </a:r>
            <a:r>
              <a:rPr lang="en-US" sz="2400" b="1" i="1" dirty="0"/>
              <a:t>content of</a:t>
            </a:r>
            <a:r>
              <a:rPr lang="en-US" sz="2400" dirty="0"/>
              <a:t>, e.g., x = *p;</a:t>
            </a:r>
          </a:p>
          <a:p>
            <a:pPr lvl="1" eaLnBrk="1" hangingPunct="1"/>
            <a:r>
              <a:rPr lang="en-US" sz="2400" b="1" dirty="0">
                <a:solidFill>
                  <a:srgbClr val="FF0000"/>
                </a:solidFill>
              </a:rPr>
              <a:t>&amp;</a:t>
            </a:r>
            <a:r>
              <a:rPr lang="en-US" sz="2400" dirty="0"/>
              <a:t> : returns </a:t>
            </a:r>
            <a:r>
              <a:rPr lang="en-US" sz="2400" dirty="0" err="1"/>
              <a:t>LValue</a:t>
            </a:r>
            <a:r>
              <a:rPr lang="en-US" sz="2400" dirty="0"/>
              <a:t> (address) of a variable</a:t>
            </a:r>
          </a:p>
          <a:p>
            <a:pPr lvl="2" eaLnBrk="1" hangingPunct="1"/>
            <a:r>
              <a:rPr lang="en-US" sz="2400" dirty="0"/>
              <a:t>Read as </a:t>
            </a:r>
            <a:r>
              <a:rPr lang="en-US" sz="2400" b="1" i="1" dirty="0"/>
              <a:t>address of</a:t>
            </a:r>
            <a:endParaRPr lang="en-US" sz="2400" dirty="0"/>
          </a:p>
        </p:txBody>
      </p:sp>
      <p:sp>
        <p:nvSpPr>
          <p:cNvPr id="5" name="Date Placeholder 4"/>
          <p:cNvSpPr>
            <a:spLocks noGrp="1"/>
          </p:cNvSpPr>
          <p:nvPr>
            <p:ph type="dt" sz="half" idx="10"/>
          </p:nvPr>
        </p:nvSpPr>
        <p:spPr/>
        <p:txBody>
          <a:bodyPr/>
          <a:lstStyle/>
          <a:p>
            <a:fld id="{5512D46A-BD6A-4698-9B8F-4CAB6D58E706}" type="datetime1">
              <a:rPr lang="en-US" smtClean="0"/>
              <a:t>9/15/2022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36205181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p:txBody>
          <a:bodyPr>
            <a:normAutofit/>
          </a:bodyPr>
          <a:lstStyle/>
          <a:p>
            <a:pPr eaLnBrk="1" hangingPunct="1"/>
            <a:r>
              <a:rPr lang="en-US" dirty="0" smtClean="0"/>
              <a:t>Declaring Pointer Variables</a:t>
            </a:r>
          </a:p>
        </p:txBody>
      </p:sp>
      <p:sp>
        <p:nvSpPr>
          <p:cNvPr id="8197" name="Rectangle 6"/>
          <p:cNvSpPr>
            <a:spLocks noGrp="1" noChangeArrowheads="1"/>
          </p:cNvSpPr>
          <p:nvPr>
            <p:ph idx="1"/>
          </p:nvPr>
        </p:nvSpPr>
        <p:spPr/>
        <p:txBody>
          <a:bodyPr rtlCol="0">
            <a:normAutofit/>
          </a:bodyPr>
          <a:lstStyle/>
          <a:p>
            <a:pPr>
              <a:spcAft>
                <a:spcPts val="0"/>
              </a:spcAft>
              <a:buFont typeface="Arial" pitchFamily="34" charset="0"/>
              <a:buChar char="•"/>
              <a:defRPr/>
            </a:pPr>
            <a:r>
              <a:rPr lang="en-US" sz="2800" dirty="0"/>
              <a:t>Syntax:</a:t>
            </a:r>
          </a:p>
          <a:p>
            <a:pPr lvl="1">
              <a:lnSpc>
                <a:spcPct val="30000"/>
              </a:lnSpc>
              <a:spcAft>
                <a:spcPts val="0"/>
              </a:spcAft>
              <a:buNone/>
              <a:defRPr/>
            </a:pPr>
            <a:endParaRPr lang="en-US" sz="2400" dirty="0"/>
          </a:p>
          <a:p>
            <a:pPr lvl="1">
              <a:spcAft>
                <a:spcPts val="0"/>
              </a:spcAft>
              <a:buFont typeface="Arial" pitchFamily="34" charset="0"/>
              <a:buChar char="–"/>
              <a:defRPr/>
            </a:pPr>
            <a:endParaRPr lang="en-US" sz="2400" dirty="0"/>
          </a:p>
          <a:p>
            <a:pPr>
              <a:spcAft>
                <a:spcPts val="0"/>
              </a:spcAft>
              <a:buFont typeface="Arial" pitchFamily="34" charset="0"/>
              <a:buChar char="•"/>
              <a:defRPr/>
            </a:pPr>
            <a:r>
              <a:rPr lang="en-US" sz="2800" dirty="0"/>
              <a:t>Examples:</a:t>
            </a:r>
          </a:p>
          <a:p>
            <a:pPr lvl="1">
              <a:spcAft>
                <a:spcPts val="0"/>
              </a:spcAft>
              <a:buNone/>
              <a:defRPr/>
            </a:pPr>
            <a:r>
              <a:rPr lang="en-US" sz="2400" dirty="0">
                <a:latin typeface="Courier New" pitchFamily="49" charset="0"/>
              </a:rPr>
              <a:t>int *p;</a:t>
            </a:r>
          </a:p>
          <a:p>
            <a:pPr lvl="1">
              <a:spcAft>
                <a:spcPts val="0"/>
              </a:spcAft>
              <a:buNone/>
              <a:defRPr/>
            </a:pPr>
            <a:r>
              <a:rPr lang="en-US" sz="2400" dirty="0">
                <a:latin typeface="Courier New" pitchFamily="49" charset="0"/>
              </a:rPr>
              <a:t>char *</a:t>
            </a:r>
            <a:r>
              <a:rPr lang="en-US" sz="2400" dirty="0" err="1">
                <a:latin typeface="Courier New" pitchFamily="49" charset="0"/>
              </a:rPr>
              <a:t>ch</a:t>
            </a:r>
            <a:r>
              <a:rPr lang="en-US" sz="2400" dirty="0">
                <a:latin typeface="Courier New" pitchFamily="49" charset="0"/>
              </a:rPr>
              <a:t>;</a:t>
            </a:r>
          </a:p>
          <a:p>
            <a:pPr>
              <a:spcAft>
                <a:spcPts val="0"/>
              </a:spcAft>
              <a:buFont typeface="Arial" pitchFamily="34" charset="0"/>
              <a:buChar char="•"/>
              <a:defRPr/>
            </a:pPr>
            <a:r>
              <a:rPr lang="en-US" sz="2800" dirty="0"/>
              <a:t>These statements are equivalent:</a:t>
            </a:r>
          </a:p>
          <a:p>
            <a:pPr lvl="1">
              <a:spcAft>
                <a:spcPts val="0"/>
              </a:spcAft>
              <a:buNone/>
              <a:defRPr/>
            </a:pPr>
            <a:r>
              <a:rPr lang="en-US" sz="2400" dirty="0">
                <a:latin typeface="Courier New" pitchFamily="49" charset="0"/>
              </a:rPr>
              <a:t>int  *p;</a:t>
            </a:r>
          </a:p>
          <a:p>
            <a:pPr lvl="1">
              <a:spcAft>
                <a:spcPts val="0"/>
              </a:spcAft>
              <a:buNone/>
              <a:defRPr/>
            </a:pPr>
            <a:r>
              <a:rPr lang="en-US" sz="2400" dirty="0">
                <a:latin typeface="Courier New" pitchFamily="49" charset="0"/>
              </a:rPr>
              <a:t>int*  p; </a:t>
            </a:r>
          </a:p>
          <a:p>
            <a:pPr lvl="1">
              <a:spcAft>
                <a:spcPts val="0"/>
              </a:spcAft>
              <a:buNone/>
              <a:defRPr/>
            </a:pPr>
            <a:r>
              <a:rPr lang="en-US" sz="2400" dirty="0">
                <a:latin typeface="Courier New" pitchFamily="49" charset="0"/>
              </a:rPr>
              <a:t>int * p;</a:t>
            </a:r>
          </a:p>
        </p:txBody>
      </p:sp>
      <p:sp>
        <p:nvSpPr>
          <p:cNvPr id="7172" name="Footer Placeholder 4"/>
          <p:cNvSpPr>
            <a:spLocks noGrp="1"/>
          </p:cNvSpPr>
          <p:nvPr>
            <p:ph type="ftr" sz="quarter" idx="11"/>
          </p:nvPr>
        </p:nvSpPr>
        <p:spPr bwMode="auto">
          <a:noFill/>
          <a:ln>
            <a:miter lim="800000"/>
            <a:headEnd/>
            <a:tailEnd/>
          </a:ln>
        </p:spPr>
        <p:txBody>
          <a:bodyPr/>
          <a:lstStyle/>
          <a:p>
            <a:r>
              <a:rPr lang="en-US" smtClean="0"/>
              <a:t>Designed by Ms Anosha Khan</a:t>
            </a:r>
            <a:endParaRPr lang="en-US" smtClean="0"/>
          </a:p>
        </p:txBody>
      </p:sp>
      <p:sp>
        <p:nvSpPr>
          <p:cNvPr id="8195" name="Slide Number Placeholder 5"/>
          <p:cNvSpPr>
            <a:spLocks noGrp="1"/>
          </p:cNvSpPr>
          <p:nvPr>
            <p:ph type="sldNum" sz="quarter" idx="12"/>
          </p:nvPr>
        </p:nvSpPr>
        <p:spPr/>
        <p:txBody>
          <a:bodyPr/>
          <a:lstStyle/>
          <a:p>
            <a:pPr>
              <a:defRPr/>
            </a:pPr>
            <a:fld id="{E3C9A57A-2811-4DA2-BB96-6BB3AE69749D}" type="slidenum">
              <a:rPr lang="en-US"/>
              <a:pPr>
                <a:defRPr/>
              </a:pPr>
              <a:t>4</a:t>
            </a:fld>
            <a:endParaRPr lang="en-US"/>
          </a:p>
        </p:txBody>
      </p:sp>
      <p:pic>
        <p:nvPicPr>
          <p:cNvPr id="7174" name="Picture 7"/>
          <p:cNvPicPr>
            <a:picLocks noChangeAspect="1" noChangeArrowheads="1"/>
          </p:cNvPicPr>
          <p:nvPr/>
        </p:nvPicPr>
        <p:blipFill>
          <a:blip r:embed="rId2"/>
          <a:srcRect/>
          <a:stretch>
            <a:fillRect/>
          </a:stretch>
        </p:blipFill>
        <p:spPr bwMode="auto">
          <a:xfrm>
            <a:off x="3581401" y="2133600"/>
            <a:ext cx="3609975" cy="647700"/>
          </a:xfrm>
          <a:prstGeom prst="rect">
            <a:avLst/>
          </a:prstGeom>
          <a:noFill/>
          <a:ln w="9525">
            <a:noFill/>
            <a:miter lim="800000"/>
            <a:headEnd/>
            <a:tailEnd/>
          </a:ln>
        </p:spPr>
      </p:pic>
      <p:grpSp>
        <p:nvGrpSpPr>
          <p:cNvPr id="7" name="Group 46"/>
          <p:cNvGrpSpPr>
            <a:grpSpLocks/>
          </p:cNvGrpSpPr>
          <p:nvPr/>
        </p:nvGrpSpPr>
        <p:grpSpPr bwMode="auto">
          <a:xfrm>
            <a:off x="7239000" y="2133600"/>
            <a:ext cx="2327488" cy="762000"/>
            <a:chOff x="2544" y="1824"/>
            <a:chExt cx="1020" cy="346"/>
          </a:xfrm>
        </p:grpSpPr>
        <p:sp>
          <p:nvSpPr>
            <p:cNvPr id="8" name="Rectangle 23"/>
            <p:cNvSpPr>
              <a:spLocks noChangeArrowheads="1"/>
            </p:cNvSpPr>
            <p:nvPr/>
          </p:nvSpPr>
          <p:spPr bwMode="auto">
            <a:xfrm>
              <a:off x="3212" y="1824"/>
              <a:ext cx="309" cy="104"/>
            </a:xfrm>
            <a:prstGeom prst="rect">
              <a:avLst/>
            </a:prstGeom>
            <a:noFill/>
            <a:ln w="0">
              <a:noFill/>
              <a:miter lim="800000"/>
              <a:headEnd/>
              <a:tailEnd/>
            </a:ln>
          </p:spPr>
          <p:txBody>
            <a:bodyPr lIns="0" tIns="0" rIns="0" bIns="0"/>
            <a:lstStyle/>
            <a:p>
              <a:pPr eaLnBrk="1" hangingPunct="1">
                <a:spcBef>
                  <a:spcPct val="0"/>
                </a:spcBef>
              </a:pPr>
              <a:r>
                <a:rPr lang="en-US" b="1" dirty="0">
                  <a:latin typeface="Courier New" pitchFamily="49" charset="0"/>
                  <a:cs typeface="Courier New" pitchFamily="49" charset="0"/>
                </a:rPr>
                <a:t>count</a:t>
              </a:r>
              <a:endParaRPr lang="en-US" dirty="0">
                <a:latin typeface="Courier New" pitchFamily="49" charset="0"/>
              </a:endParaRPr>
            </a:p>
            <a:p>
              <a:pPr>
                <a:spcBef>
                  <a:spcPct val="0"/>
                </a:spcBef>
              </a:pPr>
              <a:endParaRPr lang="en-US" dirty="0">
                <a:latin typeface="Courier New" pitchFamily="49" charset="0"/>
              </a:endParaRPr>
            </a:p>
          </p:txBody>
        </p:sp>
        <p:grpSp>
          <p:nvGrpSpPr>
            <p:cNvPr id="9" name="Group 20"/>
            <p:cNvGrpSpPr>
              <a:grpSpLocks/>
            </p:cNvGrpSpPr>
            <p:nvPr/>
          </p:nvGrpSpPr>
          <p:grpSpPr bwMode="auto">
            <a:xfrm>
              <a:off x="3245" y="1928"/>
              <a:ext cx="319" cy="240"/>
              <a:chOff x="-5124" y="-182"/>
              <a:chExt cx="20000" cy="19999"/>
            </a:xfrm>
          </p:grpSpPr>
          <p:sp>
            <p:nvSpPr>
              <p:cNvPr id="16" name="Freeform 22"/>
              <p:cNvSpPr>
                <a:spLocks/>
              </p:cNvSpPr>
              <p:nvPr/>
            </p:nvSpPr>
            <p:spPr bwMode="auto">
              <a:xfrm>
                <a:off x="-5124" y="-182"/>
                <a:ext cx="20000" cy="19999"/>
              </a:xfrm>
              <a:custGeom>
                <a:avLst/>
                <a:gdLst>
                  <a:gd name="T0" fmla="*/ 19967 w 20000"/>
                  <a:gd name="T1" fmla="*/ 0 h 20000"/>
                  <a:gd name="T2" fmla="*/ 19967 w 20000"/>
                  <a:gd name="T3" fmla="*/ 19967 h 20000"/>
                  <a:gd name="T4" fmla="*/ 0 w 20000"/>
                  <a:gd name="T5" fmla="*/ 19967 h 20000"/>
                  <a:gd name="T6" fmla="*/ 0 w 20000"/>
                  <a:gd name="T7" fmla="*/ 0 h 20000"/>
                  <a:gd name="T8" fmla="*/ 1996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67" y="0"/>
                    </a:moveTo>
                    <a:lnTo>
                      <a:pt x="19967" y="19967"/>
                    </a:lnTo>
                    <a:lnTo>
                      <a:pt x="0" y="19967"/>
                    </a:lnTo>
                    <a:lnTo>
                      <a:pt x="0" y="0"/>
                    </a:lnTo>
                    <a:lnTo>
                      <a:pt x="19967" y="0"/>
                    </a:lnTo>
                    <a:close/>
                  </a:path>
                </a:pathLst>
              </a:custGeom>
              <a:solidFill>
                <a:schemeClr val="accent1"/>
              </a:solidFill>
              <a:ln w="3175">
                <a:solidFill>
                  <a:srgbClr val="000000"/>
                </a:solidFill>
                <a:round/>
                <a:headEnd/>
                <a:tailEnd/>
              </a:ln>
            </p:spPr>
            <p:txBody>
              <a:bodyPr/>
              <a:lstStyle/>
              <a:p>
                <a:endParaRPr lang="en-US"/>
              </a:p>
            </p:txBody>
          </p:sp>
          <p:sp>
            <p:nvSpPr>
              <p:cNvPr id="17" name="Rectangle 21"/>
              <p:cNvSpPr>
                <a:spLocks noChangeArrowheads="1"/>
              </p:cNvSpPr>
              <p:nvPr/>
            </p:nvSpPr>
            <p:spPr bwMode="auto">
              <a:xfrm>
                <a:off x="3268" y="6385"/>
                <a:ext cx="4969" cy="8700"/>
              </a:xfrm>
              <a:prstGeom prst="rect">
                <a:avLst/>
              </a:prstGeom>
              <a:solidFill>
                <a:schemeClr val="accent1"/>
              </a:solidFill>
              <a:ln w="0">
                <a:noFill/>
                <a:miter lim="800000"/>
                <a:headEnd/>
                <a:tailEnd/>
              </a:ln>
            </p:spPr>
            <p:txBody>
              <a:bodyPr lIns="0" tIns="0" rIns="0" bIns="0"/>
              <a:lstStyle/>
              <a:p>
                <a:pPr eaLnBrk="1" hangingPunct="1">
                  <a:spcBef>
                    <a:spcPct val="0"/>
                  </a:spcBef>
                </a:pPr>
                <a:r>
                  <a:rPr lang="en-US" b="1" dirty="0">
                    <a:latin typeface="Courier New" pitchFamily="49" charset="0"/>
                    <a:cs typeface="Courier New" pitchFamily="49" charset="0"/>
                  </a:rPr>
                  <a:t>7</a:t>
                </a:r>
                <a:endParaRPr lang="en-US" dirty="0">
                  <a:latin typeface="Courier New" pitchFamily="49" charset="0"/>
                </a:endParaRPr>
              </a:p>
              <a:p>
                <a:pPr>
                  <a:spcBef>
                    <a:spcPct val="0"/>
                  </a:spcBef>
                </a:pPr>
                <a:endParaRPr lang="en-US" dirty="0">
                  <a:latin typeface="Courier New" pitchFamily="49" charset="0"/>
                </a:endParaRPr>
              </a:p>
            </p:txBody>
          </p:sp>
        </p:grpSp>
        <p:grpSp>
          <p:nvGrpSpPr>
            <p:cNvPr id="10" name="Group 45"/>
            <p:cNvGrpSpPr>
              <a:grpSpLocks/>
            </p:cNvGrpSpPr>
            <p:nvPr/>
          </p:nvGrpSpPr>
          <p:grpSpPr bwMode="auto">
            <a:xfrm>
              <a:off x="2544" y="1824"/>
              <a:ext cx="701" cy="346"/>
              <a:chOff x="2544" y="1824"/>
              <a:chExt cx="701" cy="346"/>
            </a:xfrm>
          </p:grpSpPr>
          <p:grpSp>
            <p:nvGrpSpPr>
              <p:cNvPr id="11" name="Group 44"/>
              <p:cNvGrpSpPr>
                <a:grpSpLocks/>
              </p:cNvGrpSpPr>
              <p:nvPr/>
            </p:nvGrpSpPr>
            <p:grpSpPr bwMode="auto">
              <a:xfrm>
                <a:off x="2544" y="1824"/>
                <a:ext cx="481" cy="346"/>
                <a:chOff x="2544" y="1824"/>
                <a:chExt cx="481" cy="346"/>
              </a:xfrm>
            </p:grpSpPr>
            <p:sp>
              <p:nvSpPr>
                <p:cNvPr id="13" name="Rectangle 18"/>
                <p:cNvSpPr>
                  <a:spLocks noChangeArrowheads="1"/>
                </p:cNvSpPr>
                <p:nvPr/>
              </p:nvSpPr>
              <p:spPr bwMode="auto">
                <a:xfrm>
                  <a:off x="2544" y="1824"/>
                  <a:ext cx="481" cy="104"/>
                </a:xfrm>
                <a:prstGeom prst="rect">
                  <a:avLst/>
                </a:prstGeom>
                <a:noFill/>
                <a:ln w="0">
                  <a:noFill/>
                  <a:miter lim="800000"/>
                  <a:headEnd/>
                  <a:tailEnd/>
                </a:ln>
              </p:spPr>
              <p:txBody>
                <a:bodyPr lIns="0" tIns="0" rIns="0" bIns="0"/>
                <a:lstStyle/>
                <a:p>
                  <a:pPr eaLnBrk="1" hangingPunct="1">
                    <a:spcBef>
                      <a:spcPct val="0"/>
                    </a:spcBef>
                  </a:pPr>
                  <a:r>
                    <a:rPr lang="en-US" b="1">
                      <a:latin typeface="Courier New" pitchFamily="49" charset="0"/>
                      <a:cs typeface="Courier New" pitchFamily="49" charset="0"/>
                    </a:rPr>
                    <a:t>countPtr</a:t>
                  </a:r>
                  <a:endParaRPr lang="en-US">
                    <a:latin typeface="Courier New" pitchFamily="49" charset="0"/>
                  </a:endParaRPr>
                </a:p>
                <a:p>
                  <a:pPr>
                    <a:spcBef>
                      <a:spcPct val="0"/>
                    </a:spcBef>
                  </a:pPr>
                  <a:endParaRPr lang="en-US">
                    <a:latin typeface="Courier New" pitchFamily="49" charset="0"/>
                  </a:endParaRPr>
                </a:p>
              </p:txBody>
            </p:sp>
            <p:sp>
              <p:nvSpPr>
                <p:cNvPr id="14" name="Freeform 17"/>
                <p:cNvSpPr>
                  <a:spLocks/>
                </p:cNvSpPr>
                <p:nvPr/>
              </p:nvSpPr>
              <p:spPr bwMode="auto">
                <a:xfrm>
                  <a:off x="2625" y="1930"/>
                  <a:ext cx="319" cy="240"/>
                </a:xfrm>
                <a:custGeom>
                  <a:avLst/>
                  <a:gdLst>
                    <a:gd name="T0" fmla="*/ 19967 w 20000"/>
                    <a:gd name="T1" fmla="*/ 0 h 20000"/>
                    <a:gd name="T2" fmla="*/ 19967 w 20000"/>
                    <a:gd name="T3" fmla="*/ 19967 h 20000"/>
                    <a:gd name="T4" fmla="*/ 0 w 20000"/>
                    <a:gd name="T5" fmla="*/ 19967 h 20000"/>
                    <a:gd name="T6" fmla="*/ 0 w 20000"/>
                    <a:gd name="T7" fmla="*/ 0 h 20000"/>
                    <a:gd name="T8" fmla="*/ 1996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67" y="0"/>
                      </a:moveTo>
                      <a:lnTo>
                        <a:pt x="19967" y="19967"/>
                      </a:lnTo>
                      <a:lnTo>
                        <a:pt x="0" y="19967"/>
                      </a:lnTo>
                      <a:lnTo>
                        <a:pt x="0" y="0"/>
                      </a:lnTo>
                      <a:lnTo>
                        <a:pt x="19967" y="0"/>
                      </a:lnTo>
                      <a:close/>
                    </a:path>
                  </a:pathLst>
                </a:custGeom>
                <a:solidFill>
                  <a:schemeClr val="hlink"/>
                </a:solidFill>
                <a:ln w="3175">
                  <a:solidFill>
                    <a:srgbClr val="000000"/>
                  </a:solidFill>
                  <a:round/>
                  <a:headEnd/>
                  <a:tailEnd/>
                </a:ln>
              </p:spPr>
              <p:txBody>
                <a:bodyPr/>
                <a:lstStyle/>
                <a:p>
                  <a:endParaRPr lang="en-US"/>
                </a:p>
              </p:txBody>
            </p:sp>
            <p:sp>
              <p:nvSpPr>
                <p:cNvPr id="15" name="Oval 16"/>
                <p:cNvSpPr>
                  <a:spLocks noChangeArrowheads="1"/>
                </p:cNvSpPr>
                <p:nvPr/>
              </p:nvSpPr>
              <p:spPr bwMode="auto">
                <a:xfrm>
                  <a:off x="2752" y="2026"/>
                  <a:ext cx="64" cy="48"/>
                </a:xfrm>
                <a:prstGeom prst="ellipse">
                  <a:avLst/>
                </a:prstGeom>
                <a:solidFill>
                  <a:schemeClr val="tx2"/>
                </a:solidFill>
                <a:ln w="3175">
                  <a:solidFill>
                    <a:srgbClr val="000000"/>
                  </a:solidFill>
                  <a:round/>
                  <a:headEnd/>
                  <a:tailEnd/>
                </a:ln>
              </p:spPr>
              <p:txBody>
                <a:bodyPr/>
                <a:lstStyle/>
                <a:p>
                  <a:endParaRPr lang="en-US"/>
                </a:p>
              </p:txBody>
            </p:sp>
          </p:grpSp>
          <p:sp>
            <p:nvSpPr>
              <p:cNvPr id="12" name="Freeform 13"/>
              <p:cNvSpPr>
                <a:spLocks/>
              </p:cNvSpPr>
              <p:nvPr/>
            </p:nvSpPr>
            <p:spPr bwMode="auto">
              <a:xfrm flipV="1">
                <a:off x="2817" y="2031"/>
                <a:ext cx="428" cy="21"/>
              </a:xfrm>
              <a:custGeom>
                <a:avLst/>
                <a:gdLst>
                  <a:gd name="T0" fmla="*/ 19979 w 20000"/>
                  <a:gd name="T1" fmla="*/ 0 h 20000"/>
                  <a:gd name="T2" fmla="*/ 0 w 20000"/>
                  <a:gd name="T3" fmla="*/ 0 h 20000"/>
                  <a:gd name="T4" fmla="*/ 0 60000 65536"/>
                  <a:gd name="T5" fmla="*/ 0 60000 65536"/>
                  <a:gd name="T6" fmla="*/ 0 w 20000"/>
                  <a:gd name="T7" fmla="*/ 0 h 20000"/>
                  <a:gd name="T8" fmla="*/ 20000 w 20000"/>
                  <a:gd name="T9" fmla="*/ 0 h 20000"/>
                </a:gdLst>
                <a:ahLst/>
                <a:cxnLst>
                  <a:cxn ang="T4">
                    <a:pos x="T0" y="T1"/>
                  </a:cxn>
                  <a:cxn ang="T5">
                    <a:pos x="T2" y="T3"/>
                  </a:cxn>
                </a:cxnLst>
                <a:rect l="T6" t="T7" r="T8" b="T9"/>
                <a:pathLst>
                  <a:path w="20000" h="20000">
                    <a:moveTo>
                      <a:pt x="19979" y="0"/>
                    </a:moveTo>
                    <a:lnTo>
                      <a:pt x="0" y="0"/>
                    </a:lnTo>
                  </a:path>
                </a:pathLst>
              </a:custGeom>
              <a:solidFill>
                <a:srgbClr val="000000"/>
              </a:solidFill>
              <a:ln w="3175">
                <a:solidFill>
                  <a:srgbClr val="000000"/>
                </a:solidFill>
                <a:round/>
                <a:headEnd type="triangle" w="med" len="sm"/>
                <a:tailEnd/>
              </a:ln>
            </p:spPr>
            <p:txBody>
              <a:bodyPr/>
              <a:lstStyle/>
              <a:p>
                <a:endParaRPr lang="en-US"/>
              </a:p>
            </p:txBody>
          </p:sp>
        </p:grpSp>
      </p:grpSp>
      <p:sp>
        <p:nvSpPr>
          <p:cNvPr id="18" name="Date Placeholder 17"/>
          <p:cNvSpPr>
            <a:spLocks noGrp="1"/>
          </p:cNvSpPr>
          <p:nvPr>
            <p:ph type="dt" sz="half" idx="10"/>
          </p:nvPr>
        </p:nvSpPr>
        <p:spPr/>
        <p:txBody>
          <a:bodyPr/>
          <a:lstStyle/>
          <a:p>
            <a:fld id="{AC9FA909-EFA8-44FB-8E1A-5B01BA7E54D0}" type="datetime1">
              <a:rPr lang="en-US" smtClean="0"/>
              <a:t>9/15/2022</a:t>
            </a:fld>
            <a:endParaRPr lang="en-US"/>
          </a:p>
        </p:txBody>
      </p:sp>
    </p:spTree>
    <p:extLst>
      <p:ext uri="{BB962C8B-B14F-4D97-AF65-F5344CB8AC3E}">
        <p14:creationId xmlns:p14="http://schemas.microsoft.com/office/powerpoint/2010/main" val="30605134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Autofit/>
          </a:bodyPr>
          <a:lstStyle/>
          <a:p>
            <a:pPr eaLnBrk="1" hangingPunct="1"/>
            <a:r>
              <a:rPr lang="en-US" dirty="0"/>
              <a:t>Pointer Variable Declarations and Initialization</a:t>
            </a:r>
          </a:p>
        </p:txBody>
      </p:sp>
      <p:sp>
        <p:nvSpPr>
          <p:cNvPr id="6147" name="Rectangle 3"/>
          <p:cNvSpPr>
            <a:spLocks noGrp="1" noChangeArrowheads="1"/>
          </p:cNvSpPr>
          <p:nvPr>
            <p:ph type="body" idx="1"/>
          </p:nvPr>
        </p:nvSpPr>
        <p:spPr>
          <a:xfrm>
            <a:off x="1097280" y="1863306"/>
            <a:ext cx="8884920" cy="4613694"/>
          </a:xfrm>
        </p:spPr>
        <p:txBody>
          <a:bodyPr/>
          <a:lstStyle/>
          <a:p>
            <a:pPr eaLnBrk="1" hangingPunct="1"/>
            <a:r>
              <a:rPr lang="en-US" sz="3200" dirty="0"/>
              <a:t>Pointer declarations</a:t>
            </a:r>
          </a:p>
          <a:p>
            <a:pPr lvl="1" eaLnBrk="1" hangingPunct="1"/>
            <a:r>
              <a:rPr lang="en-US" sz="2400" b="1" dirty="0">
                <a:latin typeface="Courier New" pitchFamily="49" charset="0"/>
              </a:rPr>
              <a:t>*</a:t>
            </a:r>
            <a:r>
              <a:rPr lang="en-US" sz="2400" dirty="0"/>
              <a:t> used with pointer variables</a:t>
            </a:r>
          </a:p>
          <a:p>
            <a:pPr lvl="1" eaLnBrk="1" hangingPunct="1">
              <a:buFontTx/>
              <a:buNone/>
            </a:pPr>
            <a:r>
              <a:rPr lang="en-US" sz="2400" dirty="0"/>
              <a:t>	</a:t>
            </a:r>
            <a:r>
              <a:rPr lang="en-US" sz="2400" b="1" dirty="0">
                <a:latin typeface="Courier New" pitchFamily="49" charset="0"/>
              </a:rPr>
              <a:t>int *</a:t>
            </a:r>
            <a:r>
              <a:rPr lang="en-US" sz="2400" b="1" dirty="0" err="1">
                <a:latin typeface="Courier New" pitchFamily="49" charset="0"/>
              </a:rPr>
              <a:t>myPtr</a:t>
            </a:r>
            <a:r>
              <a:rPr lang="en-US" sz="2400" b="1" dirty="0">
                <a:latin typeface="Courier New" pitchFamily="49" charset="0"/>
              </a:rPr>
              <a:t>;</a:t>
            </a:r>
            <a:r>
              <a:rPr lang="en-US" sz="2400" dirty="0">
                <a:latin typeface="Courier New" pitchFamily="49" charset="0"/>
              </a:rPr>
              <a:t> </a:t>
            </a:r>
          </a:p>
          <a:p>
            <a:pPr lvl="1" eaLnBrk="1" hangingPunct="1"/>
            <a:r>
              <a:rPr lang="en-US" sz="2400" dirty="0"/>
              <a:t>Declares a pointer to an </a:t>
            </a:r>
            <a:r>
              <a:rPr lang="en-US" sz="2400" b="1" dirty="0">
                <a:latin typeface="Courier New" pitchFamily="49" charset="0"/>
              </a:rPr>
              <a:t>int</a:t>
            </a:r>
            <a:r>
              <a:rPr lang="en-US" sz="2400" b="1" dirty="0"/>
              <a:t> </a:t>
            </a:r>
            <a:r>
              <a:rPr lang="en-US" sz="2400" dirty="0"/>
              <a:t>(pointer of type </a:t>
            </a:r>
            <a:r>
              <a:rPr lang="en-US" sz="2400" b="1" dirty="0">
                <a:latin typeface="Courier New" pitchFamily="49" charset="0"/>
              </a:rPr>
              <a:t>int *</a:t>
            </a:r>
            <a:r>
              <a:rPr lang="en-US" sz="2400" dirty="0">
                <a:latin typeface="Courier New" pitchFamily="49" charset="0"/>
              </a:rPr>
              <a:t>)</a:t>
            </a:r>
          </a:p>
          <a:p>
            <a:pPr lvl="1" eaLnBrk="1" hangingPunct="1"/>
            <a:r>
              <a:rPr lang="en-US" sz="2400" dirty="0"/>
              <a:t>Multiple pointers, multiple </a:t>
            </a:r>
            <a:r>
              <a:rPr lang="en-US" sz="2400" b="1" dirty="0">
                <a:latin typeface="Courier New" pitchFamily="49" charset="0"/>
              </a:rPr>
              <a:t>*</a:t>
            </a:r>
            <a:r>
              <a:rPr lang="en-US" sz="2400" dirty="0"/>
              <a:t>  </a:t>
            </a:r>
          </a:p>
          <a:p>
            <a:pPr lvl="1" eaLnBrk="1" hangingPunct="1">
              <a:buFontTx/>
              <a:buNone/>
            </a:pPr>
            <a:r>
              <a:rPr lang="en-US" sz="2400" b="1" dirty="0">
                <a:latin typeface="Courier New" pitchFamily="49" charset="0"/>
              </a:rPr>
              <a:t>	int *myPtr1, *myPtr2;</a:t>
            </a:r>
          </a:p>
          <a:p>
            <a:pPr lvl="1" eaLnBrk="1" hangingPunct="1"/>
            <a:r>
              <a:rPr lang="en-US" sz="2400" dirty="0"/>
              <a:t>Can declare pointers to any data type</a:t>
            </a:r>
          </a:p>
          <a:p>
            <a:pPr lvl="1" eaLnBrk="1" hangingPunct="1"/>
            <a:r>
              <a:rPr lang="en-US" sz="2400" dirty="0"/>
              <a:t>Initialize pointers to </a:t>
            </a:r>
            <a:r>
              <a:rPr lang="en-US" sz="2400" b="1" dirty="0">
                <a:latin typeface="Courier New" pitchFamily="49" charset="0"/>
              </a:rPr>
              <a:t>0</a:t>
            </a:r>
            <a:r>
              <a:rPr lang="en-US" sz="2400" dirty="0"/>
              <a:t>, </a:t>
            </a:r>
            <a:r>
              <a:rPr lang="en-US" sz="2400" b="1" dirty="0">
                <a:latin typeface="Courier New" pitchFamily="49" charset="0"/>
              </a:rPr>
              <a:t>NULL</a:t>
            </a:r>
            <a:r>
              <a:rPr lang="en-US" sz="2400" dirty="0"/>
              <a:t>, or an address</a:t>
            </a:r>
          </a:p>
          <a:p>
            <a:pPr lvl="2" eaLnBrk="1" hangingPunct="1"/>
            <a:r>
              <a:rPr lang="en-US" sz="2400" b="1" dirty="0">
                <a:latin typeface="Courier New" pitchFamily="49" charset="0"/>
              </a:rPr>
              <a:t>0</a:t>
            </a:r>
            <a:r>
              <a:rPr lang="en-US" sz="2400" dirty="0"/>
              <a:t> or </a:t>
            </a:r>
            <a:r>
              <a:rPr lang="en-US" sz="2400" b="1" dirty="0">
                <a:latin typeface="Courier New" pitchFamily="49" charset="0"/>
              </a:rPr>
              <a:t>NULL</a:t>
            </a:r>
            <a:r>
              <a:rPr lang="en-US" sz="2400" dirty="0"/>
              <a:t> - points to nothing (</a:t>
            </a:r>
            <a:r>
              <a:rPr lang="en-US" sz="2400" b="1" dirty="0">
                <a:latin typeface="Courier New" pitchFamily="49" charset="0"/>
              </a:rPr>
              <a:t>NULL</a:t>
            </a:r>
            <a:r>
              <a:rPr lang="en-US" sz="2400" dirty="0"/>
              <a:t> preferred)</a:t>
            </a:r>
          </a:p>
          <a:p>
            <a:pPr lvl="2" eaLnBrk="1" hangingPunct="1">
              <a:buFontTx/>
              <a:buNone/>
            </a:pPr>
            <a:endParaRPr lang="en-US" sz="2000" dirty="0">
              <a:latin typeface="Courier New" pitchFamily="49" charset="0"/>
            </a:endParaRPr>
          </a:p>
        </p:txBody>
      </p:sp>
      <p:sp>
        <p:nvSpPr>
          <p:cNvPr id="6148" name="Rectangle 15"/>
          <p:cNvSpPr>
            <a:spLocks noChangeArrowheads="1"/>
          </p:cNvSpPr>
          <p:nvPr/>
        </p:nvSpPr>
        <p:spPr bwMode="auto">
          <a:xfrm>
            <a:off x="7559676" y="3070225"/>
            <a:ext cx="1508125" cy="412750"/>
          </a:xfrm>
          <a:prstGeom prst="rect">
            <a:avLst/>
          </a:prstGeom>
          <a:noFill/>
          <a:ln w="0">
            <a:noFill/>
            <a:miter lim="800000"/>
            <a:headEnd/>
            <a:tailEnd/>
          </a:ln>
        </p:spPr>
        <p:txBody>
          <a:bodyPr lIns="0" tIns="0" rIns="0" bIns="0"/>
          <a:lstStyle/>
          <a:p>
            <a:pPr>
              <a:spcBef>
                <a:spcPct val="0"/>
              </a:spcBef>
            </a:pPr>
            <a:endParaRPr lang="en-US">
              <a:latin typeface="Courier New" pitchFamily="49" charset="0"/>
            </a:endParaRPr>
          </a:p>
        </p:txBody>
      </p:sp>
      <p:sp>
        <p:nvSpPr>
          <p:cNvPr id="6149" name="Rectangle 16"/>
          <p:cNvSpPr>
            <a:spLocks noChangeArrowheads="1"/>
          </p:cNvSpPr>
          <p:nvPr/>
        </p:nvSpPr>
        <p:spPr bwMode="auto">
          <a:xfrm>
            <a:off x="1524000" y="1946275"/>
            <a:ext cx="5486400" cy="369332"/>
          </a:xfrm>
          <a:prstGeom prst="rect">
            <a:avLst/>
          </a:prstGeom>
          <a:noFill/>
          <a:ln w="9525">
            <a:noFill/>
            <a:miter lim="800000"/>
            <a:headEnd/>
            <a:tailEnd/>
          </a:ln>
        </p:spPr>
        <p:txBody>
          <a:bodyPr>
            <a:spAutoFit/>
          </a:bodyPr>
          <a:lstStyle/>
          <a:p>
            <a:endParaRPr lang="en-US"/>
          </a:p>
        </p:txBody>
      </p:sp>
      <p:sp>
        <p:nvSpPr>
          <p:cNvPr id="6" name="Date Placeholder 5"/>
          <p:cNvSpPr>
            <a:spLocks noGrp="1"/>
          </p:cNvSpPr>
          <p:nvPr>
            <p:ph type="dt" sz="half" idx="10"/>
          </p:nvPr>
        </p:nvSpPr>
        <p:spPr/>
        <p:txBody>
          <a:bodyPr/>
          <a:lstStyle/>
          <a:p>
            <a:fld id="{BA6481E1-3AAE-45BE-8CFB-011B5982A3DA}" type="datetime1">
              <a:rPr lang="en-US" smtClean="0"/>
              <a:t>9/15/2022</a:t>
            </a:fld>
            <a:endParaRPr lang="en-US"/>
          </a:p>
        </p:txBody>
      </p:sp>
      <p:sp>
        <p:nvSpPr>
          <p:cNvPr id="7" name="Slide Number Placeholder 6"/>
          <p:cNvSpPr>
            <a:spLocks noGrp="1"/>
          </p:cNvSpPr>
          <p:nvPr>
            <p:ph type="sldNum" sz="quarter" idx="12"/>
          </p:nvPr>
        </p:nvSpPr>
        <p:spPr/>
        <p:txBody>
          <a:bodyPr/>
          <a:lstStyle/>
          <a:p>
            <a:fld id="{A04D1FF3-96D2-4F17-898C-74B5120CFF37}" type="slidenum">
              <a:rPr lang="en-US" smtClean="0"/>
              <a:pPr/>
              <a:t>5</a:t>
            </a:fld>
            <a:endParaRPr lang="en-US"/>
          </a:p>
        </p:txBody>
      </p:sp>
      <p:sp>
        <p:nvSpPr>
          <p:cNvPr id="8" name="Footer Placeholder 7"/>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7497975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dirty="0" smtClean="0"/>
              <a:t>Assignment of Pointer Variables</a:t>
            </a:r>
          </a:p>
        </p:txBody>
      </p:sp>
      <p:sp>
        <p:nvSpPr>
          <p:cNvPr id="65539" name="Rectangle 3"/>
          <p:cNvSpPr>
            <a:spLocks noGrp="1" noChangeArrowheads="1"/>
          </p:cNvSpPr>
          <p:nvPr>
            <p:ph idx="1"/>
          </p:nvPr>
        </p:nvSpPr>
        <p:spPr>
          <a:xfrm>
            <a:off x="1097280" y="1837426"/>
            <a:ext cx="8884920" cy="4106174"/>
          </a:xfrm>
        </p:spPr>
        <p:txBody>
          <a:bodyPr vert="horz" lIns="0" tIns="45720" rIns="0" bIns="45720" rtlCol="0">
            <a:noAutofit/>
          </a:bodyPr>
          <a:lstStyle/>
          <a:p>
            <a:pPr marL="274320" indent="-274320">
              <a:spcAft>
                <a:spcPts val="0"/>
              </a:spcAft>
              <a:buClr>
                <a:schemeClr val="accent3"/>
              </a:buClr>
              <a:buFont typeface="Wingdings 2"/>
              <a:buChar char=""/>
              <a:defRPr/>
            </a:pPr>
            <a:r>
              <a:rPr lang="en-US" sz="3200" dirty="0"/>
              <a:t>A pointer variable has to be assigned a valid memory address before it can be used in the program</a:t>
            </a:r>
          </a:p>
          <a:p>
            <a:pPr marL="274320" indent="-274320">
              <a:spcAft>
                <a:spcPts val="0"/>
              </a:spcAft>
              <a:buClr>
                <a:schemeClr val="accent3"/>
              </a:buClr>
              <a:buFont typeface="Wingdings 2"/>
              <a:buChar char=""/>
              <a:defRPr/>
            </a:pPr>
            <a:r>
              <a:rPr lang="en-US" sz="3200" dirty="0"/>
              <a:t>Example:</a:t>
            </a:r>
          </a:p>
          <a:p>
            <a:pPr lvl="2" indent="-246888">
              <a:spcAft>
                <a:spcPts val="0"/>
              </a:spcAft>
              <a:buNone/>
              <a:defRPr/>
            </a:pPr>
            <a:r>
              <a:rPr lang="en-US" sz="1600" b="1" dirty="0">
                <a:solidFill>
                  <a:schemeClr val="tx2"/>
                </a:solidFill>
                <a:latin typeface="Courier New" pitchFamily="49" charset="0"/>
              </a:rPr>
              <a:t>  float data = 50.8;</a:t>
            </a:r>
          </a:p>
          <a:p>
            <a:pPr lvl="2" indent="-246888">
              <a:spcAft>
                <a:spcPts val="0"/>
              </a:spcAft>
              <a:buNone/>
              <a:defRPr/>
            </a:pPr>
            <a:r>
              <a:rPr lang="en-US" sz="1600" b="1" dirty="0">
                <a:solidFill>
                  <a:schemeClr val="tx2"/>
                </a:solidFill>
                <a:latin typeface="Courier New" pitchFamily="49" charset="0"/>
              </a:rPr>
              <a:t>  float *</a:t>
            </a:r>
            <a:r>
              <a:rPr lang="en-US" sz="1600" b="1" dirty="0" err="1">
                <a:solidFill>
                  <a:schemeClr val="tx2"/>
                </a:solidFill>
                <a:latin typeface="Courier New" pitchFamily="49" charset="0"/>
              </a:rPr>
              <a:t>ptr</a:t>
            </a:r>
            <a:r>
              <a:rPr lang="en-US" sz="1600" b="1" dirty="0">
                <a:solidFill>
                  <a:schemeClr val="tx2"/>
                </a:solidFill>
                <a:latin typeface="Courier New" pitchFamily="49" charset="0"/>
              </a:rPr>
              <a:t>;</a:t>
            </a:r>
          </a:p>
          <a:p>
            <a:pPr lvl="2" indent="-246888">
              <a:spcAft>
                <a:spcPts val="0"/>
              </a:spcAft>
              <a:buNone/>
              <a:defRPr/>
            </a:pPr>
            <a:r>
              <a:rPr lang="en-US" sz="1600" b="1" dirty="0">
                <a:solidFill>
                  <a:schemeClr val="tx2"/>
                </a:solidFill>
                <a:latin typeface="Courier New" pitchFamily="49" charset="0"/>
              </a:rPr>
              <a:t>  </a:t>
            </a:r>
            <a:r>
              <a:rPr lang="en-US" sz="1600" b="1" dirty="0" err="1">
                <a:solidFill>
                  <a:schemeClr val="tx2"/>
                </a:solidFill>
                <a:latin typeface="Courier New" pitchFamily="49" charset="0"/>
              </a:rPr>
              <a:t>ptr</a:t>
            </a:r>
            <a:r>
              <a:rPr lang="en-US" sz="1600" b="1" dirty="0">
                <a:solidFill>
                  <a:schemeClr val="tx2"/>
                </a:solidFill>
                <a:latin typeface="Courier New" pitchFamily="49" charset="0"/>
              </a:rPr>
              <a:t> = &amp;data;</a:t>
            </a:r>
          </a:p>
          <a:p>
            <a:pPr marL="640080" lvl="1" indent="-246888">
              <a:spcAft>
                <a:spcPts val="0"/>
              </a:spcAft>
              <a:buFont typeface="Wingdings 2"/>
              <a:buChar char=""/>
              <a:defRPr/>
            </a:pPr>
            <a:r>
              <a:rPr lang="en-US" sz="2000" dirty="0"/>
              <a:t>This will assign the address of the memory location allocated for the floating point variable </a:t>
            </a:r>
            <a:r>
              <a:rPr lang="en-US" sz="2000" b="1" dirty="0">
                <a:solidFill>
                  <a:schemeClr val="tx2"/>
                </a:solidFill>
                <a:latin typeface="Courier New" pitchFamily="49" charset="0"/>
              </a:rPr>
              <a:t>data</a:t>
            </a:r>
            <a:r>
              <a:rPr lang="en-US" sz="2000" dirty="0"/>
              <a:t> to the pointer variable </a:t>
            </a:r>
            <a:r>
              <a:rPr lang="en-US" sz="2000" b="1" dirty="0" err="1">
                <a:solidFill>
                  <a:schemeClr val="tx2"/>
                </a:solidFill>
                <a:latin typeface="Courier New" pitchFamily="49" charset="0"/>
              </a:rPr>
              <a:t>ptr</a:t>
            </a:r>
            <a:r>
              <a:rPr lang="en-US" sz="2000" dirty="0"/>
              <a:t>. This is OK, since the variable </a:t>
            </a:r>
            <a:r>
              <a:rPr lang="en-US" sz="2000" b="1" dirty="0">
                <a:solidFill>
                  <a:schemeClr val="tx2"/>
                </a:solidFill>
                <a:latin typeface="Courier New" pitchFamily="49" charset="0"/>
              </a:rPr>
              <a:t>data</a:t>
            </a:r>
            <a:r>
              <a:rPr lang="en-US" sz="2000" dirty="0"/>
              <a:t> has already been allocated some memory space having a valid address</a:t>
            </a:r>
          </a:p>
        </p:txBody>
      </p:sp>
      <p:sp>
        <p:nvSpPr>
          <p:cNvPr id="5" name="Footer Placeholder 5"/>
          <p:cNvSpPr>
            <a:spLocks noGrp="1"/>
          </p:cNvSpPr>
          <p:nvPr>
            <p:ph type="ftr" sz="quarter" idx="11"/>
          </p:nvPr>
        </p:nvSpPr>
        <p:spPr/>
        <p:txBody>
          <a:bodyPr/>
          <a:lstStyle/>
          <a:p>
            <a:pPr>
              <a:defRPr/>
            </a:pPr>
            <a:r>
              <a:rPr lang="en-US" smtClean="0"/>
              <a:t>Designed by Ms Anosha Khan</a:t>
            </a:r>
            <a:endParaRPr lang="en-US"/>
          </a:p>
        </p:txBody>
      </p:sp>
      <p:sp>
        <p:nvSpPr>
          <p:cNvPr id="6" name="Slide Number Placeholder 5"/>
          <p:cNvSpPr>
            <a:spLocks noGrp="1"/>
          </p:cNvSpPr>
          <p:nvPr>
            <p:ph type="sldNum" sz="quarter" idx="12"/>
          </p:nvPr>
        </p:nvSpPr>
        <p:spPr/>
        <p:txBody>
          <a:bodyPr/>
          <a:lstStyle/>
          <a:p>
            <a:pPr>
              <a:defRPr/>
            </a:pPr>
            <a:fld id="{C2892B1C-468E-41F4-92C8-67DBC0A88998}" type="slidenum">
              <a:rPr lang="en-US"/>
              <a:pPr>
                <a:defRPr/>
              </a:pPr>
              <a:t>6</a:t>
            </a:fld>
            <a:endParaRPr lang="en-US"/>
          </a:p>
        </p:txBody>
      </p:sp>
      <p:sp>
        <p:nvSpPr>
          <p:cNvPr id="7" name="Date Placeholder 6"/>
          <p:cNvSpPr>
            <a:spLocks noGrp="1"/>
          </p:cNvSpPr>
          <p:nvPr>
            <p:ph type="dt" sz="half" idx="10"/>
          </p:nvPr>
        </p:nvSpPr>
        <p:spPr/>
        <p:txBody>
          <a:bodyPr/>
          <a:lstStyle/>
          <a:p>
            <a:fld id="{002D3D90-A60F-4A0F-B8EF-B412B617BABB}" type="datetime1">
              <a:rPr lang="en-US" smtClean="0"/>
              <a:t>9/15/2022</a:t>
            </a:fld>
            <a:endParaRPr lang="en-US"/>
          </a:p>
        </p:txBody>
      </p:sp>
    </p:spTree>
    <p:extLst>
      <p:ext uri="{BB962C8B-B14F-4D97-AF65-F5344CB8AC3E}">
        <p14:creationId xmlns:p14="http://schemas.microsoft.com/office/powerpoint/2010/main" val="297021955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5539">
                                            <p:txEl>
                                              <p:pRg st="1" end="1"/>
                                            </p:txEl>
                                          </p:spTgt>
                                        </p:tgtEl>
                                        <p:attrNameLst>
                                          <p:attrName>style.visibility</p:attrName>
                                        </p:attrNameLst>
                                      </p:cBhvr>
                                      <p:to>
                                        <p:strVal val="visible"/>
                                      </p:to>
                                    </p:set>
                                    <p:animEffect transition="in" filter="wipe(left)">
                                      <p:cBhvr>
                                        <p:cTn id="13" dur="500"/>
                                        <p:tgtEl>
                                          <p:spTgt spid="65539">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5539">
                                            <p:txEl>
                                              <p:pRg st="2" end="2"/>
                                            </p:txEl>
                                          </p:spTgt>
                                        </p:tgtEl>
                                        <p:attrNameLst>
                                          <p:attrName>style.visibility</p:attrName>
                                        </p:attrNameLst>
                                      </p:cBhvr>
                                      <p:to>
                                        <p:strVal val="visible"/>
                                      </p:to>
                                    </p:set>
                                    <p:animEffect transition="in" filter="wipe(left)">
                                      <p:cBhvr>
                                        <p:cTn id="16" dur="500"/>
                                        <p:tgtEl>
                                          <p:spTgt spid="65539">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5539">
                                            <p:txEl>
                                              <p:pRg st="3" end="3"/>
                                            </p:txEl>
                                          </p:spTgt>
                                        </p:tgtEl>
                                        <p:attrNameLst>
                                          <p:attrName>style.visibility</p:attrName>
                                        </p:attrNameLst>
                                      </p:cBhvr>
                                      <p:to>
                                        <p:strVal val="visible"/>
                                      </p:to>
                                    </p:set>
                                    <p:animEffect transition="in" filter="wipe(left)">
                                      <p:cBhvr>
                                        <p:cTn id="19" dur="500"/>
                                        <p:tgtEl>
                                          <p:spTgt spid="65539">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5539">
                                            <p:txEl>
                                              <p:pRg st="4" end="4"/>
                                            </p:txEl>
                                          </p:spTgt>
                                        </p:tgtEl>
                                        <p:attrNameLst>
                                          <p:attrName>style.visibility</p:attrName>
                                        </p:attrNameLst>
                                      </p:cBhvr>
                                      <p:to>
                                        <p:strVal val="visible"/>
                                      </p:to>
                                    </p:set>
                                    <p:animEffect transition="in" filter="wipe(left)">
                                      <p:cBhvr>
                                        <p:cTn id="22" dur="500"/>
                                        <p:tgtEl>
                                          <p:spTgt spid="6553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5539">
                                            <p:txEl>
                                              <p:pRg st="5" end="5"/>
                                            </p:txEl>
                                          </p:spTgt>
                                        </p:tgtEl>
                                        <p:attrNameLst>
                                          <p:attrName>style.visibility</p:attrName>
                                        </p:attrNameLst>
                                      </p:cBhvr>
                                      <p:to>
                                        <p:strVal val="visible"/>
                                      </p:to>
                                    </p:set>
                                    <p:anim calcmode="lin" valueType="num">
                                      <p:cBhvr additive="base">
                                        <p:cTn id="27" dur="500" fill="hold"/>
                                        <p:tgtEl>
                                          <p:spTgt spid="6553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55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normAutofit/>
          </a:bodyPr>
          <a:lstStyle/>
          <a:p>
            <a:pPr>
              <a:defRPr/>
            </a:pPr>
            <a:r>
              <a:rPr lang="en-US"/>
              <a:t>Assignment of Pointer Variables (Cont ..)</a:t>
            </a:r>
          </a:p>
        </p:txBody>
      </p:sp>
      <p:sp>
        <p:nvSpPr>
          <p:cNvPr id="25" name="Footer Placeholder 5"/>
          <p:cNvSpPr>
            <a:spLocks noGrp="1"/>
          </p:cNvSpPr>
          <p:nvPr>
            <p:ph type="ftr" sz="quarter" idx="11"/>
          </p:nvPr>
        </p:nvSpPr>
        <p:spPr/>
        <p:txBody>
          <a:bodyPr/>
          <a:lstStyle/>
          <a:p>
            <a:pPr>
              <a:defRPr/>
            </a:pPr>
            <a:r>
              <a:rPr lang="en-US" smtClean="0"/>
              <a:t>Designed by Ms Anosha Khan</a:t>
            </a:r>
            <a:endParaRPr lang="en-US"/>
          </a:p>
        </p:txBody>
      </p:sp>
      <p:sp>
        <p:nvSpPr>
          <p:cNvPr id="26" name="Slide Number Placeholder 25"/>
          <p:cNvSpPr>
            <a:spLocks noGrp="1"/>
          </p:cNvSpPr>
          <p:nvPr>
            <p:ph type="sldNum" sz="quarter" idx="12"/>
          </p:nvPr>
        </p:nvSpPr>
        <p:spPr/>
        <p:txBody>
          <a:bodyPr/>
          <a:lstStyle/>
          <a:p>
            <a:pPr>
              <a:defRPr/>
            </a:pPr>
            <a:fld id="{8AE1154A-D497-4EE1-9CB3-FFB54083DF59}" type="slidenum">
              <a:rPr lang="en-US"/>
              <a:pPr>
                <a:defRPr/>
              </a:pPr>
              <a:t>7</a:t>
            </a:fld>
            <a:endParaRPr lang="en-US"/>
          </a:p>
        </p:txBody>
      </p:sp>
      <p:sp>
        <p:nvSpPr>
          <p:cNvPr id="14341" name="Rectangle 4"/>
          <p:cNvSpPr>
            <a:spLocks noChangeArrowheads="1"/>
          </p:cNvSpPr>
          <p:nvPr/>
        </p:nvSpPr>
        <p:spPr bwMode="auto">
          <a:xfrm>
            <a:off x="2286000" y="1828800"/>
            <a:ext cx="3886200" cy="4114800"/>
          </a:xfrm>
          <a:prstGeom prst="rect">
            <a:avLst/>
          </a:prstGeom>
          <a:noFill/>
          <a:ln w="12700">
            <a:noFill/>
            <a:miter lim="800000"/>
            <a:headEnd/>
            <a:tailEnd/>
          </a:ln>
        </p:spPr>
        <p:txBody>
          <a:bodyPr lIns="0" tIns="46038" rIns="0" bIns="46038"/>
          <a:lstStyle/>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120000"/>
              </a:lnSpc>
              <a:spcBef>
                <a:spcPct val="20000"/>
              </a:spcBef>
            </a:pPr>
            <a:r>
              <a:rPr lang="en-US" sz="2000" b="1">
                <a:solidFill>
                  <a:schemeClr val="tx2"/>
                </a:solidFill>
                <a:latin typeface="Courier New" pitchFamily="49" charset="0"/>
              </a:rPr>
              <a:t>   float data = 50.8;</a:t>
            </a:r>
          </a:p>
          <a:p>
            <a:pPr marL="342900" indent="-342900">
              <a:lnSpc>
                <a:spcPct val="120000"/>
              </a:lnSpc>
              <a:spcBef>
                <a:spcPct val="20000"/>
              </a:spcBef>
            </a:pPr>
            <a:r>
              <a:rPr lang="en-US" sz="2000" b="1">
                <a:solidFill>
                  <a:schemeClr val="tx2"/>
                </a:solidFill>
                <a:latin typeface="Courier New" pitchFamily="49" charset="0"/>
              </a:rPr>
              <a:t>   float *ptr;</a:t>
            </a:r>
          </a:p>
          <a:p>
            <a:pPr marL="342900" indent="-342900">
              <a:lnSpc>
                <a:spcPct val="120000"/>
              </a:lnSpc>
              <a:spcBef>
                <a:spcPct val="20000"/>
              </a:spcBef>
            </a:pPr>
            <a:r>
              <a:rPr lang="en-US" sz="2000" b="1">
                <a:solidFill>
                  <a:schemeClr val="tx2"/>
                </a:solidFill>
                <a:latin typeface="Courier New" pitchFamily="49" charset="0"/>
              </a:rPr>
              <a:t>   ptr = &amp;data;</a:t>
            </a:r>
          </a:p>
        </p:txBody>
      </p:sp>
      <p:sp>
        <p:nvSpPr>
          <p:cNvPr id="14342" name="Rectangle 5" descr="Light upward diagonal"/>
          <p:cNvSpPr>
            <a:spLocks noChangeArrowheads="1"/>
          </p:cNvSpPr>
          <p:nvPr/>
        </p:nvSpPr>
        <p:spPr bwMode="auto">
          <a:xfrm>
            <a:off x="9023351" y="2644775"/>
            <a:ext cx="1116013" cy="433388"/>
          </a:xfrm>
          <a:prstGeom prst="rect">
            <a:avLst/>
          </a:prstGeom>
          <a:noFill/>
          <a:ln w="12700">
            <a:solidFill>
              <a:schemeClr val="tx1"/>
            </a:solidFill>
            <a:miter lim="800000"/>
            <a:headEnd/>
            <a:tailEnd/>
          </a:ln>
        </p:spPr>
        <p:txBody>
          <a:bodyPr wrap="none" anchor="ctr"/>
          <a:lstStyle/>
          <a:p>
            <a:pPr algn="ctr" eaLnBrk="0" hangingPunct="0"/>
            <a:endParaRPr lang="en-US" sz="2000">
              <a:latin typeface="Tahoma" pitchFamily="34" charset="0"/>
            </a:endParaRPr>
          </a:p>
        </p:txBody>
      </p:sp>
      <p:sp>
        <p:nvSpPr>
          <p:cNvPr id="14343" name="Rectangle 6" descr="Light upward diagonal"/>
          <p:cNvSpPr>
            <a:spLocks noChangeArrowheads="1"/>
          </p:cNvSpPr>
          <p:nvPr/>
        </p:nvSpPr>
        <p:spPr bwMode="auto">
          <a:xfrm>
            <a:off x="9023351" y="2209801"/>
            <a:ext cx="1116013" cy="434975"/>
          </a:xfrm>
          <a:prstGeom prst="rect">
            <a:avLst/>
          </a:prstGeom>
          <a:noFill/>
          <a:ln w="12700">
            <a:solidFill>
              <a:schemeClr val="tx1"/>
            </a:solidFill>
            <a:miter lim="800000"/>
            <a:headEnd/>
            <a:tailEnd/>
          </a:ln>
        </p:spPr>
        <p:txBody>
          <a:bodyPr wrap="none" anchor="ctr"/>
          <a:lstStyle/>
          <a:p>
            <a:pPr algn="ctr" eaLnBrk="0" hangingPunct="0"/>
            <a:endParaRPr lang="en-US" sz="1400">
              <a:latin typeface="Tahoma" pitchFamily="34" charset="0"/>
            </a:endParaRPr>
          </a:p>
        </p:txBody>
      </p:sp>
      <p:sp>
        <p:nvSpPr>
          <p:cNvPr id="14344" name="Rectangle 7" descr="Light upward diagonal"/>
          <p:cNvSpPr>
            <a:spLocks noChangeArrowheads="1"/>
          </p:cNvSpPr>
          <p:nvPr/>
        </p:nvSpPr>
        <p:spPr bwMode="auto">
          <a:xfrm>
            <a:off x="9023351" y="5791201"/>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4345" name="Rectangle 8" descr="Light upward diagonal"/>
          <p:cNvSpPr>
            <a:spLocks noChangeArrowheads="1"/>
          </p:cNvSpPr>
          <p:nvPr/>
        </p:nvSpPr>
        <p:spPr bwMode="auto">
          <a:xfrm>
            <a:off x="9023351" y="3078164"/>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4346" name="Rectangle 9" descr="Light upward diagonal"/>
          <p:cNvSpPr>
            <a:spLocks noChangeArrowheads="1"/>
          </p:cNvSpPr>
          <p:nvPr/>
        </p:nvSpPr>
        <p:spPr bwMode="auto">
          <a:xfrm>
            <a:off x="9023351" y="3513139"/>
            <a:ext cx="1116013" cy="433387"/>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4347" name="Rectangle 10" descr="Light upward diagonal"/>
          <p:cNvSpPr>
            <a:spLocks noChangeArrowheads="1"/>
          </p:cNvSpPr>
          <p:nvPr/>
        </p:nvSpPr>
        <p:spPr bwMode="auto">
          <a:xfrm>
            <a:off x="9023351" y="3946526"/>
            <a:ext cx="1116013" cy="434975"/>
          </a:xfrm>
          <a:prstGeom prst="rect">
            <a:avLst/>
          </a:prstGeom>
          <a:noFill/>
          <a:ln w="12700">
            <a:solidFill>
              <a:schemeClr val="tx1"/>
            </a:solidFill>
            <a:miter lim="800000"/>
            <a:headEnd/>
            <a:tailEnd/>
          </a:ln>
        </p:spPr>
        <p:txBody>
          <a:bodyPr wrap="none" anchor="ctr"/>
          <a:lstStyle/>
          <a:p>
            <a:pPr algn="ctr" eaLnBrk="0" hangingPunct="0"/>
            <a:r>
              <a:rPr lang="en-US" sz="2000">
                <a:solidFill>
                  <a:schemeClr val="accent2"/>
                </a:solidFill>
                <a:latin typeface="Tahoma" pitchFamily="34" charset="0"/>
              </a:rPr>
              <a:t>50.8</a:t>
            </a:r>
          </a:p>
        </p:txBody>
      </p:sp>
      <p:sp>
        <p:nvSpPr>
          <p:cNvPr id="14348" name="Rectangle 11" descr="Light upward diagonal"/>
          <p:cNvSpPr>
            <a:spLocks noChangeArrowheads="1"/>
          </p:cNvSpPr>
          <p:nvPr/>
        </p:nvSpPr>
        <p:spPr bwMode="auto">
          <a:xfrm>
            <a:off x="9023351" y="4381501"/>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4349" name="Rectangle 12" descr="Light upward diagonal"/>
          <p:cNvSpPr>
            <a:spLocks noChangeArrowheads="1"/>
          </p:cNvSpPr>
          <p:nvPr/>
        </p:nvSpPr>
        <p:spPr bwMode="auto">
          <a:xfrm>
            <a:off x="9023351" y="4816475"/>
            <a:ext cx="1116013" cy="433388"/>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4350" name="Line 13" descr="Light upward diagonal"/>
          <p:cNvSpPr>
            <a:spLocks noChangeShapeType="1"/>
          </p:cNvSpPr>
          <p:nvPr/>
        </p:nvSpPr>
        <p:spPr bwMode="auto">
          <a:xfrm>
            <a:off x="9582150" y="5337176"/>
            <a:ext cx="1588" cy="377825"/>
          </a:xfrm>
          <a:prstGeom prst="line">
            <a:avLst/>
          </a:prstGeom>
          <a:noFill/>
          <a:ln w="12700" cap="rnd">
            <a:solidFill>
              <a:schemeClr val="tx1"/>
            </a:solidFill>
            <a:prstDash val="sysDot"/>
            <a:round/>
            <a:headEnd/>
            <a:tailEnd/>
          </a:ln>
        </p:spPr>
        <p:txBody>
          <a:bodyPr wrap="none" anchor="ctr"/>
          <a:lstStyle/>
          <a:p>
            <a:endParaRPr lang="en-US"/>
          </a:p>
        </p:txBody>
      </p:sp>
      <p:sp>
        <p:nvSpPr>
          <p:cNvPr id="14351" name="Rectangle 14"/>
          <p:cNvSpPr>
            <a:spLocks noChangeArrowheads="1"/>
          </p:cNvSpPr>
          <p:nvPr/>
        </p:nvSpPr>
        <p:spPr bwMode="auto">
          <a:xfrm>
            <a:off x="8001000" y="2644775"/>
            <a:ext cx="1022350" cy="433388"/>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FFF1</a:t>
            </a:r>
          </a:p>
        </p:txBody>
      </p:sp>
      <p:sp>
        <p:nvSpPr>
          <p:cNvPr id="14352" name="Rectangle 15"/>
          <p:cNvSpPr>
            <a:spLocks noChangeArrowheads="1"/>
          </p:cNvSpPr>
          <p:nvPr/>
        </p:nvSpPr>
        <p:spPr bwMode="auto">
          <a:xfrm>
            <a:off x="8001000" y="2209801"/>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FFF0</a:t>
            </a:r>
          </a:p>
        </p:txBody>
      </p:sp>
      <p:sp>
        <p:nvSpPr>
          <p:cNvPr id="14353" name="Rectangle 16"/>
          <p:cNvSpPr>
            <a:spLocks noChangeArrowheads="1"/>
          </p:cNvSpPr>
          <p:nvPr/>
        </p:nvSpPr>
        <p:spPr bwMode="auto">
          <a:xfrm>
            <a:off x="8001000" y="5791201"/>
            <a:ext cx="1022350" cy="434975"/>
          </a:xfrm>
          <a:prstGeom prst="rect">
            <a:avLst/>
          </a:prstGeom>
          <a:noFill/>
          <a:ln w="12700">
            <a:solidFill>
              <a:schemeClr val="tx1"/>
            </a:solidFill>
            <a:miter lim="800000"/>
            <a:headEnd/>
            <a:tailEnd/>
          </a:ln>
        </p:spPr>
        <p:txBody>
          <a:bodyPr wrap="none" anchor="ctr"/>
          <a:lstStyle/>
          <a:p>
            <a:pPr algn="ctr" eaLnBrk="0" hangingPunct="0"/>
            <a:endParaRPr lang="en-US" b="1">
              <a:latin typeface="Courier New" pitchFamily="49" charset="0"/>
            </a:endParaRPr>
          </a:p>
        </p:txBody>
      </p:sp>
      <p:sp>
        <p:nvSpPr>
          <p:cNvPr id="14354" name="Rectangle 17"/>
          <p:cNvSpPr>
            <a:spLocks noChangeArrowheads="1"/>
          </p:cNvSpPr>
          <p:nvPr/>
        </p:nvSpPr>
        <p:spPr bwMode="auto">
          <a:xfrm>
            <a:off x="8001000" y="3078164"/>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FFF2</a:t>
            </a:r>
          </a:p>
        </p:txBody>
      </p:sp>
      <p:sp>
        <p:nvSpPr>
          <p:cNvPr id="14355" name="Rectangle 18"/>
          <p:cNvSpPr>
            <a:spLocks noChangeArrowheads="1"/>
          </p:cNvSpPr>
          <p:nvPr/>
        </p:nvSpPr>
        <p:spPr bwMode="auto">
          <a:xfrm>
            <a:off x="8001000" y="3513139"/>
            <a:ext cx="1022350" cy="433387"/>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FFF3</a:t>
            </a:r>
          </a:p>
        </p:txBody>
      </p:sp>
      <p:sp>
        <p:nvSpPr>
          <p:cNvPr id="14356" name="Rectangle 19"/>
          <p:cNvSpPr>
            <a:spLocks noChangeArrowheads="1"/>
          </p:cNvSpPr>
          <p:nvPr/>
        </p:nvSpPr>
        <p:spPr bwMode="auto">
          <a:xfrm>
            <a:off x="8001000" y="3946526"/>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FFF4</a:t>
            </a:r>
          </a:p>
        </p:txBody>
      </p:sp>
      <p:sp>
        <p:nvSpPr>
          <p:cNvPr id="14357" name="Rectangle 20"/>
          <p:cNvSpPr>
            <a:spLocks noChangeArrowheads="1"/>
          </p:cNvSpPr>
          <p:nvPr/>
        </p:nvSpPr>
        <p:spPr bwMode="auto">
          <a:xfrm>
            <a:off x="8001000" y="4381501"/>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FFF5</a:t>
            </a:r>
          </a:p>
        </p:txBody>
      </p:sp>
      <p:sp>
        <p:nvSpPr>
          <p:cNvPr id="14358" name="Rectangle 21"/>
          <p:cNvSpPr>
            <a:spLocks noChangeArrowheads="1"/>
          </p:cNvSpPr>
          <p:nvPr/>
        </p:nvSpPr>
        <p:spPr bwMode="auto">
          <a:xfrm>
            <a:off x="8001000" y="4816475"/>
            <a:ext cx="1022350" cy="433388"/>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FFF6</a:t>
            </a:r>
          </a:p>
        </p:txBody>
      </p:sp>
      <p:sp>
        <p:nvSpPr>
          <p:cNvPr id="14359" name="Line 22"/>
          <p:cNvSpPr>
            <a:spLocks noChangeShapeType="1"/>
          </p:cNvSpPr>
          <p:nvPr/>
        </p:nvSpPr>
        <p:spPr bwMode="auto">
          <a:xfrm>
            <a:off x="8466139" y="5337176"/>
            <a:ext cx="1587" cy="377825"/>
          </a:xfrm>
          <a:prstGeom prst="line">
            <a:avLst/>
          </a:prstGeom>
          <a:noFill/>
          <a:ln w="12700" cap="rnd">
            <a:solidFill>
              <a:schemeClr val="tx1"/>
            </a:solidFill>
            <a:prstDash val="sysDot"/>
            <a:round/>
            <a:headEnd/>
            <a:tailEnd/>
          </a:ln>
        </p:spPr>
        <p:txBody>
          <a:bodyPr wrap="none" anchor="ctr"/>
          <a:lstStyle/>
          <a:p>
            <a:endParaRPr lang="en-US"/>
          </a:p>
        </p:txBody>
      </p:sp>
      <p:sp>
        <p:nvSpPr>
          <p:cNvPr id="14360" name="Text Box 23"/>
          <p:cNvSpPr txBox="1">
            <a:spLocks noChangeArrowheads="1"/>
          </p:cNvSpPr>
          <p:nvPr/>
        </p:nvSpPr>
        <p:spPr bwMode="auto">
          <a:xfrm>
            <a:off x="7167563" y="3962401"/>
            <a:ext cx="685800" cy="396875"/>
          </a:xfrm>
          <a:prstGeom prst="rect">
            <a:avLst/>
          </a:prstGeom>
          <a:noFill/>
          <a:ln w="12700">
            <a:noFill/>
            <a:miter lim="800000"/>
            <a:headEnd/>
            <a:tailEnd/>
          </a:ln>
        </p:spPr>
        <p:txBody>
          <a:bodyPr lIns="0" rIns="0">
            <a:spAutoFit/>
          </a:bodyPr>
          <a:lstStyle/>
          <a:p>
            <a:pPr eaLnBrk="0" hangingPunct="0">
              <a:spcBef>
                <a:spcPct val="50000"/>
              </a:spcBef>
            </a:pPr>
            <a:r>
              <a:rPr lang="en-US" sz="2000" i="1">
                <a:solidFill>
                  <a:schemeClr val="tx2"/>
                </a:solidFill>
                <a:latin typeface="Tahoma" pitchFamily="34" charset="0"/>
              </a:rPr>
              <a:t>data</a:t>
            </a:r>
          </a:p>
        </p:txBody>
      </p:sp>
      <p:sp>
        <p:nvSpPr>
          <p:cNvPr id="14361" name="AutoShape 24"/>
          <p:cNvSpPr>
            <a:spLocks noChangeArrowheads="1"/>
          </p:cNvSpPr>
          <p:nvPr/>
        </p:nvSpPr>
        <p:spPr bwMode="auto">
          <a:xfrm>
            <a:off x="1752600" y="3200400"/>
            <a:ext cx="533400" cy="152400"/>
          </a:xfrm>
          <a:prstGeom prst="rightArrow">
            <a:avLst>
              <a:gd name="adj1" fmla="val 50000"/>
              <a:gd name="adj2" fmla="val 87500"/>
            </a:avLst>
          </a:prstGeom>
          <a:solidFill>
            <a:schemeClr val="accent1"/>
          </a:solidFill>
          <a:ln w="12700">
            <a:solidFill>
              <a:schemeClr val="tx1"/>
            </a:solidFill>
            <a:miter lim="800000"/>
            <a:headEnd type="none" w="sm" len="sm"/>
            <a:tailEnd type="none" w="sm" len="sm"/>
          </a:ln>
        </p:spPr>
        <p:txBody>
          <a:bodyPr wrap="none" anchor="ctr"/>
          <a:lstStyle/>
          <a:p>
            <a:endParaRPr lang="en-US">
              <a:latin typeface="Constantia" pitchFamily="18" charset="0"/>
            </a:endParaRPr>
          </a:p>
        </p:txBody>
      </p:sp>
      <p:sp>
        <p:nvSpPr>
          <p:cNvPr id="27" name="Date Placeholder 26"/>
          <p:cNvSpPr>
            <a:spLocks noGrp="1"/>
          </p:cNvSpPr>
          <p:nvPr>
            <p:ph type="dt" sz="half" idx="10"/>
          </p:nvPr>
        </p:nvSpPr>
        <p:spPr/>
        <p:txBody>
          <a:bodyPr/>
          <a:lstStyle/>
          <a:p>
            <a:fld id="{741C866B-4217-4C21-9E3B-21800F62C0CF}" type="datetime1">
              <a:rPr lang="en-US" smtClean="0"/>
              <a:t>9/15/2022</a:t>
            </a:fld>
            <a:endParaRPr lang="en-US"/>
          </a:p>
        </p:txBody>
      </p:sp>
    </p:spTree>
    <p:extLst>
      <p:ext uri="{BB962C8B-B14F-4D97-AF65-F5344CB8AC3E}">
        <p14:creationId xmlns:p14="http://schemas.microsoft.com/office/powerpoint/2010/main" val="9668856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normAutofit/>
          </a:bodyPr>
          <a:lstStyle/>
          <a:p>
            <a:pPr>
              <a:defRPr/>
            </a:pPr>
            <a:r>
              <a:rPr lang="en-US"/>
              <a:t>Assignment of Pointer Variables (Cont ..)</a:t>
            </a:r>
          </a:p>
        </p:txBody>
      </p:sp>
      <p:sp>
        <p:nvSpPr>
          <p:cNvPr id="27" name="Footer Placeholder 5"/>
          <p:cNvSpPr>
            <a:spLocks noGrp="1"/>
          </p:cNvSpPr>
          <p:nvPr>
            <p:ph type="ftr" sz="quarter" idx="11"/>
          </p:nvPr>
        </p:nvSpPr>
        <p:spPr/>
        <p:txBody>
          <a:bodyPr/>
          <a:lstStyle/>
          <a:p>
            <a:pPr>
              <a:defRPr/>
            </a:pPr>
            <a:r>
              <a:rPr lang="en-US" smtClean="0"/>
              <a:t>Designed by Ms Anosha Khan</a:t>
            </a:r>
            <a:endParaRPr lang="en-US"/>
          </a:p>
        </p:txBody>
      </p:sp>
      <p:sp>
        <p:nvSpPr>
          <p:cNvPr id="28" name="Slide Number Placeholder 27"/>
          <p:cNvSpPr>
            <a:spLocks noGrp="1"/>
          </p:cNvSpPr>
          <p:nvPr>
            <p:ph type="sldNum" sz="quarter" idx="12"/>
          </p:nvPr>
        </p:nvSpPr>
        <p:spPr/>
        <p:txBody>
          <a:bodyPr/>
          <a:lstStyle/>
          <a:p>
            <a:pPr>
              <a:defRPr/>
            </a:pPr>
            <a:fld id="{A5FF9376-7EED-46F5-85FE-14CCDBBD5903}" type="slidenum">
              <a:rPr lang="en-US"/>
              <a:pPr>
                <a:defRPr/>
              </a:pPr>
              <a:t>8</a:t>
            </a:fld>
            <a:endParaRPr lang="en-US"/>
          </a:p>
        </p:txBody>
      </p:sp>
      <p:sp>
        <p:nvSpPr>
          <p:cNvPr id="15365" name="Rectangle 4"/>
          <p:cNvSpPr>
            <a:spLocks noChangeArrowheads="1"/>
          </p:cNvSpPr>
          <p:nvPr/>
        </p:nvSpPr>
        <p:spPr bwMode="auto">
          <a:xfrm>
            <a:off x="2286000" y="1828800"/>
            <a:ext cx="3886200" cy="4114800"/>
          </a:xfrm>
          <a:prstGeom prst="rect">
            <a:avLst/>
          </a:prstGeom>
          <a:noFill/>
          <a:ln w="12700">
            <a:noFill/>
            <a:miter lim="800000"/>
            <a:headEnd/>
            <a:tailEnd/>
          </a:ln>
        </p:spPr>
        <p:txBody>
          <a:bodyPr lIns="0" tIns="46038" rIns="0" bIns="46038"/>
          <a:lstStyle/>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120000"/>
              </a:lnSpc>
              <a:spcBef>
                <a:spcPct val="20000"/>
              </a:spcBef>
            </a:pPr>
            <a:r>
              <a:rPr lang="en-US" sz="2000" b="1">
                <a:solidFill>
                  <a:schemeClr val="tx2"/>
                </a:solidFill>
                <a:latin typeface="Courier New" pitchFamily="49" charset="0"/>
              </a:rPr>
              <a:t>   float data = 50.8;</a:t>
            </a:r>
          </a:p>
          <a:p>
            <a:pPr marL="342900" indent="-342900">
              <a:lnSpc>
                <a:spcPct val="120000"/>
              </a:lnSpc>
              <a:spcBef>
                <a:spcPct val="20000"/>
              </a:spcBef>
            </a:pPr>
            <a:r>
              <a:rPr lang="en-US" sz="2000" b="1">
                <a:solidFill>
                  <a:schemeClr val="tx2"/>
                </a:solidFill>
                <a:latin typeface="Courier New" pitchFamily="49" charset="0"/>
              </a:rPr>
              <a:t>   float *ptr;</a:t>
            </a:r>
          </a:p>
          <a:p>
            <a:pPr marL="342900" indent="-342900">
              <a:lnSpc>
                <a:spcPct val="120000"/>
              </a:lnSpc>
              <a:spcBef>
                <a:spcPct val="20000"/>
              </a:spcBef>
            </a:pPr>
            <a:r>
              <a:rPr lang="en-US" sz="2000" b="1">
                <a:solidFill>
                  <a:schemeClr val="tx2"/>
                </a:solidFill>
                <a:latin typeface="Courier New" pitchFamily="49" charset="0"/>
              </a:rPr>
              <a:t>   ptr = &amp;data;</a:t>
            </a:r>
          </a:p>
          <a:p>
            <a:pPr marL="342900" indent="-342900">
              <a:lnSpc>
                <a:spcPct val="80000"/>
              </a:lnSpc>
              <a:spcBef>
                <a:spcPct val="20000"/>
              </a:spcBef>
            </a:pPr>
            <a:endParaRPr lang="en-US" sz="2000" b="1">
              <a:solidFill>
                <a:schemeClr val="tx2"/>
              </a:solidFill>
              <a:latin typeface="Courier New" pitchFamily="49" charset="0"/>
            </a:endParaRPr>
          </a:p>
        </p:txBody>
      </p:sp>
      <p:sp>
        <p:nvSpPr>
          <p:cNvPr id="15366" name="Rectangle 5" descr="Light upward diagonal"/>
          <p:cNvSpPr>
            <a:spLocks noChangeArrowheads="1"/>
          </p:cNvSpPr>
          <p:nvPr/>
        </p:nvSpPr>
        <p:spPr bwMode="auto">
          <a:xfrm>
            <a:off x="9023351" y="2644775"/>
            <a:ext cx="1116013" cy="433388"/>
          </a:xfrm>
          <a:prstGeom prst="rect">
            <a:avLst/>
          </a:prstGeom>
          <a:noFill/>
          <a:ln w="12700">
            <a:solidFill>
              <a:schemeClr val="tx1"/>
            </a:solidFill>
            <a:miter lim="800000"/>
            <a:headEnd/>
            <a:tailEnd/>
          </a:ln>
        </p:spPr>
        <p:txBody>
          <a:bodyPr wrap="none" anchor="ctr"/>
          <a:lstStyle/>
          <a:p>
            <a:pPr algn="ctr" eaLnBrk="0" hangingPunct="0"/>
            <a:endParaRPr lang="en-US" sz="2000">
              <a:latin typeface="Tahoma" pitchFamily="34" charset="0"/>
            </a:endParaRPr>
          </a:p>
        </p:txBody>
      </p:sp>
      <p:sp>
        <p:nvSpPr>
          <p:cNvPr id="15367" name="Rectangle 6" descr="Light upward diagonal"/>
          <p:cNvSpPr>
            <a:spLocks noChangeArrowheads="1"/>
          </p:cNvSpPr>
          <p:nvPr/>
        </p:nvSpPr>
        <p:spPr bwMode="auto">
          <a:xfrm>
            <a:off x="9023351" y="2209801"/>
            <a:ext cx="1116013" cy="434975"/>
          </a:xfrm>
          <a:prstGeom prst="rect">
            <a:avLst/>
          </a:prstGeom>
          <a:noFill/>
          <a:ln w="12700">
            <a:solidFill>
              <a:schemeClr val="tx1"/>
            </a:solidFill>
            <a:miter lim="800000"/>
            <a:headEnd/>
            <a:tailEnd/>
          </a:ln>
        </p:spPr>
        <p:txBody>
          <a:bodyPr wrap="none" anchor="ctr"/>
          <a:lstStyle/>
          <a:p>
            <a:pPr algn="ctr" eaLnBrk="0" hangingPunct="0"/>
            <a:endParaRPr lang="en-US" sz="2000">
              <a:latin typeface="Tahoma" pitchFamily="34" charset="0"/>
            </a:endParaRPr>
          </a:p>
        </p:txBody>
      </p:sp>
      <p:sp>
        <p:nvSpPr>
          <p:cNvPr id="15368" name="Rectangle 8" descr="Light upward diagonal"/>
          <p:cNvSpPr>
            <a:spLocks noChangeArrowheads="1"/>
          </p:cNvSpPr>
          <p:nvPr/>
        </p:nvSpPr>
        <p:spPr bwMode="auto">
          <a:xfrm>
            <a:off x="9023351" y="3078164"/>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5369" name="Rectangle 9" descr="Light upward diagonal"/>
          <p:cNvSpPr>
            <a:spLocks noChangeArrowheads="1"/>
          </p:cNvSpPr>
          <p:nvPr/>
        </p:nvSpPr>
        <p:spPr bwMode="auto">
          <a:xfrm>
            <a:off x="9023351" y="3513139"/>
            <a:ext cx="1116013" cy="433387"/>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5370" name="Rectangle 10" descr="Light upward diagonal"/>
          <p:cNvSpPr>
            <a:spLocks noChangeArrowheads="1"/>
          </p:cNvSpPr>
          <p:nvPr/>
        </p:nvSpPr>
        <p:spPr bwMode="auto">
          <a:xfrm>
            <a:off x="9023351" y="3946526"/>
            <a:ext cx="1116013" cy="434975"/>
          </a:xfrm>
          <a:prstGeom prst="rect">
            <a:avLst/>
          </a:prstGeom>
          <a:noFill/>
          <a:ln w="12700">
            <a:solidFill>
              <a:schemeClr val="tx1"/>
            </a:solidFill>
            <a:miter lim="800000"/>
            <a:headEnd/>
            <a:tailEnd/>
          </a:ln>
        </p:spPr>
        <p:txBody>
          <a:bodyPr wrap="none" anchor="ctr"/>
          <a:lstStyle/>
          <a:p>
            <a:pPr algn="ctr" eaLnBrk="0" hangingPunct="0"/>
            <a:r>
              <a:rPr lang="en-US" sz="2000">
                <a:solidFill>
                  <a:schemeClr val="accent2"/>
                </a:solidFill>
                <a:latin typeface="Tahoma" pitchFamily="34" charset="0"/>
              </a:rPr>
              <a:t>50.8</a:t>
            </a:r>
          </a:p>
        </p:txBody>
      </p:sp>
      <p:sp>
        <p:nvSpPr>
          <p:cNvPr id="15371" name="Rectangle 11" descr="Light upward diagonal"/>
          <p:cNvSpPr>
            <a:spLocks noChangeArrowheads="1"/>
          </p:cNvSpPr>
          <p:nvPr/>
        </p:nvSpPr>
        <p:spPr bwMode="auto">
          <a:xfrm>
            <a:off x="9023351" y="4381501"/>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5372" name="Rectangle 12" descr="Light upward diagonal"/>
          <p:cNvSpPr>
            <a:spLocks noChangeArrowheads="1"/>
          </p:cNvSpPr>
          <p:nvPr/>
        </p:nvSpPr>
        <p:spPr bwMode="auto">
          <a:xfrm>
            <a:off x="9023351" y="4816475"/>
            <a:ext cx="1116013" cy="433388"/>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5373" name="Rectangle 14"/>
          <p:cNvSpPr>
            <a:spLocks noChangeArrowheads="1"/>
          </p:cNvSpPr>
          <p:nvPr/>
        </p:nvSpPr>
        <p:spPr bwMode="auto">
          <a:xfrm>
            <a:off x="8001000" y="2644775"/>
            <a:ext cx="1022350" cy="433388"/>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FFF1</a:t>
            </a:r>
          </a:p>
        </p:txBody>
      </p:sp>
      <p:sp>
        <p:nvSpPr>
          <p:cNvPr id="15374" name="Rectangle 15"/>
          <p:cNvSpPr>
            <a:spLocks noChangeArrowheads="1"/>
          </p:cNvSpPr>
          <p:nvPr/>
        </p:nvSpPr>
        <p:spPr bwMode="auto">
          <a:xfrm>
            <a:off x="8001000" y="2209801"/>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FFF0</a:t>
            </a:r>
          </a:p>
        </p:txBody>
      </p:sp>
      <p:sp>
        <p:nvSpPr>
          <p:cNvPr id="15375" name="Rectangle 17"/>
          <p:cNvSpPr>
            <a:spLocks noChangeArrowheads="1"/>
          </p:cNvSpPr>
          <p:nvPr/>
        </p:nvSpPr>
        <p:spPr bwMode="auto">
          <a:xfrm>
            <a:off x="8001000" y="3078164"/>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FFF2</a:t>
            </a:r>
          </a:p>
        </p:txBody>
      </p:sp>
      <p:sp>
        <p:nvSpPr>
          <p:cNvPr id="15376" name="Rectangle 18"/>
          <p:cNvSpPr>
            <a:spLocks noChangeArrowheads="1"/>
          </p:cNvSpPr>
          <p:nvPr/>
        </p:nvSpPr>
        <p:spPr bwMode="auto">
          <a:xfrm>
            <a:off x="8001000" y="3513139"/>
            <a:ext cx="1022350" cy="433387"/>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FFF3</a:t>
            </a:r>
          </a:p>
        </p:txBody>
      </p:sp>
      <p:sp>
        <p:nvSpPr>
          <p:cNvPr id="15377" name="Rectangle 19"/>
          <p:cNvSpPr>
            <a:spLocks noChangeArrowheads="1"/>
          </p:cNvSpPr>
          <p:nvPr/>
        </p:nvSpPr>
        <p:spPr bwMode="auto">
          <a:xfrm>
            <a:off x="8001000" y="3946526"/>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FFF4</a:t>
            </a:r>
          </a:p>
        </p:txBody>
      </p:sp>
      <p:sp>
        <p:nvSpPr>
          <p:cNvPr id="15378" name="Rectangle 20"/>
          <p:cNvSpPr>
            <a:spLocks noChangeArrowheads="1"/>
          </p:cNvSpPr>
          <p:nvPr/>
        </p:nvSpPr>
        <p:spPr bwMode="auto">
          <a:xfrm>
            <a:off x="8001000" y="4381501"/>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FFF5</a:t>
            </a:r>
          </a:p>
        </p:txBody>
      </p:sp>
      <p:sp>
        <p:nvSpPr>
          <p:cNvPr id="15379" name="Rectangle 21"/>
          <p:cNvSpPr>
            <a:spLocks noChangeArrowheads="1"/>
          </p:cNvSpPr>
          <p:nvPr/>
        </p:nvSpPr>
        <p:spPr bwMode="auto">
          <a:xfrm>
            <a:off x="8001000" y="4816475"/>
            <a:ext cx="1022350" cy="433388"/>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FFF6</a:t>
            </a:r>
          </a:p>
        </p:txBody>
      </p:sp>
      <p:sp>
        <p:nvSpPr>
          <p:cNvPr id="15380" name="Text Box 23"/>
          <p:cNvSpPr txBox="1">
            <a:spLocks noChangeArrowheads="1"/>
          </p:cNvSpPr>
          <p:nvPr/>
        </p:nvSpPr>
        <p:spPr bwMode="auto">
          <a:xfrm>
            <a:off x="7167563" y="2133601"/>
            <a:ext cx="685800" cy="396875"/>
          </a:xfrm>
          <a:prstGeom prst="rect">
            <a:avLst/>
          </a:prstGeom>
          <a:noFill/>
          <a:ln w="12700">
            <a:noFill/>
            <a:miter lim="800000"/>
            <a:headEnd/>
            <a:tailEnd/>
          </a:ln>
        </p:spPr>
        <p:txBody>
          <a:bodyPr lIns="0" rIns="0">
            <a:spAutoFit/>
          </a:bodyPr>
          <a:lstStyle/>
          <a:p>
            <a:pPr eaLnBrk="0" hangingPunct="0">
              <a:spcBef>
                <a:spcPct val="50000"/>
              </a:spcBef>
            </a:pPr>
            <a:r>
              <a:rPr lang="en-US" sz="2000" i="1">
                <a:solidFill>
                  <a:schemeClr val="tx2"/>
                </a:solidFill>
                <a:latin typeface="Tahoma" pitchFamily="34" charset="0"/>
              </a:rPr>
              <a:t>ptr</a:t>
            </a:r>
          </a:p>
        </p:txBody>
      </p:sp>
      <p:sp>
        <p:nvSpPr>
          <p:cNvPr id="15381" name="Text Box 24"/>
          <p:cNvSpPr txBox="1">
            <a:spLocks noChangeArrowheads="1"/>
          </p:cNvSpPr>
          <p:nvPr/>
        </p:nvSpPr>
        <p:spPr bwMode="auto">
          <a:xfrm>
            <a:off x="7167563" y="3962401"/>
            <a:ext cx="685800" cy="396875"/>
          </a:xfrm>
          <a:prstGeom prst="rect">
            <a:avLst/>
          </a:prstGeom>
          <a:noFill/>
          <a:ln w="12700">
            <a:noFill/>
            <a:miter lim="800000"/>
            <a:headEnd/>
            <a:tailEnd/>
          </a:ln>
        </p:spPr>
        <p:txBody>
          <a:bodyPr lIns="0" rIns="0">
            <a:spAutoFit/>
          </a:bodyPr>
          <a:lstStyle/>
          <a:p>
            <a:pPr eaLnBrk="0" hangingPunct="0">
              <a:spcBef>
                <a:spcPct val="50000"/>
              </a:spcBef>
            </a:pPr>
            <a:r>
              <a:rPr lang="en-US" sz="2000" i="1">
                <a:solidFill>
                  <a:schemeClr val="tx2"/>
                </a:solidFill>
                <a:latin typeface="Tahoma" pitchFamily="34" charset="0"/>
              </a:rPr>
              <a:t>data</a:t>
            </a:r>
          </a:p>
        </p:txBody>
      </p:sp>
      <p:sp>
        <p:nvSpPr>
          <p:cNvPr id="15382" name="Rectangle 25"/>
          <p:cNvSpPr>
            <a:spLocks noChangeArrowheads="1"/>
          </p:cNvSpPr>
          <p:nvPr/>
        </p:nvSpPr>
        <p:spPr bwMode="auto">
          <a:xfrm>
            <a:off x="9148763" y="2209800"/>
            <a:ext cx="914400" cy="381000"/>
          </a:xfrm>
          <a:prstGeom prst="rect">
            <a:avLst/>
          </a:prstGeom>
          <a:noFill/>
          <a:ln w="12700">
            <a:noFill/>
            <a:miter lim="800000"/>
            <a:headEnd/>
            <a:tailEnd/>
          </a:ln>
        </p:spPr>
        <p:txBody>
          <a:bodyPr wrap="none" anchor="ctr"/>
          <a:lstStyle/>
          <a:p>
            <a:pPr algn="ctr" eaLnBrk="0" hangingPunct="0"/>
            <a:endParaRPr lang="en-US" sz="2000">
              <a:latin typeface="Tahoma" pitchFamily="34" charset="0"/>
            </a:endParaRPr>
          </a:p>
        </p:txBody>
      </p:sp>
      <p:sp>
        <p:nvSpPr>
          <p:cNvPr id="15383" name="AutoShape 26"/>
          <p:cNvSpPr>
            <a:spLocks noChangeArrowheads="1"/>
          </p:cNvSpPr>
          <p:nvPr/>
        </p:nvSpPr>
        <p:spPr bwMode="auto">
          <a:xfrm>
            <a:off x="1752600" y="3657600"/>
            <a:ext cx="533400" cy="152400"/>
          </a:xfrm>
          <a:prstGeom prst="rightArrow">
            <a:avLst>
              <a:gd name="adj1" fmla="val 50000"/>
              <a:gd name="adj2" fmla="val 87500"/>
            </a:avLst>
          </a:prstGeom>
          <a:solidFill>
            <a:schemeClr val="accent1"/>
          </a:solidFill>
          <a:ln w="12700">
            <a:solidFill>
              <a:schemeClr val="tx1"/>
            </a:solidFill>
            <a:miter lim="800000"/>
            <a:headEnd type="none" w="sm" len="sm"/>
            <a:tailEnd type="none" w="sm" len="sm"/>
          </a:ln>
        </p:spPr>
        <p:txBody>
          <a:bodyPr wrap="none" anchor="ctr"/>
          <a:lstStyle/>
          <a:p>
            <a:endParaRPr lang="en-US">
              <a:latin typeface="Constantia" pitchFamily="18" charset="0"/>
            </a:endParaRPr>
          </a:p>
        </p:txBody>
      </p:sp>
      <p:sp>
        <p:nvSpPr>
          <p:cNvPr id="15384" name="Rectangle 28" descr="Light upward diagonal"/>
          <p:cNvSpPr>
            <a:spLocks noChangeArrowheads="1"/>
          </p:cNvSpPr>
          <p:nvPr/>
        </p:nvSpPr>
        <p:spPr bwMode="auto">
          <a:xfrm>
            <a:off x="9023351" y="5791201"/>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5385" name="Line 29" descr="Light upward diagonal"/>
          <p:cNvSpPr>
            <a:spLocks noChangeShapeType="1"/>
          </p:cNvSpPr>
          <p:nvPr/>
        </p:nvSpPr>
        <p:spPr bwMode="auto">
          <a:xfrm>
            <a:off x="9582150" y="5337176"/>
            <a:ext cx="1588" cy="377825"/>
          </a:xfrm>
          <a:prstGeom prst="line">
            <a:avLst/>
          </a:prstGeom>
          <a:noFill/>
          <a:ln w="12700" cap="rnd">
            <a:solidFill>
              <a:schemeClr val="tx1"/>
            </a:solidFill>
            <a:prstDash val="sysDot"/>
            <a:round/>
            <a:headEnd/>
            <a:tailEnd/>
          </a:ln>
        </p:spPr>
        <p:txBody>
          <a:bodyPr wrap="none" anchor="ctr"/>
          <a:lstStyle/>
          <a:p>
            <a:endParaRPr lang="en-US"/>
          </a:p>
        </p:txBody>
      </p:sp>
      <p:sp>
        <p:nvSpPr>
          <p:cNvPr id="15386" name="Rectangle 30"/>
          <p:cNvSpPr>
            <a:spLocks noChangeArrowheads="1"/>
          </p:cNvSpPr>
          <p:nvPr/>
        </p:nvSpPr>
        <p:spPr bwMode="auto">
          <a:xfrm>
            <a:off x="8001000" y="5791201"/>
            <a:ext cx="1022350" cy="434975"/>
          </a:xfrm>
          <a:prstGeom prst="rect">
            <a:avLst/>
          </a:prstGeom>
          <a:noFill/>
          <a:ln w="12700">
            <a:solidFill>
              <a:schemeClr val="tx1"/>
            </a:solidFill>
            <a:miter lim="800000"/>
            <a:headEnd/>
            <a:tailEnd/>
          </a:ln>
        </p:spPr>
        <p:txBody>
          <a:bodyPr wrap="none" anchor="ctr"/>
          <a:lstStyle/>
          <a:p>
            <a:pPr algn="ctr" eaLnBrk="0" hangingPunct="0"/>
            <a:endParaRPr lang="en-US" b="1">
              <a:latin typeface="Courier New" pitchFamily="49" charset="0"/>
            </a:endParaRPr>
          </a:p>
        </p:txBody>
      </p:sp>
      <p:sp>
        <p:nvSpPr>
          <p:cNvPr id="15387" name="Line 31"/>
          <p:cNvSpPr>
            <a:spLocks noChangeShapeType="1"/>
          </p:cNvSpPr>
          <p:nvPr/>
        </p:nvSpPr>
        <p:spPr bwMode="auto">
          <a:xfrm>
            <a:off x="8466139" y="5337176"/>
            <a:ext cx="1587" cy="377825"/>
          </a:xfrm>
          <a:prstGeom prst="line">
            <a:avLst/>
          </a:prstGeom>
          <a:noFill/>
          <a:ln w="12700" cap="rnd">
            <a:solidFill>
              <a:schemeClr val="tx1"/>
            </a:solidFill>
            <a:prstDash val="sysDot"/>
            <a:round/>
            <a:headEnd/>
            <a:tailEnd/>
          </a:ln>
        </p:spPr>
        <p:txBody>
          <a:bodyPr wrap="none" anchor="ctr"/>
          <a:lstStyle/>
          <a:p>
            <a:endParaRPr lang="en-US"/>
          </a:p>
        </p:txBody>
      </p:sp>
      <p:sp>
        <p:nvSpPr>
          <p:cNvPr id="29" name="Date Placeholder 28"/>
          <p:cNvSpPr>
            <a:spLocks noGrp="1"/>
          </p:cNvSpPr>
          <p:nvPr>
            <p:ph type="dt" sz="half" idx="10"/>
          </p:nvPr>
        </p:nvSpPr>
        <p:spPr/>
        <p:txBody>
          <a:bodyPr/>
          <a:lstStyle/>
          <a:p>
            <a:fld id="{D29810C1-7904-4164-875C-0A80E2D18BED}" type="datetime1">
              <a:rPr lang="en-US" smtClean="0"/>
              <a:t>9/15/2022</a:t>
            </a:fld>
            <a:endParaRPr lang="en-US"/>
          </a:p>
        </p:txBody>
      </p:sp>
    </p:spTree>
    <p:extLst>
      <p:ext uri="{BB962C8B-B14F-4D97-AF65-F5344CB8AC3E}">
        <p14:creationId xmlns:p14="http://schemas.microsoft.com/office/powerpoint/2010/main" val="27466817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normAutofit/>
          </a:bodyPr>
          <a:lstStyle/>
          <a:p>
            <a:pPr>
              <a:defRPr/>
            </a:pPr>
            <a:r>
              <a:rPr lang="en-US"/>
              <a:t>Assignment of Pointer Variables (Cont ..)</a:t>
            </a:r>
          </a:p>
        </p:txBody>
      </p:sp>
      <p:sp>
        <p:nvSpPr>
          <p:cNvPr id="32" name="Footer Placeholder 5"/>
          <p:cNvSpPr>
            <a:spLocks noGrp="1"/>
          </p:cNvSpPr>
          <p:nvPr>
            <p:ph type="ftr" sz="quarter" idx="11"/>
          </p:nvPr>
        </p:nvSpPr>
        <p:spPr/>
        <p:txBody>
          <a:bodyPr/>
          <a:lstStyle/>
          <a:p>
            <a:pPr>
              <a:defRPr/>
            </a:pPr>
            <a:r>
              <a:rPr lang="en-US" smtClean="0"/>
              <a:t>Designed by Ms Anosha Khan</a:t>
            </a:r>
            <a:endParaRPr lang="en-US"/>
          </a:p>
        </p:txBody>
      </p:sp>
      <p:sp>
        <p:nvSpPr>
          <p:cNvPr id="33" name="Slide Number Placeholder 32"/>
          <p:cNvSpPr>
            <a:spLocks noGrp="1"/>
          </p:cNvSpPr>
          <p:nvPr>
            <p:ph type="sldNum" sz="quarter" idx="12"/>
          </p:nvPr>
        </p:nvSpPr>
        <p:spPr/>
        <p:txBody>
          <a:bodyPr/>
          <a:lstStyle/>
          <a:p>
            <a:pPr>
              <a:defRPr/>
            </a:pPr>
            <a:fld id="{CEEDCE78-23FC-4F7B-91D9-893843EF610E}" type="slidenum">
              <a:rPr lang="en-US"/>
              <a:pPr>
                <a:defRPr/>
              </a:pPr>
              <a:t>9</a:t>
            </a:fld>
            <a:endParaRPr lang="en-US"/>
          </a:p>
        </p:txBody>
      </p:sp>
      <p:sp>
        <p:nvSpPr>
          <p:cNvPr id="16389" name="Rectangle 4"/>
          <p:cNvSpPr>
            <a:spLocks noChangeArrowheads="1"/>
          </p:cNvSpPr>
          <p:nvPr/>
        </p:nvSpPr>
        <p:spPr bwMode="auto">
          <a:xfrm>
            <a:off x="2286000" y="1828800"/>
            <a:ext cx="3886200" cy="4114800"/>
          </a:xfrm>
          <a:prstGeom prst="rect">
            <a:avLst/>
          </a:prstGeom>
          <a:noFill/>
          <a:ln w="12700">
            <a:noFill/>
            <a:miter lim="800000"/>
            <a:headEnd/>
            <a:tailEnd/>
          </a:ln>
        </p:spPr>
        <p:txBody>
          <a:bodyPr lIns="0" tIns="46038" rIns="0" bIns="46038"/>
          <a:lstStyle/>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80000"/>
              </a:lnSpc>
              <a:spcBef>
                <a:spcPct val="20000"/>
              </a:spcBef>
            </a:pPr>
            <a:endParaRPr lang="en-US" sz="2000" b="1">
              <a:solidFill>
                <a:schemeClr val="tx2"/>
              </a:solidFill>
              <a:latin typeface="Courier New" pitchFamily="49" charset="0"/>
            </a:endParaRPr>
          </a:p>
          <a:p>
            <a:pPr marL="342900" indent="-342900">
              <a:lnSpc>
                <a:spcPct val="120000"/>
              </a:lnSpc>
              <a:spcBef>
                <a:spcPct val="20000"/>
              </a:spcBef>
            </a:pPr>
            <a:r>
              <a:rPr lang="en-US" sz="2000" b="1">
                <a:solidFill>
                  <a:schemeClr val="tx2"/>
                </a:solidFill>
                <a:latin typeface="Courier New" pitchFamily="49" charset="0"/>
              </a:rPr>
              <a:t>   float data = 50.8;</a:t>
            </a:r>
          </a:p>
          <a:p>
            <a:pPr marL="342900" indent="-342900">
              <a:lnSpc>
                <a:spcPct val="120000"/>
              </a:lnSpc>
              <a:spcBef>
                <a:spcPct val="20000"/>
              </a:spcBef>
            </a:pPr>
            <a:r>
              <a:rPr lang="en-US" sz="2000" b="1">
                <a:solidFill>
                  <a:schemeClr val="tx2"/>
                </a:solidFill>
                <a:latin typeface="Courier New" pitchFamily="49" charset="0"/>
              </a:rPr>
              <a:t>   float *ptr;</a:t>
            </a:r>
          </a:p>
          <a:p>
            <a:pPr marL="342900" indent="-342900">
              <a:lnSpc>
                <a:spcPct val="120000"/>
              </a:lnSpc>
              <a:spcBef>
                <a:spcPct val="20000"/>
              </a:spcBef>
            </a:pPr>
            <a:r>
              <a:rPr lang="en-US" sz="2000" b="1">
                <a:solidFill>
                  <a:schemeClr val="tx2"/>
                </a:solidFill>
                <a:latin typeface="Courier New" pitchFamily="49" charset="0"/>
              </a:rPr>
              <a:t>   ptr = &amp;data;</a:t>
            </a:r>
          </a:p>
          <a:p>
            <a:pPr marL="342900" indent="-342900">
              <a:lnSpc>
                <a:spcPct val="80000"/>
              </a:lnSpc>
              <a:spcBef>
                <a:spcPct val="20000"/>
              </a:spcBef>
            </a:pPr>
            <a:endParaRPr lang="en-US" sz="2000" b="1">
              <a:solidFill>
                <a:schemeClr val="tx2"/>
              </a:solidFill>
              <a:latin typeface="Courier New" pitchFamily="49" charset="0"/>
            </a:endParaRPr>
          </a:p>
        </p:txBody>
      </p:sp>
      <p:sp>
        <p:nvSpPr>
          <p:cNvPr id="16390" name="Rectangle 5" descr="Light upward diagonal"/>
          <p:cNvSpPr>
            <a:spLocks noChangeArrowheads="1"/>
          </p:cNvSpPr>
          <p:nvPr/>
        </p:nvSpPr>
        <p:spPr bwMode="auto">
          <a:xfrm>
            <a:off x="9023351" y="2644775"/>
            <a:ext cx="1116013" cy="433388"/>
          </a:xfrm>
          <a:prstGeom prst="rect">
            <a:avLst/>
          </a:prstGeom>
          <a:noFill/>
          <a:ln w="12700">
            <a:solidFill>
              <a:schemeClr val="tx1"/>
            </a:solidFill>
            <a:miter lim="800000"/>
            <a:headEnd/>
            <a:tailEnd/>
          </a:ln>
        </p:spPr>
        <p:txBody>
          <a:bodyPr wrap="none" anchor="ctr"/>
          <a:lstStyle/>
          <a:p>
            <a:pPr algn="ctr" eaLnBrk="0" hangingPunct="0"/>
            <a:endParaRPr lang="en-US" sz="2000">
              <a:latin typeface="Tahoma" pitchFamily="34" charset="0"/>
            </a:endParaRPr>
          </a:p>
        </p:txBody>
      </p:sp>
      <p:sp>
        <p:nvSpPr>
          <p:cNvPr id="16391" name="Rectangle 6" descr="Light upward diagonal"/>
          <p:cNvSpPr>
            <a:spLocks noChangeArrowheads="1"/>
          </p:cNvSpPr>
          <p:nvPr/>
        </p:nvSpPr>
        <p:spPr bwMode="auto">
          <a:xfrm>
            <a:off x="9023351" y="2209801"/>
            <a:ext cx="1116013" cy="434975"/>
          </a:xfrm>
          <a:prstGeom prst="rect">
            <a:avLst/>
          </a:prstGeom>
          <a:noFill/>
          <a:ln w="12700">
            <a:solidFill>
              <a:schemeClr val="tx1"/>
            </a:solidFill>
            <a:miter lim="800000"/>
            <a:headEnd/>
            <a:tailEnd/>
          </a:ln>
        </p:spPr>
        <p:txBody>
          <a:bodyPr wrap="none" anchor="ctr"/>
          <a:lstStyle/>
          <a:p>
            <a:pPr algn="ctr" eaLnBrk="0" hangingPunct="0"/>
            <a:r>
              <a:rPr lang="en-US" sz="2000">
                <a:solidFill>
                  <a:schemeClr val="accent2"/>
                </a:solidFill>
                <a:latin typeface="Tahoma" pitchFamily="34" charset="0"/>
              </a:rPr>
              <a:t>FFF4</a:t>
            </a:r>
          </a:p>
        </p:txBody>
      </p:sp>
      <p:sp>
        <p:nvSpPr>
          <p:cNvPr id="16392" name="Rectangle 8" descr="Light upward diagonal"/>
          <p:cNvSpPr>
            <a:spLocks noChangeArrowheads="1"/>
          </p:cNvSpPr>
          <p:nvPr/>
        </p:nvSpPr>
        <p:spPr bwMode="auto">
          <a:xfrm>
            <a:off x="9023351" y="3078164"/>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6393" name="Rectangle 9" descr="Light upward diagonal"/>
          <p:cNvSpPr>
            <a:spLocks noChangeArrowheads="1"/>
          </p:cNvSpPr>
          <p:nvPr/>
        </p:nvSpPr>
        <p:spPr bwMode="auto">
          <a:xfrm>
            <a:off x="9023351" y="3513139"/>
            <a:ext cx="1116013" cy="433387"/>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6394" name="Rectangle 10" descr="Light upward diagonal"/>
          <p:cNvSpPr>
            <a:spLocks noChangeArrowheads="1"/>
          </p:cNvSpPr>
          <p:nvPr/>
        </p:nvSpPr>
        <p:spPr bwMode="auto">
          <a:xfrm>
            <a:off x="9023351" y="3946526"/>
            <a:ext cx="1116013" cy="434975"/>
          </a:xfrm>
          <a:prstGeom prst="rect">
            <a:avLst/>
          </a:prstGeom>
          <a:noFill/>
          <a:ln w="12700">
            <a:solidFill>
              <a:schemeClr val="tx1"/>
            </a:solidFill>
            <a:miter lim="800000"/>
            <a:headEnd/>
            <a:tailEnd/>
          </a:ln>
        </p:spPr>
        <p:txBody>
          <a:bodyPr wrap="none" anchor="ctr"/>
          <a:lstStyle/>
          <a:p>
            <a:pPr algn="ctr" eaLnBrk="0" hangingPunct="0"/>
            <a:r>
              <a:rPr lang="en-US" sz="2000">
                <a:solidFill>
                  <a:schemeClr val="accent2"/>
                </a:solidFill>
                <a:latin typeface="Tahoma" pitchFamily="34" charset="0"/>
              </a:rPr>
              <a:t>50.8</a:t>
            </a:r>
          </a:p>
        </p:txBody>
      </p:sp>
      <p:sp>
        <p:nvSpPr>
          <p:cNvPr id="16395" name="Rectangle 11" descr="Light upward diagonal"/>
          <p:cNvSpPr>
            <a:spLocks noChangeArrowheads="1"/>
          </p:cNvSpPr>
          <p:nvPr/>
        </p:nvSpPr>
        <p:spPr bwMode="auto">
          <a:xfrm>
            <a:off x="9023351" y="4381501"/>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6396" name="Rectangle 12" descr="Light upward diagonal"/>
          <p:cNvSpPr>
            <a:spLocks noChangeArrowheads="1"/>
          </p:cNvSpPr>
          <p:nvPr/>
        </p:nvSpPr>
        <p:spPr bwMode="auto">
          <a:xfrm>
            <a:off x="9023351" y="4816475"/>
            <a:ext cx="1116013" cy="433388"/>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6397" name="Rectangle 14"/>
          <p:cNvSpPr>
            <a:spLocks noChangeArrowheads="1"/>
          </p:cNvSpPr>
          <p:nvPr/>
        </p:nvSpPr>
        <p:spPr bwMode="auto">
          <a:xfrm>
            <a:off x="8001000" y="2644775"/>
            <a:ext cx="1022350" cy="433388"/>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FFF1</a:t>
            </a:r>
          </a:p>
        </p:txBody>
      </p:sp>
      <p:sp>
        <p:nvSpPr>
          <p:cNvPr id="16398" name="Rectangle 15"/>
          <p:cNvSpPr>
            <a:spLocks noChangeArrowheads="1"/>
          </p:cNvSpPr>
          <p:nvPr/>
        </p:nvSpPr>
        <p:spPr bwMode="auto">
          <a:xfrm>
            <a:off x="8001000" y="2209801"/>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FFF0</a:t>
            </a:r>
          </a:p>
        </p:txBody>
      </p:sp>
      <p:sp>
        <p:nvSpPr>
          <p:cNvPr id="16399" name="Rectangle 17"/>
          <p:cNvSpPr>
            <a:spLocks noChangeArrowheads="1"/>
          </p:cNvSpPr>
          <p:nvPr/>
        </p:nvSpPr>
        <p:spPr bwMode="auto">
          <a:xfrm>
            <a:off x="8001000" y="3078164"/>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FFF2</a:t>
            </a:r>
          </a:p>
        </p:txBody>
      </p:sp>
      <p:sp>
        <p:nvSpPr>
          <p:cNvPr id="16400" name="Rectangle 18"/>
          <p:cNvSpPr>
            <a:spLocks noChangeArrowheads="1"/>
          </p:cNvSpPr>
          <p:nvPr/>
        </p:nvSpPr>
        <p:spPr bwMode="auto">
          <a:xfrm>
            <a:off x="8001000" y="3513139"/>
            <a:ext cx="1022350" cy="433387"/>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FFF3</a:t>
            </a:r>
          </a:p>
        </p:txBody>
      </p:sp>
      <p:sp>
        <p:nvSpPr>
          <p:cNvPr id="16401" name="Rectangle 19"/>
          <p:cNvSpPr>
            <a:spLocks noChangeArrowheads="1"/>
          </p:cNvSpPr>
          <p:nvPr/>
        </p:nvSpPr>
        <p:spPr bwMode="auto">
          <a:xfrm>
            <a:off x="8001000" y="3946526"/>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FFF4</a:t>
            </a:r>
          </a:p>
        </p:txBody>
      </p:sp>
      <p:sp>
        <p:nvSpPr>
          <p:cNvPr id="16402" name="Rectangle 20"/>
          <p:cNvSpPr>
            <a:spLocks noChangeArrowheads="1"/>
          </p:cNvSpPr>
          <p:nvPr/>
        </p:nvSpPr>
        <p:spPr bwMode="auto">
          <a:xfrm>
            <a:off x="8001000" y="4381501"/>
            <a:ext cx="1022350" cy="434975"/>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FFF5</a:t>
            </a:r>
          </a:p>
        </p:txBody>
      </p:sp>
      <p:sp>
        <p:nvSpPr>
          <p:cNvPr id="16403" name="Rectangle 21"/>
          <p:cNvSpPr>
            <a:spLocks noChangeArrowheads="1"/>
          </p:cNvSpPr>
          <p:nvPr/>
        </p:nvSpPr>
        <p:spPr bwMode="auto">
          <a:xfrm>
            <a:off x="8001000" y="4816475"/>
            <a:ext cx="1022350" cy="433388"/>
          </a:xfrm>
          <a:prstGeom prst="rect">
            <a:avLst/>
          </a:prstGeom>
          <a:noFill/>
          <a:ln w="12700">
            <a:solidFill>
              <a:schemeClr val="tx1"/>
            </a:solidFill>
            <a:miter lim="800000"/>
            <a:headEnd/>
            <a:tailEnd/>
          </a:ln>
        </p:spPr>
        <p:txBody>
          <a:bodyPr wrap="none" anchor="ctr"/>
          <a:lstStyle/>
          <a:p>
            <a:pPr algn="ctr" eaLnBrk="0" hangingPunct="0"/>
            <a:r>
              <a:rPr lang="en-US" b="1">
                <a:latin typeface="Courier New" pitchFamily="49" charset="0"/>
              </a:rPr>
              <a:t>FFF6</a:t>
            </a:r>
          </a:p>
        </p:txBody>
      </p:sp>
      <p:sp>
        <p:nvSpPr>
          <p:cNvPr id="16404" name="Text Box 23"/>
          <p:cNvSpPr txBox="1">
            <a:spLocks noChangeArrowheads="1"/>
          </p:cNvSpPr>
          <p:nvPr/>
        </p:nvSpPr>
        <p:spPr bwMode="auto">
          <a:xfrm>
            <a:off x="7167563" y="2133601"/>
            <a:ext cx="685800" cy="396875"/>
          </a:xfrm>
          <a:prstGeom prst="rect">
            <a:avLst/>
          </a:prstGeom>
          <a:noFill/>
          <a:ln w="12700">
            <a:noFill/>
            <a:miter lim="800000"/>
            <a:headEnd/>
            <a:tailEnd/>
          </a:ln>
        </p:spPr>
        <p:txBody>
          <a:bodyPr lIns="0" rIns="0">
            <a:spAutoFit/>
          </a:bodyPr>
          <a:lstStyle/>
          <a:p>
            <a:pPr eaLnBrk="0" hangingPunct="0">
              <a:spcBef>
                <a:spcPct val="50000"/>
              </a:spcBef>
            </a:pPr>
            <a:r>
              <a:rPr lang="en-US" sz="2000" i="1">
                <a:solidFill>
                  <a:schemeClr val="tx2"/>
                </a:solidFill>
                <a:latin typeface="Tahoma" pitchFamily="34" charset="0"/>
              </a:rPr>
              <a:t>ptr</a:t>
            </a:r>
          </a:p>
        </p:txBody>
      </p:sp>
      <p:sp>
        <p:nvSpPr>
          <p:cNvPr id="16405" name="Text Box 24"/>
          <p:cNvSpPr txBox="1">
            <a:spLocks noChangeArrowheads="1"/>
          </p:cNvSpPr>
          <p:nvPr/>
        </p:nvSpPr>
        <p:spPr bwMode="auto">
          <a:xfrm>
            <a:off x="7167563" y="3962401"/>
            <a:ext cx="685800" cy="396875"/>
          </a:xfrm>
          <a:prstGeom prst="rect">
            <a:avLst/>
          </a:prstGeom>
          <a:noFill/>
          <a:ln w="12700">
            <a:noFill/>
            <a:miter lim="800000"/>
            <a:headEnd/>
            <a:tailEnd/>
          </a:ln>
        </p:spPr>
        <p:txBody>
          <a:bodyPr lIns="0" rIns="0">
            <a:spAutoFit/>
          </a:bodyPr>
          <a:lstStyle/>
          <a:p>
            <a:pPr eaLnBrk="0" hangingPunct="0">
              <a:spcBef>
                <a:spcPct val="50000"/>
              </a:spcBef>
            </a:pPr>
            <a:r>
              <a:rPr lang="en-US" sz="2000" i="1">
                <a:solidFill>
                  <a:schemeClr val="tx2"/>
                </a:solidFill>
                <a:latin typeface="Tahoma" pitchFamily="34" charset="0"/>
              </a:rPr>
              <a:t>data</a:t>
            </a:r>
          </a:p>
        </p:txBody>
      </p:sp>
      <p:grpSp>
        <p:nvGrpSpPr>
          <p:cNvPr id="2" name="Group 25"/>
          <p:cNvGrpSpPr>
            <a:grpSpLocks/>
          </p:cNvGrpSpPr>
          <p:nvPr/>
        </p:nvGrpSpPr>
        <p:grpSpPr bwMode="auto">
          <a:xfrm>
            <a:off x="7772400" y="1905000"/>
            <a:ext cx="2590800" cy="2286000"/>
            <a:chOff x="1296" y="2640"/>
            <a:chExt cx="1632" cy="1440"/>
          </a:xfrm>
        </p:grpSpPr>
        <p:sp>
          <p:nvSpPr>
            <p:cNvPr id="16412" name="Line 26"/>
            <p:cNvSpPr>
              <a:spLocks noChangeShapeType="1"/>
            </p:cNvSpPr>
            <p:nvPr/>
          </p:nvSpPr>
          <p:spPr bwMode="auto">
            <a:xfrm flipH="1">
              <a:off x="2640" y="2976"/>
              <a:ext cx="288" cy="0"/>
            </a:xfrm>
            <a:prstGeom prst="line">
              <a:avLst/>
            </a:prstGeom>
            <a:noFill/>
            <a:ln w="12700">
              <a:solidFill>
                <a:schemeClr val="tx1"/>
              </a:solidFill>
              <a:prstDash val="lgDash"/>
              <a:round/>
              <a:headEnd/>
              <a:tailEnd/>
            </a:ln>
          </p:spPr>
          <p:txBody>
            <a:bodyPr wrap="none" anchor="ctr"/>
            <a:lstStyle/>
            <a:p>
              <a:endParaRPr lang="en-US"/>
            </a:p>
          </p:txBody>
        </p:sp>
        <p:sp>
          <p:nvSpPr>
            <p:cNvPr id="16413" name="Line 27"/>
            <p:cNvSpPr>
              <a:spLocks noChangeShapeType="1"/>
            </p:cNvSpPr>
            <p:nvPr/>
          </p:nvSpPr>
          <p:spPr bwMode="auto">
            <a:xfrm flipH="1" flipV="1">
              <a:off x="2928" y="2640"/>
              <a:ext cx="0" cy="336"/>
            </a:xfrm>
            <a:prstGeom prst="line">
              <a:avLst/>
            </a:prstGeom>
            <a:noFill/>
            <a:ln w="12700">
              <a:solidFill>
                <a:schemeClr val="tx1"/>
              </a:solidFill>
              <a:prstDash val="lgDash"/>
              <a:round/>
              <a:headEnd/>
              <a:tailEnd/>
            </a:ln>
          </p:spPr>
          <p:txBody>
            <a:bodyPr wrap="none" anchor="ctr"/>
            <a:lstStyle/>
            <a:p>
              <a:endParaRPr lang="en-US"/>
            </a:p>
          </p:txBody>
        </p:sp>
        <p:sp>
          <p:nvSpPr>
            <p:cNvPr id="16414" name="Line 28"/>
            <p:cNvSpPr>
              <a:spLocks noChangeShapeType="1"/>
            </p:cNvSpPr>
            <p:nvPr/>
          </p:nvSpPr>
          <p:spPr bwMode="auto">
            <a:xfrm>
              <a:off x="1296" y="2640"/>
              <a:ext cx="1632" cy="0"/>
            </a:xfrm>
            <a:prstGeom prst="line">
              <a:avLst/>
            </a:prstGeom>
            <a:noFill/>
            <a:ln w="12700">
              <a:solidFill>
                <a:schemeClr val="tx1"/>
              </a:solidFill>
              <a:prstDash val="lgDash"/>
              <a:round/>
              <a:headEnd/>
              <a:tailEnd/>
            </a:ln>
          </p:spPr>
          <p:txBody>
            <a:bodyPr wrap="none" anchor="ctr"/>
            <a:lstStyle/>
            <a:p>
              <a:endParaRPr lang="en-US"/>
            </a:p>
          </p:txBody>
        </p:sp>
        <p:sp>
          <p:nvSpPr>
            <p:cNvPr id="16415" name="Line 29"/>
            <p:cNvSpPr>
              <a:spLocks noChangeShapeType="1"/>
            </p:cNvSpPr>
            <p:nvPr/>
          </p:nvSpPr>
          <p:spPr bwMode="auto">
            <a:xfrm flipH="1">
              <a:off x="1296" y="2640"/>
              <a:ext cx="0" cy="1440"/>
            </a:xfrm>
            <a:prstGeom prst="line">
              <a:avLst/>
            </a:prstGeom>
            <a:noFill/>
            <a:ln w="12700">
              <a:solidFill>
                <a:schemeClr val="tx1"/>
              </a:solidFill>
              <a:prstDash val="lgDash"/>
              <a:round/>
              <a:headEnd/>
              <a:tailEnd/>
            </a:ln>
          </p:spPr>
          <p:txBody>
            <a:bodyPr wrap="none" anchor="ctr"/>
            <a:lstStyle/>
            <a:p>
              <a:endParaRPr lang="en-US"/>
            </a:p>
          </p:txBody>
        </p:sp>
        <p:sp>
          <p:nvSpPr>
            <p:cNvPr id="16416" name="Line 30"/>
            <p:cNvSpPr>
              <a:spLocks noChangeShapeType="1"/>
            </p:cNvSpPr>
            <p:nvPr/>
          </p:nvSpPr>
          <p:spPr bwMode="auto">
            <a:xfrm flipV="1">
              <a:off x="1296" y="4080"/>
              <a:ext cx="144" cy="0"/>
            </a:xfrm>
            <a:prstGeom prst="line">
              <a:avLst/>
            </a:prstGeom>
            <a:noFill/>
            <a:ln w="12700">
              <a:solidFill>
                <a:schemeClr val="tx1"/>
              </a:solidFill>
              <a:prstDash val="lgDash"/>
              <a:round/>
              <a:headEnd/>
              <a:tailEnd type="triangle" w="med" len="med"/>
            </a:ln>
          </p:spPr>
          <p:txBody>
            <a:bodyPr wrap="none" anchor="ctr"/>
            <a:lstStyle/>
            <a:p>
              <a:endParaRPr lang="en-US"/>
            </a:p>
          </p:txBody>
        </p:sp>
      </p:grpSp>
      <p:sp>
        <p:nvSpPr>
          <p:cNvPr id="16407" name="AutoShape 31"/>
          <p:cNvSpPr>
            <a:spLocks noChangeArrowheads="1"/>
          </p:cNvSpPr>
          <p:nvPr/>
        </p:nvSpPr>
        <p:spPr bwMode="auto">
          <a:xfrm>
            <a:off x="1752600" y="4114800"/>
            <a:ext cx="533400" cy="152400"/>
          </a:xfrm>
          <a:prstGeom prst="rightArrow">
            <a:avLst>
              <a:gd name="adj1" fmla="val 50000"/>
              <a:gd name="adj2" fmla="val 87500"/>
            </a:avLst>
          </a:prstGeom>
          <a:solidFill>
            <a:schemeClr val="accent1"/>
          </a:solidFill>
          <a:ln w="12700">
            <a:solidFill>
              <a:schemeClr val="tx1"/>
            </a:solidFill>
            <a:miter lim="800000"/>
            <a:headEnd type="none" w="sm" len="sm"/>
            <a:tailEnd type="none" w="sm" len="sm"/>
          </a:ln>
        </p:spPr>
        <p:txBody>
          <a:bodyPr wrap="none" anchor="ctr"/>
          <a:lstStyle/>
          <a:p>
            <a:endParaRPr lang="en-US">
              <a:latin typeface="Constantia" pitchFamily="18" charset="0"/>
            </a:endParaRPr>
          </a:p>
        </p:txBody>
      </p:sp>
      <p:sp>
        <p:nvSpPr>
          <p:cNvPr id="16408" name="Rectangle 33" descr="Light upward diagonal"/>
          <p:cNvSpPr>
            <a:spLocks noChangeArrowheads="1"/>
          </p:cNvSpPr>
          <p:nvPr/>
        </p:nvSpPr>
        <p:spPr bwMode="auto">
          <a:xfrm>
            <a:off x="9023351" y="5791201"/>
            <a:ext cx="1116013" cy="434975"/>
          </a:xfrm>
          <a:prstGeom prst="rect">
            <a:avLst/>
          </a:prstGeom>
          <a:noFill/>
          <a:ln w="12700">
            <a:solidFill>
              <a:schemeClr val="tx1"/>
            </a:solidFill>
            <a:miter lim="800000"/>
            <a:headEnd/>
            <a:tailEnd/>
          </a:ln>
        </p:spPr>
        <p:txBody>
          <a:bodyPr wrap="none" anchor="ctr"/>
          <a:lstStyle/>
          <a:p>
            <a:endParaRPr lang="en-US">
              <a:latin typeface="Constantia" pitchFamily="18" charset="0"/>
            </a:endParaRPr>
          </a:p>
        </p:txBody>
      </p:sp>
      <p:sp>
        <p:nvSpPr>
          <p:cNvPr id="16409" name="Line 34" descr="Light upward diagonal"/>
          <p:cNvSpPr>
            <a:spLocks noChangeShapeType="1"/>
          </p:cNvSpPr>
          <p:nvPr/>
        </p:nvSpPr>
        <p:spPr bwMode="auto">
          <a:xfrm>
            <a:off x="9582150" y="5337176"/>
            <a:ext cx="1588" cy="377825"/>
          </a:xfrm>
          <a:prstGeom prst="line">
            <a:avLst/>
          </a:prstGeom>
          <a:noFill/>
          <a:ln w="12700" cap="rnd">
            <a:solidFill>
              <a:schemeClr val="tx1"/>
            </a:solidFill>
            <a:prstDash val="sysDot"/>
            <a:round/>
            <a:headEnd/>
            <a:tailEnd/>
          </a:ln>
        </p:spPr>
        <p:txBody>
          <a:bodyPr wrap="none" anchor="ctr"/>
          <a:lstStyle/>
          <a:p>
            <a:endParaRPr lang="en-US"/>
          </a:p>
        </p:txBody>
      </p:sp>
      <p:sp>
        <p:nvSpPr>
          <p:cNvPr id="16410" name="Rectangle 35"/>
          <p:cNvSpPr>
            <a:spLocks noChangeArrowheads="1"/>
          </p:cNvSpPr>
          <p:nvPr/>
        </p:nvSpPr>
        <p:spPr bwMode="auto">
          <a:xfrm>
            <a:off x="8001000" y="5791201"/>
            <a:ext cx="1022350" cy="434975"/>
          </a:xfrm>
          <a:prstGeom prst="rect">
            <a:avLst/>
          </a:prstGeom>
          <a:noFill/>
          <a:ln w="12700">
            <a:solidFill>
              <a:schemeClr val="tx1"/>
            </a:solidFill>
            <a:miter lim="800000"/>
            <a:headEnd/>
            <a:tailEnd/>
          </a:ln>
        </p:spPr>
        <p:txBody>
          <a:bodyPr wrap="none" anchor="ctr"/>
          <a:lstStyle/>
          <a:p>
            <a:pPr algn="ctr" eaLnBrk="0" hangingPunct="0"/>
            <a:endParaRPr lang="en-US" b="1">
              <a:latin typeface="Courier New" pitchFamily="49" charset="0"/>
            </a:endParaRPr>
          </a:p>
        </p:txBody>
      </p:sp>
      <p:sp>
        <p:nvSpPr>
          <p:cNvPr id="16411" name="Line 36"/>
          <p:cNvSpPr>
            <a:spLocks noChangeShapeType="1"/>
          </p:cNvSpPr>
          <p:nvPr/>
        </p:nvSpPr>
        <p:spPr bwMode="auto">
          <a:xfrm>
            <a:off x="8466139" y="5337176"/>
            <a:ext cx="1587" cy="377825"/>
          </a:xfrm>
          <a:prstGeom prst="line">
            <a:avLst/>
          </a:prstGeom>
          <a:noFill/>
          <a:ln w="12700" cap="rnd">
            <a:solidFill>
              <a:schemeClr val="tx1"/>
            </a:solidFill>
            <a:prstDash val="sysDot"/>
            <a:round/>
            <a:headEnd/>
            <a:tailEnd/>
          </a:ln>
        </p:spPr>
        <p:txBody>
          <a:bodyPr wrap="none" anchor="ctr"/>
          <a:lstStyle/>
          <a:p>
            <a:endParaRPr lang="en-US"/>
          </a:p>
        </p:txBody>
      </p:sp>
      <p:sp>
        <p:nvSpPr>
          <p:cNvPr id="34" name="Date Placeholder 33"/>
          <p:cNvSpPr>
            <a:spLocks noGrp="1"/>
          </p:cNvSpPr>
          <p:nvPr>
            <p:ph type="dt" sz="half" idx="10"/>
          </p:nvPr>
        </p:nvSpPr>
        <p:spPr/>
        <p:txBody>
          <a:bodyPr/>
          <a:lstStyle/>
          <a:p>
            <a:fld id="{844DDF93-30BB-4092-BF46-E707C5481270}" type="datetime1">
              <a:rPr lang="en-US" smtClean="0"/>
              <a:t>9/15/2022</a:t>
            </a:fld>
            <a:endParaRPr lang="en-US"/>
          </a:p>
        </p:txBody>
      </p:sp>
    </p:spTree>
    <p:extLst>
      <p:ext uri="{BB962C8B-B14F-4D97-AF65-F5344CB8AC3E}">
        <p14:creationId xmlns:p14="http://schemas.microsoft.com/office/powerpoint/2010/main" val="261573386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a:bodyPr>
          <a:lstStyle/>
          <a:p>
            <a:pPr>
              <a:defRPr/>
            </a:pPr>
            <a:r>
              <a:rPr lang="en-US"/>
              <a:t>Assignment of Pointer Variables (Cont ..)</a:t>
            </a:r>
          </a:p>
        </p:txBody>
      </p:sp>
      <p:sp>
        <p:nvSpPr>
          <p:cNvPr id="69635" name="Rectangle 3"/>
          <p:cNvSpPr>
            <a:spLocks noGrp="1" noChangeArrowheads="1"/>
          </p:cNvSpPr>
          <p:nvPr>
            <p:ph idx="1"/>
          </p:nvPr>
        </p:nvSpPr>
        <p:spPr>
          <a:xfrm>
            <a:off x="1097280" y="1846052"/>
            <a:ext cx="9189720" cy="1887747"/>
          </a:xfrm>
        </p:spPr>
        <p:txBody>
          <a:bodyPr/>
          <a:lstStyle/>
          <a:p>
            <a:pPr eaLnBrk="1" hangingPunct="1"/>
            <a:r>
              <a:rPr lang="en-US" sz="2800" dirty="0"/>
              <a:t>Don’t try to assign a specific integer value to a pointer variable since it can be disastrous</a:t>
            </a:r>
          </a:p>
          <a:p>
            <a:pPr lvl="1" eaLnBrk="1" hangingPunct="1">
              <a:buFontTx/>
              <a:buNone/>
            </a:pPr>
            <a:r>
              <a:rPr lang="en-US" b="1" dirty="0" smtClean="0">
                <a:solidFill>
                  <a:schemeClr val="tx2"/>
                </a:solidFill>
                <a:latin typeface="Courier New" pitchFamily="49" charset="0"/>
              </a:rPr>
              <a:t>      float *</a:t>
            </a:r>
            <a:r>
              <a:rPr lang="en-US" b="1" dirty="0" err="1" smtClean="0">
                <a:solidFill>
                  <a:schemeClr val="tx2"/>
                </a:solidFill>
                <a:latin typeface="Courier New" pitchFamily="49" charset="0"/>
              </a:rPr>
              <a:t>ptr</a:t>
            </a:r>
            <a:r>
              <a:rPr lang="en-US" b="1" dirty="0" smtClean="0">
                <a:solidFill>
                  <a:schemeClr val="tx2"/>
                </a:solidFill>
                <a:latin typeface="Courier New" pitchFamily="49" charset="0"/>
              </a:rPr>
              <a:t>;</a:t>
            </a:r>
          </a:p>
          <a:p>
            <a:pPr lvl="1" eaLnBrk="1" hangingPunct="1">
              <a:buFontTx/>
              <a:buNone/>
            </a:pPr>
            <a:r>
              <a:rPr lang="en-US" b="1" dirty="0" smtClean="0">
                <a:solidFill>
                  <a:schemeClr val="tx2"/>
                </a:solidFill>
                <a:latin typeface="Courier New" pitchFamily="49" charset="0"/>
              </a:rPr>
              <a:t>      </a:t>
            </a:r>
            <a:r>
              <a:rPr lang="en-US" b="1" dirty="0" err="1" smtClean="0">
                <a:solidFill>
                  <a:schemeClr val="tx2"/>
                </a:solidFill>
                <a:latin typeface="Courier New" pitchFamily="49" charset="0"/>
              </a:rPr>
              <a:t>ptr</a:t>
            </a:r>
            <a:r>
              <a:rPr lang="en-US" b="1" dirty="0" smtClean="0">
                <a:solidFill>
                  <a:schemeClr val="tx2"/>
                </a:solidFill>
                <a:latin typeface="Courier New" pitchFamily="49" charset="0"/>
              </a:rPr>
              <a:t> = 120;</a:t>
            </a:r>
          </a:p>
        </p:txBody>
      </p:sp>
      <p:sp>
        <p:nvSpPr>
          <p:cNvPr id="8" name="Footer Placeholder 5"/>
          <p:cNvSpPr>
            <a:spLocks noGrp="1"/>
          </p:cNvSpPr>
          <p:nvPr>
            <p:ph type="ftr" sz="quarter" idx="11"/>
          </p:nvPr>
        </p:nvSpPr>
        <p:spPr/>
        <p:txBody>
          <a:bodyPr/>
          <a:lstStyle/>
          <a:p>
            <a:pPr>
              <a:defRPr/>
            </a:pPr>
            <a:r>
              <a:rPr lang="en-US" smtClean="0"/>
              <a:t>Designed by Ms Anosha Khan</a:t>
            </a:r>
            <a:endParaRPr lang="en-US"/>
          </a:p>
        </p:txBody>
      </p:sp>
      <p:sp>
        <p:nvSpPr>
          <p:cNvPr id="9" name="Slide Number Placeholder 8"/>
          <p:cNvSpPr>
            <a:spLocks noGrp="1"/>
          </p:cNvSpPr>
          <p:nvPr>
            <p:ph type="sldNum" sz="quarter" idx="12"/>
          </p:nvPr>
        </p:nvSpPr>
        <p:spPr/>
        <p:txBody>
          <a:bodyPr/>
          <a:lstStyle/>
          <a:p>
            <a:pPr>
              <a:defRPr/>
            </a:pPr>
            <a:fld id="{C8D6E466-4E74-4166-9006-3F254DC4DFA2}" type="slidenum">
              <a:rPr lang="en-US"/>
              <a:pPr>
                <a:defRPr/>
              </a:pPr>
              <a:t>10</a:t>
            </a:fld>
            <a:endParaRPr lang="en-US"/>
          </a:p>
        </p:txBody>
      </p:sp>
      <p:sp>
        <p:nvSpPr>
          <p:cNvPr id="69636" name="Rectangle 4"/>
          <p:cNvSpPr>
            <a:spLocks noChangeArrowheads="1"/>
          </p:cNvSpPr>
          <p:nvPr/>
        </p:nvSpPr>
        <p:spPr bwMode="auto">
          <a:xfrm>
            <a:off x="815197" y="3545457"/>
            <a:ext cx="8229600" cy="2317630"/>
          </a:xfrm>
          <a:prstGeom prst="rect">
            <a:avLst/>
          </a:prstGeom>
          <a:noFill/>
          <a:ln w="12700">
            <a:noFill/>
            <a:miter lim="800000"/>
            <a:headEnd/>
            <a:tailEnd/>
          </a:ln>
        </p:spPr>
        <p:txBody>
          <a:bodyPr lIns="90488" tIns="44450" rIns="90488" bIns="44450"/>
          <a:lstStyle/>
          <a:p>
            <a:pPr marL="342900" indent="-342900">
              <a:spcBef>
                <a:spcPct val="20000"/>
              </a:spcBef>
              <a:buFontTx/>
              <a:buChar char="•"/>
            </a:pPr>
            <a:r>
              <a:rPr lang="en-US" sz="2800" dirty="0">
                <a:solidFill>
                  <a:schemeClr val="bg1"/>
                </a:solidFill>
                <a:latin typeface="Tahoma" pitchFamily="34" charset="0"/>
              </a:rPr>
              <a:t>You cannot assign the address of one type of </a:t>
            </a:r>
            <a:r>
              <a:rPr lang="en-US" sz="2800" dirty="0" smtClean="0">
                <a:solidFill>
                  <a:schemeClr val="bg1"/>
                </a:solidFill>
                <a:latin typeface="Tahoma" pitchFamily="34" charset="0"/>
              </a:rPr>
              <a:t>they </a:t>
            </a:r>
            <a:r>
              <a:rPr lang="en-US" sz="2800" dirty="0">
                <a:solidFill>
                  <a:schemeClr val="bg1"/>
                </a:solidFill>
                <a:latin typeface="Tahoma" pitchFamily="34" charset="0"/>
              </a:rPr>
              <a:t>are both integrals</a:t>
            </a:r>
          </a:p>
          <a:p>
            <a:pPr marL="342900" indent="-342900">
              <a:lnSpc>
                <a:spcPct val="120000"/>
              </a:lnSpc>
              <a:spcBef>
                <a:spcPct val="20000"/>
              </a:spcBef>
            </a:pPr>
            <a:r>
              <a:rPr lang="en-US" dirty="0">
                <a:solidFill>
                  <a:schemeClr val="hlink"/>
                </a:solidFill>
                <a:latin typeface="Courier New" pitchFamily="49" charset="0"/>
              </a:rPr>
              <a:t>   </a:t>
            </a:r>
            <a:r>
              <a:rPr lang="en-US" b="1" dirty="0">
                <a:solidFill>
                  <a:schemeClr val="tx2"/>
                </a:solidFill>
                <a:latin typeface="Courier New" pitchFamily="49" charset="0"/>
              </a:rPr>
              <a:t>     int data = 50;</a:t>
            </a:r>
          </a:p>
          <a:p>
            <a:pPr marL="342900" indent="-342900">
              <a:lnSpc>
                <a:spcPct val="70000"/>
              </a:lnSpc>
              <a:spcBef>
                <a:spcPct val="20000"/>
              </a:spcBef>
            </a:pPr>
            <a:r>
              <a:rPr lang="en-US" b="1" dirty="0">
                <a:solidFill>
                  <a:schemeClr val="tx2"/>
                </a:solidFill>
                <a:latin typeface="Courier New" pitchFamily="49" charset="0"/>
              </a:rPr>
              <a:t>        float *</a:t>
            </a:r>
            <a:r>
              <a:rPr lang="en-US" b="1" dirty="0" err="1">
                <a:solidFill>
                  <a:schemeClr val="tx2"/>
                </a:solidFill>
                <a:latin typeface="Courier New" pitchFamily="49" charset="0"/>
              </a:rPr>
              <a:t>ptr</a:t>
            </a:r>
            <a:r>
              <a:rPr lang="en-US" b="1" dirty="0">
                <a:solidFill>
                  <a:schemeClr val="tx2"/>
                </a:solidFill>
                <a:latin typeface="Courier New" pitchFamily="49" charset="0"/>
              </a:rPr>
              <a:t>;</a:t>
            </a:r>
          </a:p>
          <a:p>
            <a:pPr marL="342900" indent="-342900">
              <a:lnSpc>
                <a:spcPct val="70000"/>
              </a:lnSpc>
              <a:spcBef>
                <a:spcPct val="20000"/>
              </a:spcBef>
            </a:pPr>
            <a:r>
              <a:rPr lang="en-US" b="1" dirty="0">
                <a:solidFill>
                  <a:schemeClr val="tx2"/>
                </a:solidFill>
                <a:latin typeface="Courier New" pitchFamily="49" charset="0"/>
              </a:rPr>
              <a:t>        </a:t>
            </a:r>
            <a:r>
              <a:rPr lang="en-US" b="1" dirty="0" err="1">
                <a:solidFill>
                  <a:schemeClr val="tx2"/>
                </a:solidFill>
                <a:latin typeface="Courier New" pitchFamily="49" charset="0"/>
              </a:rPr>
              <a:t>ptr</a:t>
            </a:r>
            <a:r>
              <a:rPr lang="en-US" b="1" dirty="0">
                <a:solidFill>
                  <a:schemeClr val="tx2"/>
                </a:solidFill>
                <a:latin typeface="Courier New" pitchFamily="49" charset="0"/>
              </a:rPr>
              <a:t> = &amp;data;</a:t>
            </a:r>
          </a:p>
        </p:txBody>
      </p:sp>
      <p:sp>
        <p:nvSpPr>
          <p:cNvPr id="69637" name="Line 5"/>
          <p:cNvSpPr>
            <a:spLocks noChangeShapeType="1"/>
          </p:cNvSpPr>
          <p:nvPr/>
        </p:nvSpPr>
        <p:spPr bwMode="auto">
          <a:xfrm>
            <a:off x="1969351" y="3128513"/>
            <a:ext cx="1600200" cy="0"/>
          </a:xfrm>
          <a:prstGeom prst="line">
            <a:avLst/>
          </a:prstGeom>
          <a:noFill/>
          <a:ln w="25400">
            <a:solidFill>
              <a:schemeClr val="tx1"/>
            </a:solidFill>
            <a:round/>
            <a:headEnd/>
            <a:tailEnd/>
          </a:ln>
        </p:spPr>
        <p:txBody>
          <a:bodyPr wrap="none" anchor="ctr"/>
          <a:lstStyle/>
          <a:p>
            <a:endParaRPr lang="en-US"/>
          </a:p>
        </p:txBody>
      </p:sp>
      <p:sp>
        <p:nvSpPr>
          <p:cNvPr id="69638" name="Line 6"/>
          <p:cNvSpPr>
            <a:spLocks noChangeShapeType="1"/>
          </p:cNvSpPr>
          <p:nvPr/>
        </p:nvSpPr>
        <p:spPr bwMode="auto">
          <a:xfrm>
            <a:off x="1870495" y="5503653"/>
            <a:ext cx="1905000" cy="0"/>
          </a:xfrm>
          <a:prstGeom prst="line">
            <a:avLst/>
          </a:prstGeom>
          <a:noFill/>
          <a:ln w="25400">
            <a:solidFill>
              <a:schemeClr val="tx1"/>
            </a:solidFill>
            <a:round/>
            <a:headEnd/>
            <a:tailEnd/>
          </a:ln>
        </p:spPr>
        <p:txBody>
          <a:bodyPr wrap="none" anchor="ctr"/>
          <a:lstStyle/>
          <a:p>
            <a:endParaRPr lang="en-US"/>
          </a:p>
        </p:txBody>
      </p:sp>
      <p:sp>
        <p:nvSpPr>
          <p:cNvPr id="10" name="Date Placeholder 9"/>
          <p:cNvSpPr>
            <a:spLocks noGrp="1"/>
          </p:cNvSpPr>
          <p:nvPr>
            <p:ph type="dt" sz="half" idx="10"/>
          </p:nvPr>
        </p:nvSpPr>
        <p:spPr/>
        <p:txBody>
          <a:bodyPr/>
          <a:lstStyle/>
          <a:p>
            <a:fld id="{101FA123-F209-4F6B-8A4E-B0727023AA53}" type="datetime1">
              <a:rPr lang="en-US" smtClean="0"/>
              <a:t>9/15/2022</a:t>
            </a:fld>
            <a:endParaRPr lang="en-US"/>
          </a:p>
        </p:txBody>
      </p:sp>
    </p:spTree>
    <p:extLst>
      <p:ext uri="{BB962C8B-B14F-4D97-AF65-F5344CB8AC3E}">
        <p14:creationId xmlns:p14="http://schemas.microsoft.com/office/powerpoint/2010/main" val="404289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69635">
                                            <p:txEl>
                                              <p:pRg st="1" end="1"/>
                                            </p:txEl>
                                          </p:spTgt>
                                        </p:tgtEl>
                                        <p:attrNameLst>
                                          <p:attrName>style.visibility</p:attrName>
                                        </p:attrNameLst>
                                      </p:cBhvr>
                                      <p:to>
                                        <p:strVal val="visible"/>
                                      </p:to>
                                    </p:set>
                                    <p:animEffect transition="in" filter="wipe(left)">
                                      <p:cBhvr>
                                        <p:cTn id="11" dur="500"/>
                                        <p:tgtEl>
                                          <p:spTgt spid="69635">
                                            <p:txEl>
                                              <p:pRg st="1" end="1"/>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9635">
                                            <p:txEl>
                                              <p:pRg st="2" end="2"/>
                                            </p:txEl>
                                          </p:spTgt>
                                        </p:tgtEl>
                                        <p:attrNameLst>
                                          <p:attrName>style.visibility</p:attrName>
                                        </p:attrNameLst>
                                      </p:cBhvr>
                                      <p:to>
                                        <p:strVal val="visible"/>
                                      </p:to>
                                    </p:set>
                                    <p:animEffect transition="in" filter="wipe(left)">
                                      <p:cBhvr>
                                        <p:cTn id="14" dur="500"/>
                                        <p:tgtEl>
                                          <p:spTgt spid="6963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9637"/>
                                        </p:tgtEl>
                                        <p:attrNameLst>
                                          <p:attrName>style.visibility</p:attrName>
                                        </p:attrNameLst>
                                      </p:cBhvr>
                                      <p:to>
                                        <p:strVal val="visible"/>
                                      </p:to>
                                    </p:set>
                                    <p:animEffect transition="in" filter="wipe(left)">
                                      <p:cBhvr>
                                        <p:cTn id="19" dur="500"/>
                                        <p:tgtEl>
                                          <p:spTgt spid="6963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9636"/>
                                        </p:tgtEl>
                                        <p:attrNameLst>
                                          <p:attrName>style.visibility</p:attrName>
                                        </p:attrNameLst>
                                      </p:cBhvr>
                                      <p:to>
                                        <p:strVal val="visible"/>
                                      </p:to>
                                    </p:set>
                                    <p:animEffect transition="in" filter="wipe(left)">
                                      <p:cBhvr>
                                        <p:cTn id="24" dur="500"/>
                                        <p:tgtEl>
                                          <p:spTgt spid="6963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9638"/>
                                        </p:tgtEl>
                                        <p:attrNameLst>
                                          <p:attrName>style.visibility</p:attrName>
                                        </p:attrNameLst>
                                      </p:cBhvr>
                                      <p:to>
                                        <p:strVal val="visible"/>
                                      </p:to>
                                    </p:set>
                                    <p:animEffect transition="in" filter="wipe(left)">
                                      <p:cBhvr>
                                        <p:cTn id="29" dur="500"/>
                                        <p:tgtEl>
                                          <p:spTgt spid="69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autoUpdateAnimBg="0"/>
      <p:bldP spid="69636" grpId="0" autoUpdateAnimBg="0"/>
      <p:bldP spid="69637" grpId="0" animBg="1"/>
      <p:bldP spid="6963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320040"/>
            <a:ext cx="7239000" cy="899160"/>
          </a:xfrm>
        </p:spPr>
        <p:txBody>
          <a:bodyPr>
            <a:normAutofit/>
          </a:bodyPr>
          <a:lstStyle/>
          <a:p>
            <a:pPr eaLnBrk="1" hangingPunct="1"/>
            <a:r>
              <a:rPr lang="en-US" sz="3400" dirty="0"/>
              <a:t>Pointer Operators	</a:t>
            </a:r>
          </a:p>
        </p:txBody>
      </p:sp>
      <p:sp>
        <p:nvSpPr>
          <p:cNvPr id="7171" name="Rectangle 3"/>
          <p:cNvSpPr>
            <a:spLocks noGrp="1" noChangeArrowheads="1"/>
          </p:cNvSpPr>
          <p:nvPr>
            <p:ph type="body" idx="1"/>
          </p:nvPr>
        </p:nvSpPr>
        <p:spPr>
          <a:xfrm>
            <a:off x="923025" y="1906438"/>
            <a:ext cx="8773065" cy="4549298"/>
          </a:xfrm>
        </p:spPr>
        <p:txBody>
          <a:bodyPr/>
          <a:lstStyle/>
          <a:p>
            <a:pPr eaLnBrk="1" hangingPunct="1"/>
            <a:r>
              <a:rPr lang="en-US" sz="2800" b="1" dirty="0">
                <a:latin typeface="Courier New" pitchFamily="49" charset="0"/>
                <a:cs typeface="Times New Roman" pitchFamily="18" charset="0"/>
              </a:rPr>
              <a:t>&amp;</a:t>
            </a:r>
            <a:r>
              <a:rPr lang="en-US" sz="2800" dirty="0">
                <a:cs typeface="Times New Roman" pitchFamily="18" charset="0"/>
              </a:rPr>
              <a:t> (address operator)</a:t>
            </a:r>
          </a:p>
          <a:p>
            <a:pPr lvl="1" eaLnBrk="1" hangingPunct="1"/>
            <a:r>
              <a:rPr lang="en-US" sz="2000" dirty="0">
                <a:cs typeface="Times New Roman" pitchFamily="18" charset="0"/>
              </a:rPr>
              <a:t>Returns address of operand</a:t>
            </a:r>
          </a:p>
          <a:p>
            <a:pPr lvl="1" eaLnBrk="1" hangingPunct="1">
              <a:buFontTx/>
              <a:buNone/>
            </a:pPr>
            <a:r>
              <a:rPr lang="en-US" b="1" dirty="0">
                <a:latin typeface="Courier New" pitchFamily="49" charset="0"/>
                <a:cs typeface="Times New Roman" pitchFamily="18" charset="0"/>
              </a:rPr>
              <a:t>int y = 5;</a:t>
            </a:r>
          </a:p>
          <a:p>
            <a:pPr lvl="1" eaLnBrk="1" hangingPunct="1">
              <a:buFontTx/>
              <a:buNone/>
            </a:pPr>
            <a:r>
              <a:rPr lang="en-US" b="1" dirty="0">
                <a:latin typeface="Courier New" pitchFamily="49" charset="0"/>
                <a:cs typeface="Times New Roman" pitchFamily="18" charset="0"/>
              </a:rPr>
              <a:t>int *</a:t>
            </a:r>
            <a:r>
              <a:rPr lang="en-US" b="1" dirty="0" err="1">
                <a:latin typeface="Courier New" pitchFamily="49" charset="0"/>
                <a:cs typeface="Times New Roman" pitchFamily="18" charset="0"/>
              </a:rPr>
              <a:t>yPtr</a:t>
            </a:r>
            <a:r>
              <a:rPr lang="en-US" b="1" dirty="0">
                <a:latin typeface="Courier New" pitchFamily="49" charset="0"/>
                <a:cs typeface="Times New Roman" pitchFamily="18" charset="0"/>
              </a:rPr>
              <a:t>; </a:t>
            </a:r>
          </a:p>
          <a:p>
            <a:pPr lvl="1" eaLnBrk="1" hangingPunct="1">
              <a:buFontTx/>
              <a:buNone/>
            </a:pPr>
            <a:r>
              <a:rPr lang="en-US" b="1" dirty="0" err="1">
                <a:latin typeface="Courier New" pitchFamily="49" charset="0"/>
                <a:cs typeface="Times New Roman" pitchFamily="18" charset="0"/>
              </a:rPr>
              <a:t>yPtr</a:t>
            </a:r>
            <a:r>
              <a:rPr lang="en-US" b="1" dirty="0">
                <a:latin typeface="Courier New" pitchFamily="49" charset="0"/>
                <a:cs typeface="Times New Roman" pitchFamily="18" charset="0"/>
              </a:rPr>
              <a:t> = &amp;y;  //</a:t>
            </a:r>
            <a:r>
              <a:rPr lang="en-US" b="1" dirty="0" err="1">
                <a:latin typeface="Courier New" pitchFamily="49" charset="0"/>
                <a:cs typeface="Times New Roman" pitchFamily="18" charset="0"/>
              </a:rPr>
              <a:t>yPtr</a:t>
            </a:r>
            <a:r>
              <a:rPr lang="en-US" b="1" dirty="0">
                <a:latin typeface="Courier New" pitchFamily="49" charset="0"/>
                <a:cs typeface="Times New Roman" pitchFamily="18" charset="0"/>
              </a:rPr>
              <a:t> gets address of y</a:t>
            </a:r>
          </a:p>
          <a:p>
            <a:pPr lvl="1" eaLnBrk="1" hangingPunct="1"/>
            <a:r>
              <a:rPr lang="en-US" b="1" dirty="0" err="1">
                <a:latin typeface="Courier New" pitchFamily="49" charset="0"/>
                <a:cs typeface="Times New Roman" pitchFamily="18" charset="0"/>
              </a:rPr>
              <a:t>yPtr</a:t>
            </a:r>
            <a:r>
              <a:rPr lang="en-US" dirty="0">
                <a:cs typeface="Times New Roman" pitchFamily="18" charset="0"/>
              </a:rPr>
              <a:t> “points to”</a:t>
            </a:r>
            <a:r>
              <a:rPr lang="en-US" b="1" dirty="0">
                <a:latin typeface="Courier New" pitchFamily="49" charset="0"/>
                <a:cs typeface="Times New Roman" pitchFamily="18" charset="0"/>
              </a:rPr>
              <a:t> y</a:t>
            </a:r>
          </a:p>
          <a:p>
            <a:pPr lvl="1" eaLnBrk="1" hangingPunct="1"/>
            <a:endParaRPr lang="en-US" b="1" dirty="0">
              <a:latin typeface="Courier New" pitchFamily="49" charset="0"/>
              <a:cs typeface="Times New Roman" pitchFamily="18" charset="0"/>
            </a:endParaRPr>
          </a:p>
        </p:txBody>
      </p:sp>
      <p:grpSp>
        <p:nvGrpSpPr>
          <p:cNvPr id="2" name="Group 35"/>
          <p:cNvGrpSpPr>
            <a:grpSpLocks/>
          </p:cNvGrpSpPr>
          <p:nvPr/>
        </p:nvGrpSpPr>
        <p:grpSpPr bwMode="auto">
          <a:xfrm>
            <a:off x="1524000" y="3917761"/>
            <a:ext cx="7696200" cy="2540000"/>
            <a:chOff x="720" y="1680"/>
            <a:chExt cx="4848" cy="1600"/>
          </a:xfrm>
        </p:grpSpPr>
        <p:sp>
          <p:nvSpPr>
            <p:cNvPr id="7173" name="Freeform 9"/>
            <p:cNvSpPr>
              <a:spLocks/>
            </p:cNvSpPr>
            <p:nvPr/>
          </p:nvSpPr>
          <p:spPr bwMode="auto">
            <a:xfrm>
              <a:off x="729" y="2288"/>
              <a:ext cx="347" cy="208"/>
            </a:xfrm>
            <a:custGeom>
              <a:avLst/>
              <a:gdLst>
                <a:gd name="T0" fmla="*/ 19956 w 20000"/>
                <a:gd name="T1" fmla="*/ 0 h 20000"/>
                <a:gd name="T2" fmla="*/ 19956 w 20000"/>
                <a:gd name="T3" fmla="*/ 19956 h 20000"/>
                <a:gd name="T4" fmla="*/ 0 w 20000"/>
                <a:gd name="T5" fmla="*/ 19956 h 20000"/>
                <a:gd name="T6" fmla="*/ 0 w 20000"/>
                <a:gd name="T7" fmla="*/ 0 h 20000"/>
                <a:gd name="T8" fmla="*/ 19956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56" y="0"/>
                  </a:moveTo>
                  <a:lnTo>
                    <a:pt x="19956" y="19956"/>
                  </a:lnTo>
                  <a:lnTo>
                    <a:pt x="0" y="19956"/>
                  </a:lnTo>
                  <a:lnTo>
                    <a:pt x="0" y="0"/>
                  </a:lnTo>
                  <a:lnTo>
                    <a:pt x="19956" y="0"/>
                  </a:lnTo>
                  <a:close/>
                </a:path>
              </a:pathLst>
            </a:custGeom>
            <a:solidFill>
              <a:schemeClr val="hlink"/>
            </a:solidFill>
            <a:ln w="3175">
              <a:solidFill>
                <a:srgbClr val="000000"/>
              </a:solidFill>
              <a:round/>
              <a:headEnd/>
              <a:tailEnd/>
            </a:ln>
          </p:spPr>
          <p:txBody>
            <a:bodyPr/>
            <a:lstStyle/>
            <a:p>
              <a:endParaRPr lang="en-US"/>
            </a:p>
          </p:txBody>
        </p:sp>
        <p:sp>
          <p:nvSpPr>
            <p:cNvPr id="7174" name="Freeform 15"/>
            <p:cNvSpPr>
              <a:spLocks/>
            </p:cNvSpPr>
            <p:nvPr/>
          </p:nvSpPr>
          <p:spPr bwMode="auto">
            <a:xfrm>
              <a:off x="1814" y="2043"/>
              <a:ext cx="346" cy="208"/>
            </a:xfrm>
            <a:custGeom>
              <a:avLst/>
              <a:gdLst>
                <a:gd name="T0" fmla="*/ 19956 w 20000"/>
                <a:gd name="T1" fmla="*/ 0 h 20000"/>
                <a:gd name="T2" fmla="*/ 19956 w 20000"/>
                <a:gd name="T3" fmla="*/ 19956 h 20000"/>
                <a:gd name="T4" fmla="*/ 0 w 20000"/>
                <a:gd name="T5" fmla="*/ 19956 h 20000"/>
                <a:gd name="T6" fmla="*/ 0 w 20000"/>
                <a:gd name="T7" fmla="*/ 0 h 20000"/>
                <a:gd name="T8" fmla="*/ 19956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56" y="0"/>
                  </a:moveTo>
                  <a:lnTo>
                    <a:pt x="19956" y="19956"/>
                  </a:lnTo>
                  <a:lnTo>
                    <a:pt x="0" y="19956"/>
                  </a:lnTo>
                  <a:lnTo>
                    <a:pt x="0" y="0"/>
                  </a:lnTo>
                  <a:lnTo>
                    <a:pt x="19956" y="0"/>
                  </a:lnTo>
                  <a:close/>
                </a:path>
              </a:pathLst>
            </a:custGeom>
            <a:solidFill>
              <a:schemeClr val="accent1"/>
            </a:solidFill>
            <a:ln w="3175">
              <a:solidFill>
                <a:srgbClr val="000000"/>
              </a:solidFill>
              <a:round/>
              <a:headEnd/>
              <a:tailEnd/>
            </a:ln>
          </p:spPr>
          <p:txBody>
            <a:bodyPr/>
            <a:lstStyle/>
            <a:p>
              <a:endParaRPr lang="en-US"/>
            </a:p>
          </p:txBody>
        </p:sp>
        <p:sp>
          <p:nvSpPr>
            <p:cNvPr id="7175" name="Freeform 5"/>
            <p:cNvSpPr>
              <a:spLocks/>
            </p:cNvSpPr>
            <p:nvPr/>
          </p:nvSpPr>
          <p:spPr bwMode="auto">
            <a:xfrm>
              <a:off x="903" y="2159"/>
              <a:ext cx="911" cy="233"/>
            </a:xfrm>
            <a:custGeom>
              <a:avLst/>
              <a:gdLst>
                <a:gd name="T0" fmla="*/ 19983 w 20000"/>
                <a:gd name="T1" fmla="*/ 0 h 20000"/>
                <a:gd name="T2" fmla="*/ 0 w 20000"/>
                <a:gd name="T3" fmla="*/ 19960 h 20000"/>
                <a:gd name="T4" fmla="*/ 0 60000 65536"/>
                <a:gd name="T5" fmla="*/ 0 60000 65536"/>
                <a:gd name="T6" fmla="*/ 0 w 20000"/>
                <a:gd name="T7" fmla="*/ 0 h 20000"/>
                <a:gd name="T8" fmla="*/ 20000 w 20000"/>
                <a:gd name="T9" fmla="*/ 20000 h 20000"/>
              </a:gdLst>
              <a:ahLst/>
              <a:cxnLst>
                <a:cxn ang="T4">
                  <a:pos x="T0" y="T1"/>
                </a:cxn>
                <a:cxn ang="T5">
                  <a:pos x="T2" y="T3"/>
                </a:cxn>
              </a:cxnLst>
              <a:rect l="T6" t="T7" r="T8" b="T9"/>
              <a:pathLst>
                <a:path w="20000" h="20000">
                  <a:moveTo>
                    <a:pt x="19983" y="0"/>
                  </a:moveTo>
                  <a:lnTo>
                    <a:pt x="0" y="19960"/>
                  </a:lnTo>
                </a:path>
              </a:pathLst>
            </a:custGeom>
            <a:noFill/>
            <a:ln w="3175">
              <a:solidFill>
                <a:srgbClr val="000000"/>
              </a:solidFill>
              <a:round/>
              <a:headEnd type="triangle" w="med" len="sm"/>
              <a:tailEnd/>
            </a:ln>
          </p:spPr>
          <p:txBody>
            <a:bodyPr/>
            <a:lstStyle/>
            <a:p>
              <a:endParaRPr lang="en-US"/>
            </a:p>
          </p:txBody>
        </p:sp>
        <p:sp>
          <p:nvSpPr>
            <p:cNvPr id="7176" name="Rectangle 7"/>
            <p:cNvSpPr>
              <a:spLocks noChangeArrowheads="1"/>
            </p:cNvSpPr>
            <p:nvPr/>
          </p:nvSpPr>
          <p:spPr bwMode="auto">
            <a:xfrm>
              <a:off x="720" y="2165"/>
              <a:ext cx="364" cy="121"/>
            </a:xfrm>
            <a:prstGeom prst="rect">
              <a:avLst/>
            </a:prstGeom>
            <a:noFill/>
            <a:ln w="0">
              <a:noFill/>
              <a:miter lim="800000"/>
              <a:headEnd/>
              <a:tailEnd/>
            </a:ln>
          </p:spPr>
          <p:txBody>
            <a:bodyPr lIns="0" tIns="0" rIns="0" bIns="0"/>
            <a:lstStyle/>
            <a:p>
              <a:pPr>
                <a:lnSpc>
                  <a:spcPct val="72000"/>
                </a:lnSpc>
                <a:spcBef>
                  <a:spcPct val="0"/>
                </a:spcBef>
              </a:pPr>
              <a:r>
                <a:rPr lang="en-US" sz="1600" b="1" noProof="1">
                  <a:latin typeface="Courier New" pitchFamily="49" charset="0"/>
                </a:rPr>
                <a:t>yPtr</a:t>
              </a:r>
            </a:p>
          </p:txBody>
        </p:sp>
        <p:sp>
          <p:nvSpPr>
            <p:cNvPr id="7177" name="Oval 10"/>
            <p:cNvSpPr>
              <a:spLocks noChangeArrowheads="1"/>
            </p:cNvSpPr>
            <p:nvPr/>
          </p:nvSpPr>
          <p:spPr bwMode="auto">
            <a:xfrm>
              <a:off x="867" y="2371"/>
              <a:ext cx="70" cy="42"/>
            </a:xfrm>
            <a:prstGeom prst="ellipse">
              <a:avLst/>
            </a:prstGeom>
            <a:solidFill>
              <a:schemeClr val="tx2"/>
            </a:solidFill>
            <a:ln w="3175">
              <a:solidFill>
                <a:srgbClr val="000000"/>
              </a:solidFill>
              <a:round/>
              <a:headEnd/>
              <a:tailEnd/>
            </a:ln>
          </p:spPr>
          <p:txBody>
            <a:bodyPr/>
            <a:lstStyle/>
            <a:p>
              <a:endParaRPr lang="en-US"/>
            </a:p>
          </p:txBody>
        </p:sp>
        <p:sp>
          <p:nvSpPr>
            <p:cNvPr id="7178" name="Rectangle 12"/>
            <p:cNvSpPr>
              <a:spLocks noChangeArrowheads="1"/>
            </p:cNvSpPr>
            <p:nvPr/>
          </p:nvSpPr>
          <p:spPr bwMode="auto">
            <a:xfrm>
              <a:off x="1929" y="1920"/>
              <a:ext cx="115" cy="121"/>
            </a:xfrm>
            <a:prstGeom prst="rect">
              <a:avLst/>
            </a:prstGeom>
            <a:noFill/>
            <a:ln w="0">
              <a:noFill/>
              <a:miter lim="800000"/>
              <a:headEnd/>
              <a:tailEnd/>
            </a:ln>
          </p:spPr>
          <p:txBody>
            <a:bodyPr lIns="0" tIns="0" rIns="0" bIns="0"/>
            <a:lstStyle/>
            <a:p>
              <a:pPr>
                <a:lnSpc>
                  <a:spcPct val="72000"/>
                </a:lnSpc>
                <a:spcBef>
                  <a:spcPct val="0"/>
                </a:spcBef>
              </a:pPr>
              <a:r>
                <a:rPr lang="en-US" sz="1600" b="1" noProof="1">
                  <a:latin typeface="Courier New" pitchFamily="49" charset="0"/>
                </a:rPr>
                <a:t>y</a:t>
              </a:r>
            </a:p>
          </p:txBody>
        </p:sp>
        <p:sp>
          <p:nvSpPr>
            <p:cNvPr id="7179" name="Rectangle 14"/>
            <p:cNvSpPr>
              <a:spLocks noChangeArrowheads="1"/>
            </p:cNvSpPr>
            <p:nvPr/>
          </p:nvSpPr>
          <p:spPr bwMode="auto">
            <a:xfrm>
              <a:off x="1929" y="2097"/>
              <a:ext cx="115" cy="121"/>
            </a:xfrm>
            <a:prstGeom prst="rect">
              <a:avLst/>
            </a:prstGeom>
            <a:noFill/>
            <a:ln w="0">
              <a:noFill/>
              <a:miter lim="800000"/>
              <a:headEnd/>
              <a:tailEnd/>
            </a:ln>
          </p:spPr>
          <p:txBody>
            <a:bodyPr lIns="0" tIns="0" rIns="0" bIns="0"/>
            <a:lstStyle/>
            <a:p>
              <a:pPr>
                <a:lnSpc>
                  <a:spcPct val="72000"/>
                </a:lnSpc>
                <a:spcBef>
                  <a:spcPct val="0"/>
                </a:spcBef>
              </a:pPr>
              <a:r>
                <a:rPr lang="en-US" sz="1600" b="1" noProof="1">
                  <a:latin typeface="Courier New" pitchFamily="49" charset="0"/>
                </a:rPr>
                <a:t>5</a:t>
              </a:r>
            </a:p>
          </p:txBody>
        </p:sp>
        <p:grpSp>
          <p:nvGrpSpPr>
            <p:cNvPr id="3" name="Group 16"/>
            <p:cNvGrpSpPr>
              <a:grpSpLocks/>
            </p:cNvGrpSpPr>
            <p:nvPr/>
          </p:nvGrpSpPr>
          <p:grpSpPr bwMode="auto">
            <a:xfrm>
              <a:off x="2496" y="1872"/>
              <a:ext cx="3072" cy="432"/>
              <a:chOff x="1" y="0"/>
              <a:chExt cx="19998" cy="20000"/>
            </a:xfrm>
          </p:grpSpPr>
          <p:grpSp>
            <p:nvGrpSpPr>
              <p:cNvPr id="4" name="Group 17"/>
              <p:cNvGrpSpPr>
                <a:grpSpLocks/>
              </p:cNvGrpSpPr>
              <p:nvPr/>
            </p:nvGrpSpPr>
            <p:grpSpPr bwMode="auto">
              <a:xfrm>
                <a:off x="1" y="0"/>
                <a:ext cx="8448" cy="20000"/>
                <a:chOff x="1" y="0"/>
                <a:chExt cx="19999" cy="20000"/>
              </a:xfrm>
            </p:grpSpPr>
            <p:sp>
              <p:nvSpPr>
                <p:cNvPr id="7193" name="Rectangle 18"/>
                <p:cNvSpPr>
                  <a:spLocks noChangeArrowheads="1"/>
                </p:cNvSpPr>
                <p:nvPr/>
              </p:nvSpPr>
              <p:spPr bwMode="auto">
                <a:xfrm>
                  <a:off x="12735" y="0"/>
                  <a:ext cx="5007" cy="8646"/>
                </a:xfrm>
                <a:prstGeom prst="rect">
                  <a:avLst/>
                </a:prstGeom>
                <a:noFill/>
                <a:ln w="0">
                  <a:noFill/>
                  <a:miter lim="800000"/>
                  <a:headEnd/>
                  <a:tailEnd/>
                </a:ln>
              </p:spPr>
              <p:txBody>
                <a:bodyPr lIns="0" tIns="0" rIns="0" bIns="0"/>
                <a:lstStyle/>
                <a:p>
                  <a:pPr>
                    <a:lnSpc>
                      <a:spcPct val="80000"/>
                    </a:lnSpc>
                    <a:spcBef>
                      <a:spcPct val="0"/>
                    </a:spcBef>
                  </a:pPr>
                  <a:r>
                    <a:rPr lang="en-US" sz="1600" b="1" noProof="1">
                      <a:latin typeface="Courier New" pitchFamily="49" charset="0"/>
                    </a:rPr>
                    <a:t>yptr</a:t>
                  </a:r>
                </a:p>
              </p:txBody>
            </p:sp>
            <p:grpSp>
              <p:nvGrpSpPr>
                <p:cNvPr id="5" name="Group 19"/>
                <p:cNvGrpSpPr>
                  <a:grpSpLocks/>
                </p:cNvGrpSpPr>
                <p:nvPr/>
              </p:nvGrpSpPr>
              <p:grpSpPr bwMode="auto">
                <a:xfrm>
                  <a:off x="1" y="8923"/>
                  <a:ext cx="19999" cy="11077"/>
                  <a:chOff x="0" y="0"/>
                  <a:chExt cx="19999" cy="20000"/>
                </a:xfrm>
              </p:grpSpPr>
              <p:sp>
                <p:nvSpPr>
                  <p:cNvPr id="7195" name="Rectangle 20"/>
                  <p:cNvSpPr>
                    <a:spLocks noChangeArrowheads="1"/>
                  </p:cNvSpPr>
                  <p:nvPr/>
                </p:nvSpPr>
                <p:spPr bwMode="auto">
                  <a:xfrm>
                    <a:off x="0" y="3333"/>
                    <a:ext cx="7313" cy="15611"/>
                  </a:xfrm>
                  <a:prstGeom prst="rect">
                    <a:avLst/>
                  </a:prstGeom>
                  <a:noFill/>
                  <a:ln w="0">
                    <a:noFill/>
                    <a:miter lim="800000"/>
                    <a:headEnd/>
                    <a:tailEnd/>
                  </a:ln>
                </p:spPr>
                <p:txBody>
                  <a:bodyPr lIns="0" tIns="0" rIns="0" bIns="0"/>
                  <a:lstStyle/>
                  <a:p>
                    <a:pPr>
                      <a:lnSpc>
                        <a:spcPct val="80000"/>
                      </a:lnSpc>
                      <a:spcBef>
                        <a:spcPct val="0"/>
                      </a:spcBef>
                    </a:pPr>
                    <a:r>
                      <a:rPr lang="en-US" sz="1600" b="1" noProof="1">
                        <a:latin typeface="Courier New" pitchFamily="49" charset="0"/>
                      </a:rPr>
                      <a:t>500000</a:t>
                    </a:r>
                  </a:p>
                </p:txBody>
              </p:sp>
              <p:grpSp>
                <p:nvGrpSpPr>
                  <p:cNvPr id="6" name="Group 21"/>
                  <p:cNvGrpSpPr>
                    <a:grpSpLocks/>
                  </p:cNvGrpSpPr>
                  <p:nvPr/>
                </p:nvGrpSpPr>
                <p:grpSpPr bwMode="auto">
                  <a:xfrm>
                    <a:off x="7313" y="0"/>
                    <a:ext cx="12686" cy="20000"/>
                    <a:chOff x="0" y="0"/>
                    <a:chExt cx="20000" cy="20000"/>
                  </a:xfrm>
                </p:grpSpPr>
                <p:sp>
                  <p:nvSpPr>
                    <p:cNvPr id="7197" name="Rectangle 22"/>
                    <p:cNvSpPr>
                      <a:spLocks noChangeArrowheads="1"/>
                    </p:cNvSpPr>
                    <p:nvPr/>
                  </p:nvSpPr>
                  <p:spPr bwMode="auto">
                    <a:xfrm>
                      <a:off x="4228" y="3333"/>
                      <a:ext cx="11528" cy="15611"/>
                    </a:xfrm>
                    <a:prstGeom prst="rect">
                      <a:avLst/>
                    </a:prstGeom>
                    <a:noFill/>
                    <a:ln w="0">
                      <a:noFill/>
                      <a:miter lim="800000"/>
                      <a:headEnd/>
                      <a:tailEnd/>
                    </a:ln>
                  </p:spPr>
                  <p:txBody>
                    <a:bodyPr lIns="0" tIns="0" rIns="0" bIns="0"/>
                    <a:lstStyle/>
                    <a:p>
                      <a:pPr>
                        <a:lnSpc>
                          <a:spcPct val="80000"/>
                        </a:lnSpc>
                        <a:spcBef>
                          <a:spcPct val="0"/>
                        </a:spcBef>
                      </a:pPr>
                      <a:r>
                        <a:rPr lang="en-US" sz="1600" b="1" noProof="1">
                          <a:latin typeface="Courier New" pitchFamily="49" charset="0"/>
                        </a:rPr>
                        <a:t>600000</a:t>
                      </a:r>
                    </a:p>
                  </p:txBody>
                </p:sp>
                <p:sp>
                  <p:nvSpPr>
                    <p:cNvPr id="7198" name="Freeform 23"/>
                    <p:cNvSpPr>
                      <a:spLocks/>
                    </p:cNvSpPr>
                    <p:nvPr/>
                  </p:nvSpPr>
                  <p:spPr bwMode="auto">
                    <a:xfrm>
                      <a:off x="0" y="0"/>
                      <a:ext cx="20000" cy="20000"/>
                    </a:xfrm>
                    <a:custGeom>
                      <a:avLst/>
                      <a:gdLst>
                        <a:gd name="T0" fmla="*/ 19985 w 20000"/>
                        <a:gd name="T1" fmla="*/ 0 h 20000"/>
                        <a:gd name="T2" fmla="*/ 19985 w 20000"/>
                        <a:gd name="T3" fmla="*/ 19944 h 20000"/>
                        <a:gd name="T4" fmla="*/ 0 w 20000"/>
                        <a:gd name="T5" fmla="*/ 19944 h 20000"/>
                        <a:gd name="T6" fmla="*/ 0 w 20000"/>
                        <a:gd name="T7" fmla="*/ 0 h 20000"/>
                        <a:gd name="T8" fmla="*/ 1998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5" y="0"/>
                          </a:moveTo>
                          <a:lnTo>
                            <a:pt x="19985" y="19944"/>
                          </a:lnTo>
                          <a:lnTo>
                            <a:pt x="0" y="19944"/>
                          </a:lnTo>
                          <a:lnTo>
                            <a:pt x="0" y="0"/>
                          </a:lnTo>
                          <a:lnTo>
                            <a:pt x="19985" y="0"/>
                          </a:lnTo>
                          <a:close/>
                        </a:path>
                      </a:pathLst>
                    </a:custGeom>
                    <a:noFill/>
                    <a:ln w="3175">
                      <a:solidFill>
                        <a:srgbClr val="000000"/>
                      </a:solidFill>
                      <a:round/>
                      <a:headEnd/>
                      <a:tailEnd/>
                    </a:ln>
                  </p:spPr>
                  <p:txBody>
                    <a:bodyPr/>
                    <a:lstStyle/>
                    <a:p>
                      <a:endParaRPr lang="en-US"/>
                    </a:p>
                  </p:txBody>
                </p:sp>
              </p:grpSp>
            </p:grpSp>
          </p:grpSp>
          <p:grpSp>
            <p:nvGrpSpPr>
              <p:cNvPr id="7" name="Group 24"/>
              <p:cNvGrpSpPr>
                <a:grpSpLocks/>
              </p:cNvGrpSpPr>
              <p:nvPr/>
            </p:nvGrpSpPr>
            <p:grpSpPr bwMode="auto">
              <a:xfrm>
                <a:off x="11551" y="0"/>
                <a:ext cx="8448" cy="20000"/>
                <a:chOff x="0" y="0"/>
                <a:chExt cx="20000" cy="20000"/>
              </a:xfrm>
            </p:grpSpPr>
            <p:sp>
              <p:nvSpPr>
                <p:cNvPr id="7187" name="Rectangle 25"/>
                <p:cNvSpPr>
                  <a:spLocks noChangeArrowheads="1"/>
                </p:cNvSpPr>
                <p:nvPr/>
              </p:nvSpPr>
              <p:spPr bwMode="auto">
                <a:xfrm>
                  <a:off x="12879" y="0"/>
                  <a:ext cx="1546" cy="8646"/>
                </a:xfrm>
                <a:prstGeom prst="rect">
                  <a:avLst/>
                </a:prstGeom>
                <a:noFill/>
                <a:ln w="0">
                  <a:noFill/>
                  <a:miter lim="800000"/>
                  <a:headEnd/>
                  <a:tailEnd/>
                </a:ln>
              </p:spPr>
              <p:txBody>
                <a:bodyPr lIns="0" tIns="0" rIns="0" bIns="0"/>
                <a:lstStyle/>
                <a:p>
                  <a:pPr>
                    <a:lnSpc>
                      <a:spcPct val="80000"/>
                    </a:lnSpc>
                    <a:spcBef>
                      <a:spcPct val="0"/>
                    </a:spcBef>
                  </a:pPr>
                  <a:r>
                    <a:rPr lang="en-US" sz="1600" b="1" noProof="1">
                      <a:latin typeface="Courier New" pitchFamily="49" charset="0"/>
                    </a:rPr>
                    <a:t>y</a:t>
                  </a:r>
                </a:p>
              </p:txBody>
            </p:sp>
            <p:grpSp>
              <p:nvGrpSpPr>
                <p:cNvPr id="8" name="Group 26"/>
                <p:cNvGrpSpPr>
                  <a:grpSpLocks/>
                </p:cNvGrpSpPr>
                <p:nvPr/>
              </p:nvGrpSpPr>
              <p:grpSpPr bwMode="auto">
                <a:xfrm>
                  <a:off x="0" y="8923"/>
                  <a:ext cx="20000" cy="11077"/>
                  <a:chOff x="0" y="0"/>
                  <a:chExt cx="20000" cy="20000"/>
                </a:xfrm>
              </p:grpSpPr>
              <p:sp>
                <p:nvSpPr>
                  <p:cNvPr id="7189" name="Rectangle 27"/>
                  <p:cNvSpPr>
                    <a:spLocks noChangeArrowheads="1"/>
                  </p:cNvSpPr>
                  <p:nvPr/>
                </p:nvSpPr>
                <p:spPr bwMode="auto">
                  <a:xfrm>
                    <a:off x="0" y="3333"/>
                    <a:ext cx="7313" cy="15611"/>
                  </a:xfrm>
                  <a:prstGeom prst="rect">
                    <a:avLst/>
                  </a:prstGeom>
                  <a:noFill/>
                  <a:ln w="0">
                    <a:noFill/>
                    <a:miter lim="800000"/>
                    <a:headEnd/>
                    <a:tailEnd/>
                  </a:ln>
                </p:spPr>
                <p:txBody>
                  <a:bodyPr lIns="0" tIns="0" rIns="0" bIns="0"/>
                  <a:lstStyle/>
                  <a:p>
                    <a:pPr>
                      <a:lnSpc>
                        <a:spcPct val="80000"/>
                      </a:lnSpc>
                      <a:spcBef>
                        <a:spcPct val="0"/>
                      </a:spcBef>
                    </a:pPr>
                    <a:r>
                      <a:rPr lang="en-US" sz="1600" b="1" noProof="1">
                        <a:latin typeface="Courier New" pitchFamily="49" charset="0"/>
                      </a:rPr>
                      <a:t>600000</a:t>
                    </a:r>
                  </a:p>
                </p:txBody>
              </p:sp>
              <p:grpSp>
                <p:nvGrpSpPr>
                  <p:cNvPr id="9" name="Group 28"/>
                  <p:cNvGrpSpPr>
                    <a:grpSpLocks/>
                  </p:cNvGrpSpPr>
                  <p:nvPr/>
                </p:nvGrpSpPr>
                <p:grpSpPr bwMode="auto">
                  <a:xfrm>
                    <a:off x="7313" y="0"/>
                    <a:ext cx="12687" cy="20000"/>
                    <a:chOff x="0" y="0"/>
                    <a:chExt cx="19999" cy="20000"/>
                  </a:xfrm>
                </p:grpSpPr>
                <p:sp>
                  <p:nvSpPr>
                    <p:cNvPr id="7191" name="Rectangle 29"/>
                    <p:cNvSpPr>
                      <a:spLocks noChangeArrowheads="1"/>
                    </p:cNvSpPr>
                    <p:nvPr/>
                  </p:nvSpPr>
                  <p:spPr bwMode="auto">
                    <a:xfrm>
                      <a:off x="8774" y="3333"/>
                      <a:ext cx="2437" cy="15611"/>
                    </a:xfrm>
                    <a:prstGeom prst="rect">
                      <a:avLst/>
                    </a:prstGeom>
                    <a:noFill/>
                    <a:ln w="0">
                      <a:noFill/>
                      <a:miter lim="800000"/>
                      <a:headEnd/>
                      <a:tailEnd/>
                    </a:ln>
                  </p:spPr>
                  <p:txBody>
                    <a:bodyPr lIns="0" tIns="0" rIns="0" bIns="0"/>
                    <a:lstStyle/>
                    <a:p>
                      <a:pPr>
                        <a:lnSpc>
                          <a:spcPct val="80000"/>
                        </a:lnSpc>
                        <a:spcBef>
                          <a:spcPct val="0"/>
                        </a:spcBef>
                      </a:pPr>
                      <a:r>
                        <a:rPr lang="en-US" sz="1600" b="1" noProof="1">
                          <a:latin typeface="Courier New" pitchFamily="49" charset="0"/>
                        </a:rPr>
                        <a:t>5</a:t>
                      </a:r>
                    </a:p>
                  </p:txBody>
                </p:sp>
                <p:sp>
                  <p:nvSpPr>
                    <p:cNvPr id="7192" name="Freeform 30"/>
                    <p:cNvSpPr>
                      <a:spLocks/>
                    </p:cNvSpPr>
                    <p:nvPr/>
                  </p:nvSpPr>
                  <p:spPr bwMode="auto">
                    <a:xfrm>
                      <a:off x="0" y="0"/>
                      <a:ext cx="19999" cy="20000"/>
                    </a:xfrm>
                    <a:custGeom>
                      <a:avLst/>
                      <a:gdLst>
                        <a:gd name="T0" fmla="*/ 19985 w 20000"/>
                        <a:gd name="T1" fmla="*/ 0 h 20000"/>
                        <a:gd name="T2" fmla="*/ 19985 w 20000"/>
                        <a:gd name="T3" fmla="*/ 19944 h 20000"/>
                        <a:gd name="T4" fmla="*/ 0 w 20000"/>
                        <a:gd name="T5" fmla="*/ 19944 h 20000"/>
                        <a:gd name="T6" fmla="*/ 0 w 20000"/>
                        <a:gd name="T7" fmla="*/ 0 h 20000"/>
                        <a:gd name="T8" fmla="*/ 1998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5" y="0"/>
                          </a:moveTo>
                          <a:lnTo>
                            <a:pt x="19985" y="19944"/>
                          </a:lnTo>
                          <a:lnTo>
                            <a:pt x="0" y="19944"/>
                          </a:lnTo>
                          <a:lnTo>
                            <a:pt x="0" y="0"/>
                          </a:lnTo>
                          <a:lnTo>
                            <a:pt x="19985" y="0"/>
                          </a:lnTo>
                          <a:close/>
                        </a:path>
                      </a:pathLst>
                    </a:custGeom>
                    <a:noFill/>
                    <a:ln w="3175">
                      <a:solidFill>
                        <a:srgbClr val="000000"/>
                      </a:solidFill>
                      <a:round/>
                      <a:headEnd/>
                      <a:tailEnd/>
                    </a:ln>
                  </p:spPr>
                  <p:txBody>
                    <a:bodyPr/>
                    <a:lstStyle/>
                    <a:p>
                      <a:endParaRPr lang="en-US"/>
                    </a:p>
                  </p:txBody>
                </p:sp>
              </p:grpSp>
            </p:grpSp>
          </p:grpSp>
        </p:grpSp>
        <p:sp>
          <p:nvSpPr>
            <p:cNvPr id="7181" name="Line 31"/>
            <p:cNvSpPr>
              <a:spLocks noChangeShapeType="1"/>
            </p:cNvSpPr>
            <p:nvPr/>
          </p:nvSpPr>
          <p:spPr bwMode="auto">
            <a:xfrm>
              <a:off x="2448" y="1680"/>
              <a:ext cx="0" cy="912"/>
            </a:xfrm>
            <a:prstGeom prst="line">
              <a:avLst/>
            </a:prstGeom>
            <a:noFill/>
            <a:ln w="9525">
              <a:solidFill>
                <a:schemeClr val="tx1"/>
              </a:solidFill>
              <a:round/>
              <a:headEnd/>
              <a:tailEnd/>
            </a:ln>
          </p:spPr>
          <p:txBody>
            <a:bodyPr anchor="ctr">
              <a:spAutoFit/>
            </a:bodyPr>
            <a:lstStyle/>
            <a:p>
              <a:endParaRPr lang="en-US"/>
            </a:p>
          </p:txBody>
        </p:sp>
        <p:sp>
          <p:nvSpPr>
            <p:cNvPr id="7182" name="Text Box 32"/>
            <p:cNvSpPr txBox="1">
              <a:spLocks noChangeArrowheads="1"/>
            </p:cNvSpPr>
            <p:nvPr/>
          </p:nvSpPr>
          <p:spPr bwMode="auto">
            <a:xfrm>
              <a:off x="3696" y="2640"/>
              <a:ext cx="1056" cy="640"/>
            </a:xfrm>
            <a:prstGeom prst="rect">
              <a:avLst/>
            </a:prstGeom>
            <a:solidFill>
              <a:srgbClr val="99CCFF"/>
            </a:solidFill>
            <a:ln w="9525">
              <a:solidFill>
                <a:schemeClr val="tx1"/>
              </a:solidFill>
              <a:miter lim="800000"/>
              <a:headEnd/>
              <a:tailEnd/>
            </a:ln>
          </p:spPr>
          <p:txBody>
            <a:bodyPr>
              <a:spAutoFit/>
            </a:bodyPr>
            <a:lstStyle/>
            <a:p>
              <a:r>
                <a:rPr lang="en-US" sz="2000"/>
                <a:t>Address of </a:t>
              </a:r>
              <a:r>
                <a:rPr lang="en-US" sz="2000" b="1">
                  <a:latin typeface="Courier New" pitchFamily="49" charset="0"/>
                </a:rPr>
                <a:t>y</a:t>
              </a:r>
              <a:r>
                <a:rPr lang="en-US" sz="2000"/>
                <a:t> is value of </a:t>
              </a:r>
              <a:r>
                <a:rPr lang="en-US" sz="2000" b="1">
                  <a:latin typeface="Courier New" pitchFamily="49" charset="0"/>
                </a:rPr>
                <a:t>yptr</a:t>
              </a:r>
            </a:p>
          </p:txBody>
        </p:sp>
        <p:sp>
          <p:nvSpPr>
            <p:cNvPr id="7183" name="Line 33"/>
            <p:cNvSpPr>
              <a:spLocks noChangeShapeType="1"/>
            </p:cNvSpPr>
            <p:nvPr/>
          </p:nvSpPr>
          <p:spPr bwMode="auto">
            <a:xfrm flipV="1">
              <a:off x="4320" y="2256"/>
              <a:ext cx="144" cy="384"/>
            </a:xfrm>
            <a:prstGeom prst="line">
              <a:avLst/>
            </a:prstGeom>
            <a:noFill/>
            <a:ln w="9525">
              <a:solidFill>
                <a:schemeClr val="tx1"/>
              </a:solidFill>
              <a:round/>
              <a:headEnd/>
              <a:tailEnd type="triangle" w="med" len="med"/>
            </a:ln>
          </p:spPr>
          <p:txBody>
            <a:bodyPr anchor="ctr">
              <a:spAutoFit/>
            </a:bodyPr>
            <a:lstStyle/>
            <a:p>
              <a:endParaRPr lang="en-US"/>
            </a:p>
          </p:txBody>
        </p:sp>
        <p:sp>
          <p:nvSpPr>
            <p:cNvPr id="7184" name="Line 34"/>
            <p:cNvSpPr>
              <a:spLocks noChangeShapeType="1"/>
            </p:cNvSpPr>
            <p:nvPr/>
          </p:nvSpPr>
          <p:spPr bwMode="auto">
            <a:xfrm flipH="1" flipV="1">
              <a:off x="3456" y="2208"/>
              <a:ext cx="384" cy="432"/>
            </a:xfrm>
            <a:prstGeom prst="line">
              <a:avLst/>
            </a:prstGeom>
            <a:noFill/>
            <a:ln w="9525">
              <a:solidFill>
                <a:schemeClr val="tx1"/>
              </a:solidFill>
              <a:round/>
              <a:headEnd/>
              <a:tailEnd type="triangle" w="med" len="med"/>
            </a:ln>
          </p:spPr>
          <p:txBody>
            <a:bodyPr anchor="ctr">
              <a:spAutoFit/>
            </a:bodyPr>
            <a:lstStyle/>
            <a:p>
              <a:endParaRPr lang="en-US"/>
            </a:p>
          </p:txBody>
        </p:sp>
      </p:grpSp>
      <p:sp>
        <p:nvSpPr>
          <p:cNvPr id="31" name="Date Placeholder 30"/>
          <p:cNvSpPr>
            <a:spLocks noGrp="1"/>
          </p:cNvSpPr>
          <p:nvPr>
            <p:ph type="dt" sz="half" idx="10"/>
          </p:nvPr>
        </p:nvSpPr>
        <p:spPr/>
        <p:txBody>
          <a:bodyPr/>
          <a:lstStyle/>
          <a:p>
            <a:fld id="{749495A5-1417-4682-A3C7-F62DB2BE693A}" type="datetime1">
              <a:rPr lang="en-US" smtClean="0"/>
              <a:t>9/15/2022</a:t>
            </a:fld>
            <a:endParaRPr lang="en-US"/>
          </a:p>
        </p:txBody>
      </p:sp>
      <p:sp>
        <p:nvSpPr>
          <p:cNvPr id="32" name="Slide Number Placeholder 31"/>
          <p:cNvSpPr>
            <a:spLocks noGrp="1"/>
          </p:cNvSpPr>
          <p:nvPr>
            <p:ph type="sldNum" sz="quarter" idx="12"/>
          </p:nvPr>
        </p:nvSpPr>
        <p:spPr/>
        <p:txBody>
          <a:bodyPr/>
          <a:lstStyle/>
          <a:p>
            <a:fld id="{A04D1FF3-96D2-4F17-898C-74B5120CFF37}" type="slidenum">
              <a:rPr lang="en-US" smtClean="0"/>
              <a:pPr/>
              <a:t>11</a:t>
            </a:fld>
            <a:endParaRPr lang="en-US"/>
          </a:p>
        </p:txBody>
      </p:sp>
      <p:sp>
        <p:nvSpPr>
          <p:cNvPr id="33" name="Footer Placeholder 32"/>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38363898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Dereferencing Operator (</a:t>
            </a:r>
            <a:r>
              <a:rPr lang="en-US" smtClean="0">
                <a:latin typeface="Courier New" pitchFamily="49" charset="0"/>
              </a:rPr>
              <a:t>*</a:t>
            </a:r>
            <a:r>
              <a:rPr lang="en-US" smtClean="0"/>
              <a:t>)</a:t>
            </a:r>
          </a:p>
        </p:txBody>
      </p:sp>
      <p:sp>
        <p:nvSpPr>
          <p:cNvPr id="10243" name="Rectangle 3"/>
          <p:cNvSpPr>
            <a:spLocks noGrp="1" noChangeArrowheads="1"/>
          </p:cNvSpPr>
          <p:nvPr>
            <p:ph idx="1"/>
          </p:nvPr>
        </p:nvSpPr>
        <p:spPr>
          <a:xfrm>
            <a:off x="1097280" y="1880558"/>
            <a:ext cx="8808720" cy="4444042"/>
          </a:xfrm>
        </p:spPr>
        <p:txBody>
          <a:bodyPr/>
          <a:lstStyle/>
          <a:p>
            <a:pPr eaLnBrk="1" hangingPunct="1"/>
            <a:r>
              <a:rPr lang="en-US" sz="2800" dirty="0"/>
              <a:t>When used as a unary operator, </a:t>
            </a:r>
            <a:r>
              <a:rPr lang="en-US" sz="2800" dirty="0">
                <a:latin typeface="Courier New" pitchFamily="49" charset="0"/>
              </a:rPr>
              <a:t>*</a:t>
            </a:r>
            <a:r>
              <a:rPr lang="en-US" sz="2800" dirty="0"/>
              <a:t> is the dereferencing operator or indirection operator</a:t>
            </a:r>
          </a:p>
          <a:p>
            <a:pPr lvl="1" eaLnBrk="1" hangingPunct="1"/>
            <a:r>
              <a:rPr lang="en-US" sz="2400" dirty="0"/>
              <a:t>Refers to object to which its operand points</a:t>
            </a:r>
          </a:p>
          <a:p>
            <a:pPr eaLnBrk="1" hangingPunct="1"/>
            <a:r>
              <a:rPr lang="en-US" sz="2800" dirty="0"/>
              <a:t>Example:</a:t>
            </a:r>
          </a:p>
          <a:p>
            <a:pPr eaLnBrk="1" hangingPunct="1"/>
            <a:endParaRPr lang="en-US" sz="2800" dirty="0"/>
          </a:p>
          <a:p>
            <a:pPr eaLnBrk="1" hangingPunct="1">
              <a:lnSpc>
                <a:spcPct val="90000"/>
              </a:lnSpc>
            </a:pPr>
            <a:endParaRPr lang="en-US" sz="2800" dirty="0"/>
          </a:p>
          <a:p>
            <a:pPr lvl="1" eaLnBrk="1" hangingPunct="1"/>
            <a:r>
              <a:rPr lang="en-US" sz="2400" dirty="0"/>
              <a:t>To print the value of </a:t>
            </a:r>
            <a:r>
              <a:rPr lang="en-US" sz="2400" dirty="0">
                <a:latin typeface="Courier New" pitchFamily="49" charset="0"/>
              </a:rPr>
              <a:t>x</a:t>
            </a:r>
            <a:r>
              <a:rPr lang="en-US" sz="2400" dirty="0"/>
              <a:t>, using </a:t>
            </a:r>
            <a:r>
              <a:rPr lang="en-US" sz="2400" dirty="0">
                <a:latin typeface="Courier New" pitchFamily="49" charset="0"/>
              </a:rPr>
              <a:t>p</a:t>
            </a:r>
            <a:r>
              <a:rPr lang="en-US" sz="2400" dirty="0"/>
              <a:t>:</a:t>
            </a:r>
          </a:p>
          <a:p>
            <a:pPr lvl="1" eaLnBrk="1" hangingPunct="1"/>
            <a:endParaRPr lang="en-US" sz="2400" dirty="0"/>
          </a:p>
          <a:p>
            <a:pPr lvl="1" eaLnBrk="1" hangingPunct="1"/>
            <a:r>
              <a:rPr lang="en-US" sz="2400" dirty="0"/>
              <a:t>To store a value in </a:t>
            </a:r>
            <a:r>
              <a:rPr lang="en-US" sz="2400" dirty="0">
                <a:latin typeface="Courier New" pitchFamily="49" charset="0"/>
              </a:rPr>
              <a:t>x</a:t>
            </a:r>
            <a:r>
              <a:rPr lang="en-US" sz="2400" dirty="0"/>
              <a:t>, using </a:t>
            </a:r>
            <a:r>
              <a:rPr lang="en-US" sz="2400" dirty="0">
                <a:latin typeface="Courier New" pitchFamily="49" charset="0"/>
              </a:rPr>
              <a:t>p</a:t>
            </a:r>
            <a:r>
              <a:rPr lang="en-US" sz="2400" dirty="0"/>
              <a:t>:</a:t>
            </a:r>
          </a:p>
        </p:txBody>
      </p:sp>
      <p:sp>
        <p:nvSpPr>
          <p:cNvPr id="10244" name="Footer Placeholder 4"/>
          <p:cNvSpPr>
            <a:spLocks noGrp="1"/>
          </p:cNvSpPr>
          <p:nvPr>
            <p:ph type="ftr" sz="quarter" idx="11"/>
          </p:nvPr>
        </p:nvSpPr>
        <p:spPr bwMode="auto">
          <a:noFill/>
          <a:ln>
            <a:miter lim="800000"/>
            <a:headEnd/>
            <a:tailEnd/>
          </a:ln>
        </p:spPr>
        <p:txBody>
          <a:bodyPr/>
          <a:lstStyle/>
          <a:p>
            <a:r>
              <a:rPr lang="en-US" smtClean="0"/>
              <a:t>Designed by Ms Anosha Khan</a:t>
            </a:r>
            <a:endParaRPr lang="en-US" smtClean="0"/>
          </a:p>
        </p:txBody>
      </p:sp>
      <p:sp>
        <p:nvSpPr>
          <p:cNvPr id="11267" name="Slide Number Placeholder 5"/>
          <p:cNvSpPr>
            <a:spLocks noGrp="1"/>
          </p:cNvSpPr>
          <p:nvPr>
            <p:ph type="sldNum" sz="quarter" idx="12"/>
          </p:nvPr>
        </p:nvSpPr>
        <p:spPr/>
        <p:txBody>
          <a:bodyPr/>
          <a:lstStyle/>
          <a:p>
            <a:pPr>
              <a:defRPr/>
            </a:pPr>
            <a:fld id="{C310B851-C4A4-483F-A0F1-A4F8D37EF41E}" type="slidenum">
              <a:rPr lang="en-US"/>
              <a:pPr>
                <a:defRPr/>
              </a:pPr>
              <a:t>12</a:t>
            </a:fld>
            <a:endParaRPr lang="en-US"/>
          </a:p>
        </p:txBody>
      </p:sp>
      <p:pic>
        <p:nvPicPr>
          <p:cNvPr id="10246" name="Picture 5"/>
          <p:cNvPicPr>
            <a:picLocks noChangeAspect="1" noChangeArrowheads="1"/>
          </p:cNvPicPr>
          <p:nvPr/>
        </p:nvPicPr>
        <p:blipFill>
          <a:blip r:embed="rId2"/>
          <a:srcRect/>
          <a:stretch>
            <a:fillRect/>
          </a:stretch>
        </p:blipFill>
        <p:spPr bwMode="auto">
          <a:xfrm>
            <a:off x="1975450" y="3703608"/>
            <a:ext cx="6124575" cy="996950"/>
          </a:xfrm>
          <a:prstGeom prst="rect">
            <a:avLst/>
          </a:prstGeom>
          <a:noFill/>
          <a:ln w="9525">
            <a:noFill/>
            <a:miter lim="800000"/>
            <a:headEnd/>
            <a:tailEnd/>
          </a:ln>
        </p:spPr>
      </p:pic>
      <p:pic>
        <p:nvPicPr>
          <p:cNvPr id="10247" name="Picture 6"/>
          <p:cNvPicPr>
            <a:picLocks noChangeAspect="1" noChangeArrowheads="1"/>
          </p:cNvPicPr>
          <p:nvPr/>
        </p:nvPicPr>
        <p:blipFill>
          <a:blip r:embed="rId3"/>
          <a:srcRect/>
          <a:stretch>
            <a:fillRect/>
          </a:stretch>
        </p:blipFill>
        <p:spPr bwMode="auto">
          <a:xfrm>
            <a:off x="3686185" y="5187352"/>
            <a:ext cx="2970212" cy="447675"/>
          </a:xfrm>
          <a:prstGeom prst="rect">
            <a:avLst/>
          </a:prstGeom>
          <a:noFill/>
          <a:ln w="9525">
            <a:noFill/>
            <a:miter lim="800000"/>
            <a:headEnd/>
            <a:tailEnd/>
          </a:ln>
        </p:spPr>
      </p:pic>
      <p:pic>
        <p:nvPicPr>
          <p:cNvPr id="10248" name="Picture 7"/>
          <p:cNvPicPr>
            <a:picLocks noChangeAspect="1" noChangeArrowheads="1"/>
          </p:cNvPicPr>
          <p:nvPr/>
        </p:nvPicPr>
        <p:blipFill>
          <a:blip r:embed="rId4"/>
          <a:srcRect/>
          <a:stretch>
            <a:fillRect/>
          </a:stretch>
        </p:blipFill>
        <p:spPr bwMode="auto">
          <a:xfrm>
            <a:off x="5257810" y="5635027"/>
            <a:ext cx="1398587" cy="366713"/>
          </a:xfrm>
          <a:prstGeom prst="rect">
            <a:avLst/>
          </a:prstGeom>
          <a:noFill/>
          <a:ln w="9525">
            <a:noFill/>
            <a:miter lim="800000"/>
            <a:headEnd/>
            <a:tailEnd/>
          </a:ln>
        </p:spPr>
      </p:pic>
      <p:sp>
        <p:nvSpPr>
          <p:cNvPr id="9" name="Date Placeholder 8"/>
          <p:cNvSpPr>
            <a:spLocks noGrp="1"/>
          </p:cNvSpPr>
          <p:nvPr>
            <p:ph type="dt" sz="half" idx="10"/>
          </p:nvPr>
        </p:nvSpPr>
        <p:spPr/>
        <p:txBody>
          <a:bodyPr/>
          <a:lstStyle/>
          <a:p>
            <a:fld id="{D6BB7D46-63AE-4021-8159-23BCDEB78499}" type="datetime1">
              <a:rPr lang="en-US" smtClean="0"/>
              <a:t>9/15/2022</a:t>
            </a:fld>
            <a:endParaRPr lang="en-US"/>
          </a:p>
        </p:txBody>
      </p:sp>
    </p:spTree>
    <p:extLst>
      <p:ext uri="{BB962C8B-B14F-4D97-AF65-F5344CB8AC3E}">
        <p14:creationId xmlns:p14="http://schemas.microsoft.com/office/powerpoint/2010/main" val="20121761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lide Number Placeholder 2"/>
          <p:cNvSpPr>
            <a:spLocks noGrp="1"/>
          </p:cNvSpPr>
          <p:nvPr>
            <p:ph type="sldNum" sz="quarter" idx="10"/>
          </p:nvPr>
        </p:nvSpPr>
        <p:spPr/>
        <p:txBody>
          <a:bodyPr/>
          <a:lstStyle/>
          <a:p>
            <a:pPr>
              <a:defRPr/>
            </a:pPr>
            <a:fld id="{76F95534-A5AD-4D7C-BB34-64A5296B5F1F}" type="slidenum">
              <a:rPr lang="en-US"/>
              <a:pPr>
                <a:defRPr/>
              </a:pPr>
              <a:t>13</a:t>
            </a:fld>
            <a:endParaRPr lang="en-US"/>
          </a:p>
        </p:txBody>
      </p:sp>
      <p:sp>
        <p:nvSpPr>
          <p:cNvPr id="5123" name="Rectangle 2"/>
          <p:cNvSpPr>
            <a:spLocks noGrp="1" noChangeArrowheads="1"/>
          </p:cNvSpPr>
          <p:nvPr>
            <p:ph type="title"/>
          </p:nvPr>
        </p:nvSpPr>
        <p:spPr>
          <a:xfrm>
            <a:off x="1173193" y="980089"/>
            <a:ext cx="7242048" cy="746760"/>
          </a:xfrm>
        </p:spPr>
        <p:txBody>
          <a:bodyPr>
            <a:normAutofit/>
          </a:bodyPr>
          <a:lstStyle/>
          <a:p>
            <a:pPr eaLnBrk="1" hangingPunct="1"/>
            <a:r>
              <a:rPr lang="en-US" sz="4400" dirty="0"/>
              <a:t>Pointer Examples</a:t>
            </a:r>
          </a:p>
        </p:txBody>
      </p:sp>
      <p:sp>
        <p:nvSpPr>
          <p:cNvPr id="5124" name="Text Box 5"/>
          <p:cNvSpPr txBox="1">
            <a:spLocks noChangeArrowheads="1"/>
          </p:cNvSpPr>
          <p:nvPr/>
        </p:nvSpPr>
        <p:spPr bwMode="auto">
          <a:xfrm>
            <a:off x="8291513" y="3625850"/>
            <a:ext cx="673100" cy="336550"/>
          </a:xfrm>
          <a:prstGeom prst="rect">
            <a:avLst/>
          </a:prstGeom>
          <a:noFill/>
          <a:ln w="9525" algn="ctr">
            <a:noFill/>
            <a:miter lim="800000"/>
            <a:headEnd/>
            <a:tailEnd/>
          </a:ln>
        </p:spPr>
        <p:txBody>
          <a:bodyPr wrap="none">
            <a:spAutoFit/>
          </a:bodyPr>
          <a:lstStyle/>
          <a:p>
            <a:pPr algn="l"/>
            <a:r>
              <a:rPr lang="en-US" sz="1600">
                <a:latin typeface="Courier New" pitchFamily="49" charset="0"/>
              </a:rPr>
              <a:t>4892</a:t>
            </a:r>
          </a:p>
        </p:txBody>
      </p:sp>
      <p:sp>
        <p:nvSpPr>
          <p:cNvPr id="5125" name="Text Box 6"/>
          <p:cNvSpPr txBox="1">
            <a:spLocks noChangeArrowheads="1"/>
          </p:cNvSpPr>
          <p:nvPr/>
        </p:nvSpPr>
        <p:spPr bwMode="auto">
          <a:xfrm>
            <a:off x="7881938" y="3625850"/>
            <a:ext cx="550862" cy="336550"/>
          </a:xfrm>
          <a:prstGeom prst="rect">
            <a:avLst/>
          </a:prstGeom>
          <a:noFill/>
          <a:ln w="9525" algn="ctr">
            <a:noFill/>
            <a:miter lim="800000"/>
            <a:headEnd/>
            <a:tailEnd/>
          </a:ln>
        </p:spPr>
        <p:txBody>
          <a:bodyPr wrap="none">
            <a:spAutoFit/>
          </a:bodyPr>
          <a:lstStyle/>
          <a:p>
            <a:r>
              <a:rPr lang="en-US" sz="1600">
                <a:latin typeface="Courier New" pitchFamily="49" charset="0"/>
              </a:rPr>
              <a:t>x :</a:t>
            </a:r>
          </a:p>
        </p:txBody>
      </p:sp>
      <p:sp>
        <p:nvSpPr>
          <p:cNvPr id="5126" name="Text Box 8"/>
          <p:cNvSpPr txBox="1">
            <a:spLocks noChangeArrowheads="1"/>
          </p:cNvSpPr>
          <p:nvPr/>
        </p:nvSpPr>
        <p:spPr bwMode="auto">
          <a:xfrm>
            <a:off x="8291513" y="5911850"/>
            <a:ext cx="673100" cy="336550"/>
          </a:xfrm>
          <a:prstGeom prst="rect">
            <a:avLst/>
          </a:prstGeom>
          <a:noFill/>
          <a:ln w="9525" algn="ctr">
            <a:noFill/>
            <a:miter lim="800000"/>
            <a:headEnd/>
            <a:tailEnd/>
          </a:ln>
        </p:spPr>
        <p:txBody>
          <a:bodyPr wrap="none">
            <a:spAutoFit/>
          </a:bodyPr>
          <a:lstStyle/>
          <a:p>
            <a:pPr algn="l"/>
            <a:r>
              <a:rPr lang="en-US" sz="1600">
                <a:latin typeface="Courier New" pitchFamily="49" charset="0"/>
              </a:rPr>
              <a:t>4904</a:t>
            </a:r>
          </a:p>
        </p:txBody>
      </p:sp>
      <p:sp>
        <p:nvSpPr>
          <p:cNvPr id="5127" name="Text Box 9"/>
          <p:cNvSpPr txBox="1">
            <a:spLocks noChangeArrowheads="1"/>
          </p:cNvSpPr>
          <p:nvPr/>
        </p:nvSpPr>
        <p:spPr bwMode="auto">
          <a:xfrm>
            <a:off x="7759700" y="5911850"/>
            <a:ext cx="673100" cy="336550"/>
          </a:xfrm>
          <a:prstGeom prst="rect">
            <a:avLst/>
          </a:prstGeom>
          <a:noFill/>
          <a:ln w="9525" algn="ctr">
            <a:noFill/>
            <a:miter lim="800000"/>
            <a:headEnd/>
            <a:tailEnd/>
          </a:ln>
        </p:spPr>
        <p:txBody>
          <a:bodyPr wrap="none">
            <a:spAutoFit/>
          </a:bodyPr>
          <a:lstStyle/>
          <a:p>
            <a:r>
              <a:rPr lang="en-US" sz="1600">
                <a:latin typeface="Courier New" pitchFamily="49" charset="0"/>
              </a:rPr>
              <a:t>ip :</a:t>
            </a:r>
          </a:p>
        </p:txBody>
      </p:sp>
      <p:sp>
        <p:nvSpPr>
          <p:cNvPr id="210955" name="Text Box 11"/>
          <p:cNvSpPr txBox="1">
            <a:spLocks noChangeArrowheads="1"/>
          </p:cNvSpPr>
          <p:nvPr/>
        </p:nvSpPr>
        <p:spPr bwMode="auto">
          <a:xfrm>
            <a:off x="1173193" y="1837426"/>
            <a:ext cx="9129684" cy="4401205"/>
          </a:xfrm>
          <a:prstGeom prst="rect">
            <a:avLst/>
          </a:prstGeom>
          <a:noFill/>
          <a:ln w="9525" algn="ctr">
            <a:noFill/>
            <a:miter lim="800000"/>
            <a:headEnd/>
            <a:tailEnd/>
          </a:ln>
        </p:spPr>
        <p:txBody>
          <a:bodyPr wrap="square">
            <a:spAutoFit/>
          </a:bodyPr>
          <a:lstStyle/>
          <a:p>
            <a:pPr>
              <a:lnSpc>
                <a:spcPct val="125000"/>
              </a:lnSpc>
              <a:tabLst>
                <a:tab pos="2286000" algn="l"/>
              </a:tabLst>
            </a:pPr>
            <a:r>
              <a:rPr lang="en-US" sz="1600" dirty="0" err="1">
                <a:solidFill>
                  <a:srgbClr val="800000"/>
                </a:solidFill>
                <a:latin typeface="Courier New" pitchFamily="49" charset="0"/>
              </a:rPr>
              <a:t>int</a:t>
            </a:r>
            <a:r>
              <a:rPr lang="en-US" sz="1600" dirty="0">
                <a:solidFill>
                  <a:srgbClr val="800000"/>
                </a:solidFill>
                <a:latin typeface="Courier New" pitchFamily="49" charset="0"/>
              </a:rPr>
              <a:t> x = 70, y = 80, z[4] = {10, 20, 30, 40 };	</a:t>
            </a:r>
          </a:p>
          <a:p>
            <a:pPr>
              <a:lnSpc>
                <a:spcPct val="125000"/>
              </a:lnSpc>
              <a:tabLst>
                <a:tab pos="2286000" algn="l"/>
              </a:tabLst>
            </a:pPr>
            <a:r>
              <a:rPr lang="en-US" sz="1600" dirty="0" err="1">
                <a:solidFill>
                  <a:srgbClr val="800000"/>
                </a:solidFill>
                <a:latin typeface="Courier New" pitchFamily="49" charset="0"/>
              </a:rPr>
              <a:t>int</a:t>
            </a:r>
            <a:r>
              <a:rPr lang="en-US" sz="1600" dirty="0">
                <a:solidFill>
                  <a:srgbClr val="800000"/>
                </a:solidFill>
                <a:latin typeface="Courier New" pitchFamily="49" charset="0"/>
              </a:rPr>
              <a:t> *</a:t>
            </a:r>
            <a:r>
              <a:rPr lang="en-US" sz="1600" dirty="0" err="1">
                <a:solidFill>
                  <a:srgbClr val="800000"/>
                </a:solidFill>
                <a:latin typeface="Courier New" pitchFamily="49" charset="0"/>
              </a:rPr>
              <a:t>ip</a:t>
            </a:r>
            <a:r>
              <a:rPr lang="en-US" sz="1600" dirty="0">
                <a:solidFill>
                  <a:srgbClr val="800000"/>
                </a:solidFill>
                <a:latin typeface="Courier New" pitchFamily="49" charset="0"/>
              </a:rPr>
              <a:t>;	</a:t>
            </a:r>
            <a:r>
              <a:rPr lang="en-US" sz="1600" dirty="0">
                <a:solidFill>
                  <a:srgbClr val="FF9966"/>
                </a:solidFill>
                <a:latin typeface="Courier New" pitchFamily="49" charset="0"/>
              </a:rPr>
              <a:t>// </a:t>
            </a:r>
            <a:r>
              <a:rPr lang="en-US" sz="1600" dirty="0" err="1">
                <a:solidFill>
                  <a:srgbClr val="FF9966"/>
                </a:solidFill>
                <a:latin typeface="Courier New" pitchFamily="49" charset="0"/>
              </a:rPr>
              <a:t>int</a:t>
            </a:r>
            <a:r>
              <a:rPr lang="en-US" sz="1600" dirty="0">
                <a:solidFill>
                  <a:srgbClr val="FF9966"/>
                </a:solidFill>
                <a:latin typeface="Courier New" pitchFamily="49" charset="0"/>
              </a:rPr>
              <a:t> pointer </a:t>
            </a:r>
            <a:r>
              <a:rPr lang="en-US" sz="1600" dirty="0" err="1">
                <a:solidFill>
                  <a:srgbClr val="FF9966"/>
                </a:solidFill>
                <a:latin typeface="Courier New" pitchFamily="49" charset="0"/>
              </a:rPr>
              <a:t>ip</a:t>
            </a:r>
            <a:endParaRPr lang="en-US" sz="1600" dirty="0">
              <a:solidFill>
                <a:srgbClr val="FF9966"/>
              </a:solidFill>
              <a:latin typeface="Courier New" pitchFamily="49" charset="0"/>
            </a:endParaRPr>
          </a:p>
          <a:p>
            <a:pPr>
              <a:lnSpc>
                <a:spcPct val="125000"/>
              </a:lnSpc>
              <a:tabLst>
                <a:tab pos="2286000" algn="l"/>
              </a:tabLst>
            </a:pPr>
            <a:endParaRPr lang="en-US" sz="1600" dirty="0">
              <a:solidFill>
                <a:srgbClr val="800000"/>
              </a:solidFill>
              <a:latin typeface="Courier New" pitchFamily="49" charset="0"/>
            </a:endParaRPr>
          </a:p>
          <a:p>
            <a:pPr>
              <a:lnSpc>
                <a:spcPct val="125000"/>
              </a:lnSpc>
              <a:tabLst>
                <a:tab pos="2286000" algn="l"/>
              </a:tabLst>
            </a:pPr>
            <a:r>
              <a:rPr lang="en-US" sz="1600" dirty="0" err="1">
                <a:solidFill>
                  <a:srgbClr val="800000"/>
                </a:solidFill>
                <a:latin typeface="Courier New" pitchFamily="49" charset="0"/>
              </a:rPr>
              <a:t>ip</a:t>
            </a:r>
            <a:r>
              <a:rPr lang="en-US" sz="1600" dirty="0">
                <a:solidFill>
                  <a:srgbClr val="800000"/>
                </a:solidFill>
                <a:latin typeface="Courier New" pitchFamily="49" charset="0"/>
              </a:rPr>
              <a:t> = &amp;x;	</a:t>
            </a:r>
            <a:r>
              <a:rPr lang="en-US" sz="1600" dirty="0">
                <a:solidFill>
                  <a:srgbClr val="FF9966"/>
                </a:solidFill>
                <a:latin typeface="Courier New" pitchFamily="49" charset="0"/>
              </a:rPr>
              <a:t>// </a:t>
            </a:r>
            <a:r>
              <a:rPr lang="en-US" sz="1600" dirty="0" err="1">
                <a:solidFill>
                  <a:srgbClr val="FF9966"/>
                </a:solidFill>
                <a:latin typeface="Courier New" pitchFamily="49" charset="0"/>
              </a:rPr>
              <a:t>ip</a:t>
            </a:r>
            <a:r>
              <a:rPr lang="en-US" sz="1600" dirty="0">
                <a:solidFill>
                  <a:srgbClr val="FF9966"/>
                </a:solidFill>
                <a:latin typeface="Courier New" pitchFamily="49" charset="0"/>
              </a:rPr>
              <a:t> is assigned to address of x</a:t>
            </a:r>
          </a:p>
          <a:p>
            <a:pPr>
              <a:lnSpc>
                <a:spcPct val="125000"/>
              </a:lnSpc>
              <a:tabLst>
                <a:tab pos="2286000" algn="l"/>
              </a:tabLst>
            </a:pPr>
            <a:r>
              <a:rPr lang="en-US" sz="1600" dirty="0">
                <a:solidFill>
                  <a:srgbClr val="800000"/>
                </a:solidFill>
                <a:latin typeface="Courier New" pitchFamily="49" charset="0"/>
              </a:rPr>
              <a:t>*</a:t>
            </a:r>
            <a:r>
              <a:rPr lang="en-US" sz="1600" dirty="0" err="1">
                <a:solidFill>
                  <a:srgbClr val="800000"/>
                </a:solidFill>
                <a:latin typeface="Courier New" pitchFamily="49" charset="0"/>
              </a:rPr>
              <a:t>ip</a:t>
            </a:r>
            <a:r>
              <a:rPr lang="en-US" sz="1600" dirty="0">
                <a:solidFill>
                  <a:srgbClr val="800000"/>
                </a:solidFill>
                <a:latin typeface="Courier New" pitchFamily="49" charset="0"/>
              </a:rPr>
              <a:t> = 200;	</a:t>
            </a:r>
            <a:r>
              <a:rPr lang="en-US" sz="1600" dirty="0">
                <a:solidFill>
                  <a:srgbClr val="FF9966"/>
                </a:solidFill>
                <a:latin typeface="Courier New" pitchFamily="49" charset="0"/>
              </a:rPr>
              <a:t>// content of </a:t>
            </a:r>
            <a:r>
              <a:rPr lang="en-US" sz="1600" dirty="0" err="1">
                <a:solidFill>
                  <a:srgbClr val="FF9966"/>
                </a:solidFill>
                <a:latin typeface="Courier New" pitchFamily="49" charset="0"/>
              </a:rPr>
              <a:t>ip</a:t>
            </a:r>
            <a:r>
              <a:rPr lang="en-US" sz="1600" dirty="0">
                <a:solidFill>
                  <a:srgbClr val="FF9966"/>
                </a:solidFill>
                <a:latin typeface="Courier New" pitchFamily="49" charset="0"/>
              </a:rPr>
              <a:t> is assigned to 200</a:t>
            </a:r>
          </a:p>
          <a:p>
            <a:pPr>
              <a:lnSpc>
                <a:spcPct val="125000"/>
              </a:lnSpc>
              <a:tabLst>
                <a:tab pos="2286000" algn="l"/>
              </a:tabLst>
            </a:pPr>
            <a:r>
              <a:rPr lang="en-US" sz="1600" dirty="0">
                <a:solidFill>
                  <a:srgbClr val="800000"/>
                </a:solidFill>
                <a:latin typeface="Courier New" pitchFamily="49" charset="0"/>
              </a:rPr>
              <a:t>y = *</a:t>
            </a:r>
            <a:r>
              <a:rPr lang="en-US" sz="1600" dirty="0" err="1">
                <a:solidFill>
                  <a:srgbClr val="800000"/>
                </a:solidFill>
                <a:latin typeface="Courier New" pitchFamily="49" charset="0"/>
              </a:rPr>
              <a:t>ip</a:t>
            </a:r>
            <a:r>
              <a:rPr lang="en-US" sz="1600" dirty="0">
                <a:solidFill>
                  <a:srgbClr val="800000"/>
                </a:solidFill>
                <a:latin typeface="Courier New" pitchFamily="49" charset="0"/>
              </a:rPr>
              <a:t>;	</a:t>
            </a:r>
            <a:r>
              <a:rPr lang="en-US" sz="1600" dirty="0">
                <a:solidFill>
                  <a:srgbClr val="FF9966"/>
                </a:solidFill>
                <a:latin typeface="Courier New" pitchFamily="49" charset="0"/>
              </a:rPr>
              <a:t>// y is assigned to content of </a:t>
            </a:r>
            <a:r>
              <a:rPr lang="en-US" sz="1600" dirty="0" err="1">
                <a:solidFill>
                  <a:srgbClr val="FF9966"/>
                </a:solidFill>
                <a:latin typeface="Courier New" pitchFamily="49" charset="0"/>
              </a:rPr>
              <a:t>ip</a:t>
            </a:r>
            <a:endParaRPr lang="en-US" sz="1600" dirty="0">
              <a:solidFill>
                <a:srgbClr val="FF9966"/>
              </a:solidFill>
              <a:latin typeface="Courier New" pitchFamily="49" charset="0"/>
            </a:endParaRPr>
          </a:p>
          <a:p>
            <a:pPr>
              <a:lnSpc>
                <a:spcPct val="125000"/>
              </a:lnSpc>
              <a:tabLst>
                <a:tab pos="2286000" algn="l"/>
              </a:tabLst>
            </a:pPr>
            <a:r>
              <a:rPr lang="en-US" sz="1600" dirty="0" err="1">
                <a:solidFill>
                  <a:srgbClr val="800000"/>
                </a:solidFill>
                <a:latin typeface="Courier New" pitchFamily="49" charset="0"/>
              </a:rPr>
              <a:t>ip</a:t>
            </a:r>
            <a:r>
              <a:rPr lang="en-US" sz="1600" dirty="0">
                <a:solidFill>
                  <a:srgbClr val="800000"/>
                </a:solidFill>
                <a:latin typeface="Courier New" pitchFamily="49" charset="0"/>
              </a:rPr>
              <a:t> = &amp;z[2];	</a:t>
            </a:r>
          </a:p>
          <a:p>
            <a:pPr>
              <a:lnSpc>
                <a:spcPct val="125000"/>
              </a:lnSpc>
              <a:tabLst>
                <a:tab pos="2286000" algn="l"/>
              </a:tabLst>
            </a:pPr>
            <a:r>
              <a:rPr lang="en-US" sz="1600" dirty="0">
                <a:solidFill>
                  <a:srgbClr val="800000"/>
                </a:solidFill>
                <a:latin typeface="Courier New" pitchFamily="49" charset="0"/>
              </a:rPr>
              <a:t>*</a:t>
            </a:r>
            <a:r>
              <a:rPr lang="en-US" sz="1600" dirty="0" err="1">
                <a:solidFill>
                  <a:srgbClr val="800000"/>
                </a:solidFill>
                <a:latin typeface="Courier New" pitchFamily="49" charset="0"/>
              </a:rPr>
              <a:t>ip</a:t>
            </a:r>
            <a:r>
              <a:rPr lang="en-US" sz="1600" dirty="0">
                <a:solidFill>
                  <a:srgbClr val="800000"/>
                </a:solidFill>
                <a:latin typeface="Courier New" pitchFamily="49" charset="0"/>
              </a:rPr>
              <a:t> = *</a:t>
            </a:r>
            <a:r>
              <a:rPr lang="en-US" sz="1600" dirty="0" err="1">
                <a:solidFill>
                  <a:srgbClr val="800000"/>
                </a:solidFill>
                <a:latin typeface="Courier New" pitchFamily="49" charset="0"/>
              </a:rPr>
              <a:t>ip</a:t>
            </a:r>
            <a:r>
              <a:rPr lang="en-US" sz="1600" dirty="0">
                <a:solidFill>
                  <a:srgbClr val="800000"/>
                </a:solidFill>
                <a:latin typeface="Courier New" pitchFamily="49" charset="0"/>
              </a:rPr>
              <a:t> + 20;	</a:t>
            </a:r>
            <a:r>
              <a:rPr lang="en-US" sz="1600" dirty="0">
                <a:solidFill>
                  <a:srgbClr val="FF9966"/>
                </a:solidFill>
                <a:latin typeface="Courier New" pitchFamily="49" charset="0"/>
              </a:rPr>
              <a:t>// same as *</a:t>
            </a:r>
            <a:r>
              <a:rPr lang="en-US" sz="1600" dirty="0" err="1">
                <a:solidFill>
                  <a:srgbClr val="FF9966"/>
                </a:solidFill>
                <a:latin typeface="Courier New" pitchFamily="49" charset="0"/>
              </a:rPr>
              <a:t>ip</a:t>
            </a:r>
            <a:r>
              <a:rPr lang="en-US" sz="1600" dirty="0">
                <a:solidFill>
                  <a:srgbClr val="FF9966"/>
                </a:solidFill>
                <a:latin typeface="Courier New" pitchFamily="49" charset="0"/>
              </a:rPr>
              <a:t> += 20;</a:t>
            </a:r>
          </a:p>
          <a:p>
            <a:pPr>
              <a:lnSpc>
                <a:spcPct val="125000"/>
              </a:lnSpc>
              <a:tabLst>
                <a:tab pos="2286000" algn="l"/>
              </a:tabLst>
            </a:pPr>
            <a:r>
              <a:rPr lang="en-US" sz="1600" dirty="0">
                <a:solidFill>
                  <a:srgbClr val="800000"/>
                </a:solidFill>
                <a:latin typeface="Courier New" pitchFamily="49" charset="0"/>
              </a:rPr>
              <a:t>y = *ip+1;</a:t>
            </a:r>
          </a:p>
          <a:p>
            <a:pPr>
              <a:lnSpc>
                <a:spcPct val="125000"/>
              </a:lnSpc>
              <a:tabLst>
                <a:tab pos="2286000" algn="l"/>
              </a:tabLst>
            </a:pPr>
            <a:endParaRPr lang="en-US" sz="1600" dirty="0">
              <a:solidFill>
                <a:srgbClr val="800000"/>
              </a:solidFill>
              <a:latin typeface="Courier New" pitchFamily="49" charset="0"/>
            </a:endParaRPr>
          </a:p>
          <a:p>
            <a:pPr>
              <a:lnSpc>
                <a:spcPct val="125000"/>
              </a:lnSpc>
              <a:tabLst>
                <a:tab pos="2286000" algn="l"/>
              </a:tabLst>
            </a:pPr>
            <a:endParaRPr lang="en-US" sz="1600" dirty="0">
              <a:solidFill>
                <a:srgbClr val="800000"/>
              </a:solidFill>
              <a:latin typeface="Courier New" pitchFamily="49" charset="0"/>
            </a:endParaRPr>
          </a:p>
          <a:p>
            <a:pPr>
              <a:lnSpc>
                <a:spcPct val="125000"/>
              </a:lnSpc>
              <a:tabLst>
                <a:tab pos="2286000" algn="l"/>
              </a:tabLst>
            </a:pPr>
            <a:endParaRPr lang="en-US" sz="1600" dirty="0">
              <a:solidFill>
                <a:srgbClr val="800000"/>
              </a:solidFill>
              <a:latin typeface="Courier New" pitchFamily="49" charset="0"/>
            </a:endParaRPr>
          </a:p>
          <a:p>
            <a:pPr>
              <a:lnSpc>
                <a:spcPct val="125000"/>
              </a:lnSpc>
              <a:tabLst>
                <a:tab pos="2286000" algn="l"/>
              </a:tabLst>
            </a:pPr>
            <a:endParaRPr lang="en-US" sz="1600" dirty="0">
              <a:solidFill>
                <a:srgbClr val="800000"/>
              </a:solidFill>
              <a:latin typeface="Courier New" pitchFamily="49" charset="0"/>
            </a:endParaRPr>
          </a:p>
          <a:p>
            <a:pPr>
              <a:lnSpc>
                <a:spcPct val="125000"/>
              </a:lnSpc>
              <a:tabLst>
                <a:tab pos="2286000" algn="l"/>
              </a:tabLst>
            </a:pPr>
            <a:endParaRPr lang="en-US" sz="1600" dirty="0">
              <a:solidFill>
                <a:srgbClr val="800000"/>
              </a:solidFill>
              <a:latin typeface="Courier New" pitchFamily="49" charset="0"/>
            </a:endParaRPr>
          </a:p>
        </p:txBody>
      </p:sp>
      <p:sp>
        <p:nvSpPr>
          <p:cNvPr id="5129" name="Text Box 13"/>
          <p:cNvSpPr txBox="1">
            <a:spLocks noChangeArrowheads="1"/>
          </p:cNvSpPr>
          <p:nvPr/>
        </p:nvSpPr>
        <p:spPr bwMode="auto">
          <a:xfrm>
            <a:off x="8291513" y="4006850"/>
            <a:ext cx="673100" cy="336550"/>
          </a:xfrm>
          <a:prstGeom prst="rect">
            <a:avLst/>
          </a:prstGeom>
          <a:noFill/>
          <a:ln w="9525" algn="ctr">
            <a:noFill/>
            <a:miter lim="800000"/>
            <a:headEnd/>
            <a:tailEnd/>
          </a:ln>
        </p:spPr>
        <p:txBody>
          <a:bodyPr wrap="none">
            <a:spAutoFit/>
          </a:bodyPr>
          <a:lstStyle/>
          <a:p>
            <a:pPr algn="l"/>
            <a:r>
              <a:rPr lang="en-US" sz="1600">
                <a:latin typeface="Courier New" pitchFamily="49" charset="0"/>
              </a:rPr>
              <a:t>4894</a:t>
            </a:r>
          </a:p>
        </p:txBody>
      </p:sp>
      <p:sp>
        <p:nvSpPr>
          <p:cNvPr id="5130" name="Text Box 14"/>
          <p:cNvSpPr txBox="1">
            <a:spLocks noChangeArrowheads="1"/>
          </p:cNvSpPr>
          <p:nvPr/>
        </p:nvSpPr>
        <p:spPr bwMode="auto">
          <a:xfrm>
            <a:off x="7881938" y="4006850"/>
            <a:ext cx="550862" cy="336550"/>
          </a:xfrm>
          <a:prstGeom prst="rect">
            <a:avLst/>
          </a:prstGeom>
          <a:noFill/>
          <a:ln w="9525" algn="ctr">
            <a:noFill/>
            <a:miter lim="800000"/>
            <a:headEnd/>
            <a:tailEnd/>
          </a:ln>
        </p:spPr>
        <p:txBody>
          <a:bodyPr wrap="none">
            <a:spAutoFit/>
          </a:bodyPr>
          <a:lstStyle/>
          <a:p>
            <a:r>
              <a:rPr lang="en-US" sz="1600">
                <a:latin typeface="Courier New" pitchFamily="49" charset="0"/>
              </a:rPr>
              <a:t>y :</a:t>
            </a:r>
          </a:p>
        </p:txBody>
      </p:sp>
      <p:sp>
        <p:nvSpPr>
          <p:cNvPr id="5131" name="Text Box 16"/>
          <p:cNvSpPr txBox="1">
            <a:spLocks noChangeArrowheads="1"/>
          </p:cNvSpPr>
          <p:nvPr/>
        </p:nvSpPr>
        <p:spPr bwMode="auto">
          <a:xfrm>
            <a:off x="8291513" y="4387850"/>
            <a:ext cx="673100" cy="336550"/>
          </a:xfrm>
          <a:prstGeom prst="rect">
            <a:avLst/>
          </a:prstGeom>
          <a:noFill/>
          <a:ln w="9525" algn="ctr">
            <a:noFill/>
            <a:miter lim="800000"/>
            <a:headEnd/>
            <a:tailEnd/>
          </a:ln>
        </p:spPr>
        <p:txBody>
          <a:bodyPr wrap="none">
            <a:spAutoFit/>
          </a:bodyPr>
          <a:lstStyle/>
          <a:p>
            <a:pPr algn="l"/>
            <a:r>
              <a:rPr lang="en-US" sz="1600">
                <a:latin typeface="Courier New" pitchFamily="49" charset="0"/>
              </a:rPr>
              <a:t>4896</a:t>
            </a:r>
          </a:p>
        </p:txBody>
      </p:sp>
      <p:sp>
        <p:nvSpPr>
          <p:cNvPr id="5132" name="Text Box 17"/>
          <p:cNvSpPr txBox="1">
            <a:spLocks noChangeArrowheads="1"/>
          </p:cNvSpPr>
          <p:nvPr/>
        </p:nvSpPr>
        <p:spPr bwMode="auto">
          <a:xfrm>
            <a:off x="7148514" y="4387850"/>
            <a:ext cx="1284287" cy="336550"/>
          </a:xfrm>
          <a:prstGeom prst="rect">
            <a:avLst/>
          </a:prstGeom>
          <a:noFill/>
          <a:ln w="9525" algn="ctr">
            <a:noFill/>
            <a:miter lim="800000"/>
            <a:headEnd/>
            <a:tailEnd/>
          </a:ln>
        </p:spPr>
        <p:txBody>
          <a:bodyPr wrap="none">
            <a:spAutoFit/>
          </a:bodyPr>
          <a:lstStyle/>
          <a:p>
            <a:r>
              <a:rPr lang="en-US" sz="1600">
                <a:latin typeface="Courier New" pitchFamily="49" charset="0"/>
              </a:rPr>
              <a:t>Z, Z[0] :</a:t>
            </a:r>
          </a:p>
        </p:txBody>
      </p:sp>
      <p:sp>
        <p:nvSpPr>
          <p:cNvPr id="5133" name="Text Box 19"/>
          <p:cNvSpPr txBox="1">
            <a:spLocks noChangeArrowheads="1"/>
          </p:cNvSpPr>
          <p:nvPr/>
        </p:nvSpPr>
        <p:spPr bwMode="auto">
          <a:xfrm>
            <a:off x="8291513" y="4768850"/>
            <a:ext cx="673100" cy="336550"/>
          </a:xfrm>
          <a:prstGeom prst="rect">
            <a:avLst/>
          </a:prstGeom>
          <a:noFill/>
          <a:ln w="9525" algn="ctr">
            <a:noFill/>
            <a:miter lim="800000"/>
            <a:headEnd/>
            <a:tailEnd/>
          </a:ln>
        </p:spPr>
        <p:txBody>
          <a:bodyPr wrap="none">
            <a:spAutoFit/>
          </a:bodyPr>
          <a:lstStyle/>
          <a:p>
            <a:pPr algn="l"/>
            <a:r>
              <a:rPr lang="en-US" sz="1600">
                <a:latin typeface="Courier New" pitchFamily="49" charset="0"/>
              </a:rPr>
              <a:t>4898</a:t>
            </a:r>
          </a:p>
        </p:txBody>
      </p:sp>
      <p:sp>
        <p:nvSpPr>
          <p:cNvPr id="5134" name="Text Box 20"/>
          <p:cNvSpPr txBox="1">
            <a:spLocks noChangeArrowheads="1"/>
          </p:cNvSpPr>
          <p:nvPr/>
        </p:nvSpPr>
        <p:spPr bwMode="auto">
          <a:xfrm>
            <a:off x="7515226" y="4768850"/>
            <a:ext cx="917575" cy="336550"/>
          </a:xfrm>
          <a:prstGeom prst="rect">
            <a:avLst/>
          </a:prstGeom>
          <a:noFill/>
          <a:ln w="9525" algn="ctr">
            <a:noFill/>
            <a:miter lim="800000"/>
            <a:headEnd/>
            <a:tailEnd/>
          </a:ln>
        </p:spPr>
        <p:txBody>
          <a:bodyPr wrap="none">
            <a:spAutoFit/>
          </a:bodyPr>
          <a:lstStyle/>
          <a:p>
            <a:r>
              <a:rPr lang="en-US" sz="1600">
                <a:latin typeface="Courier New" pitchFamily="49" charset="0"/>
              </a:rPr>
              <a:t>Z[1] :</a:t>
            </a:r>
          </a:p>
        </p:txBody>
      </p:sp>
      <p:sp>
        <p:nvSpPr>
          <p:cNvPr id="5135" name="Text Box 22"/>
          <p:cNvSpPr txBox="1">
            <a:spLocks noChangeArrowheads="1"/>
          </p:cNvSpPr>
          <p:nvPr/>
        </p:nvSpPr>
        <p:spPr bwMode="auto">
          <a:xfrm>
            <a:off x="8291513" y="5149850"/>
            <a:ext cx="673100" cy="336550"/>
          </a:xfrm>
          <a:prstGeom prst="rect">
            <a:avLst/>
          </a:prstGeom>
          <a:noFill/>
          <a:ln w="9525" algn="ctr">
            <a:noFill/>
            <a:miter lim="800000"/>
            <a:headEnd/>
            <a:tailEnd/>
          </a:ln>
        </p:spPr>
        <p:txBody>
          <a:bodyPr wrap="none">
            <a:spAutoFit/>
          </a:bodyPr>
          <a:lstStyle/>
          <a:p>
            <a:pPr algn="l"/>
            <a:r>
              <a:rPr lang="en-US" sz="1600">
                <a:latin typeface="Courier New" pitchFamily="49" charset="0"/>
              </a:rPr>
              <a:t>4900</a:t>
            </a:r>
          </a:p>
        </p:txBody>
      </p:sp>
      <p:sp>
        <p:nvSpPr>
          <p:cNvPr id="5136" name="Text Box 23"/>
          <p:cNvSpPr txBox="1">
            <a:spLocks noChangeArrowheads="1"/>
          </p:cNvSpPr>
          <p:nvPr/>
        </p:nvSpPr>
        <p:spPr bwMode="auto">
          <a:xfrm>
            <a:off x="7515226" y="5149850"/>
            <a:ext cx="917575" cy="336550"/>
          </a:xfrm>
          <a:prstGeom prst="rect">
            <a:avLst/>
          </a:prstGeom>
          <a:noFill/>
          <a:ln w="9525" algn="ctr">
            <a:noFill/>
            <a:miter lim="800000"/>
            <a:headEnd/>
            <a:tailEnd/>
          </a:ln>
        </p:spPr>
        <p:txBody>
          <a:bodyPr wrap="none">
            <a:spAutoFit/>
          </a:bodyPr>
          <a:lstStyle/>
          <a:p>
            <a:r>
              <a:rPr lang="en-US" sz="1600">
                <a:latin typeface="Courier New" pitchFamily="49" charset="0"/>
              </a:rPr>
              <a:t>Z[2] :</a:t>
            </a:r>
          </a:p>
        </p:txBody>
      </p:sp>
      <p:sp>
        <p:nvSpPr>
          <p:cNvPr id="5137" name="Text Box 25"/>
          <p:cNvSpPr txBox="1">
            <a:spLocks noChangeArrowheads="1"/>
          </p:cNvSpPr>
          <p:nvPr/>
        </p:nvSpPr>
        <p:spPr bwMode="auto">
          <a:xfrm>
            <a:off x="8291513" y="5530850"/>
            <a:ext cx="673100" cy="336550"/>
          </a:xfrm>
          <a:prstGeom prst="rect">
            <a:avLst/>
          </a:prstGeom>
          <a:noFill/>
          <a:ln w="9525" algn="ctr">
            <a:noFill/>
            <a:miter lim="800000"/>
            <a:headEnd/>
            <a:tailEnd/>
          </a:ln>
        </p:spPr>
        <p:txBody>
          <a:bodyPr wrap="none">
            <a:spAutoFit/>
          </a:bodyPr>
          <a:lstStyle/>
          <a:p>
            <a:pPr algn="l"/>
            <a:r>
              <a:rPr lang="en-US" sz="1600">
                <a:latin typeface="Courier New" pitchFamily="49" charset="0"/>
              </a:rPr>
              <a:t>4902</a:t>
            </a:r>
          </a:p>
        </p:txBody>
      </p:sp>
      <p:sp>
        <p:nvSpPr>
          <p:cNvPr id="5138" name="Text Box 26"/>
          <p:cNvSpPr txBox="1">
            <a:spLocks noChangeArrowheads="1"/>
          </p:cNvSpPr>
          <p:nvPr/>
        </p:nvSpPr>
        <p:spPr bwMode="auto">
          <a:xfrm>
            <a:off x="7515226" y="5530850"/>
            <a:ext cx="917575" cy="336550"/>
          </a:xfrm>
          <a:prstGeom prst="rect">
            <a:avLst/>
          </a:prstGeom>
          <a:noFill/>
          <a:ln w="9525" algn="ctr">
            <a:noFill/>
            <a:miter lim="800000"/>
            <a:headEnd/>
            <a:tailEnd/>
          </a:ln>
        </p:spPr>
        <p:txBody>
          <a:bodyPr wrap="none">
            <a:spAutoFit/>
          </a:bodyPr>
          <a:lstStyle/>
          <a:p>
            <a:r>
              <a:rPr lang="en-US" sz="1600">
                <a:latin typeface="Courier New" pitchFamily="49" charset="0"/>
              </a:rPr>
              <a:t>Z[3] :</a:t>
            </a:r>
          </a:p>
        </p:txBody>
      </p:sp>
      <p:grpSp>
        <p:nvGrpSpPr>
          <p:cNvPr id="2" name="Group 30"/>
          <p:cNvGrpSpPr>
            <a:grpSpLocks/>
          </p:cNvGrpSpPr>
          <p:nvPr/>
        </p:nvGrpSpPr>
        <p:grpSpPr bwMode="auto">
          <a:xfrm>
            <a:off x="9066214" y="3200400"/>
            <a:ext cx="1068387" cy="3352800"/>
            <a:chOff x="4568" y="2016"/>
            <a:chExt cx="673" cy="2112"/>
          </a:xfrm>
          <a:solidFill>
            <a:schemeClr val="bg1"/>
          </a:solidFill>
        </p:grpSpPr>
        <p:sp>
          <p:nvSpPr>
            <p:cNvPr id="5150" name="Rectangle 4"/>
            <p:cNvSpPr>
              <a:spLocks noChangeArrowheads="1"/>
            </p:cNvSpPr>
            <p:nvPr/>
          </p:nvSpPr>
          <p:spPr bwMode="auto">
            <a:xfrm>
              <a:off x="4568" y="2256"/>
              <a:ext cx="672" cy="240"/>
            </a:xfrm>
            <a:prstGeom prst="rect">
              <a:avLst/>
            </a:prstGeom>
            <a:grpFill/>
            <a:ln w="9525" algn="ctr">
              <a:solidFill>
                <a:schemeClr val="tx1"/>
              </a:solidFill>
              <a:miter lim="800000"/>
              <a:headEnd/>
              <a:tailEnd/>
            </a:ln>
          </p:spPr>
          <p:txBody>
            <a:bodyPr wrap="none" anchor="ctr"/>
            <a:lstStyle/>
            <a:p>
              <a:pPr algn="ctr"/>
              <a:r>
                <a:rPr lang="en-US" sz="1600">
                  <a:latin typeface="Courier New" pitchFamily="49" charset="0"/>
                </a:rPr>
                <a:t>70</a:t>
              </a:r>
            </a:p>
          </p:txBody>
        </p:sp>
        <p:sp>
          <p:nvSpPr>
            <p:cNvPr id="5151" name="Rectangle 7"/>
            <p:cNvSpPr>
              <a:spLocks noChangeArrowheads="1"/>
            </p:cNvSpPr>
            <p:nvPr/>
          </p:nvSpPr>
          <p:spPr bwMode="auto">
            <a:xfrm>
              <a:off x="4568" y="3696"/>
              <a:ext cx="672" cy="240"/>
            </a:xfrm>
            <a:prstGeom prst="rect">
              <a:avLst/>
            </a:prstGeom>
            <a:grpFill/>
            <a:ln w="9525" algn="ctr">
              <a:solidFill>
                <a:schemeClr val="tx1"/>
              </a:solidFill>
              <a:miter lim="800000"/>
              <a:headEnd/>
              <a:tailEnd/>
            </a:ln>
          </p:spPr>
          <p:txBody>
            <a:bodyPr wrap="none" anchor="ctr"/>
            <a:lstStyle/>
            <a:p>
              <a:pPr algn="ctr"/>
              <a:r>
                <a:rPr lang="en-US" sz="1600">
                  <a:latin typeface="Courier New" pitchFamily="49" charset="0"/>
                </a:rPr>
                <a:t>????</a:t>
              </a:r>
            </a:p>
          </p:txBody>
        </p:sp>
        <p:sp>
          <p:nvSpPr>
            <p:cNvPr id="5152" name="Rectangle 12"/>
            <p:cNvSpPr>
              <a:spLocks noChangeArrowheads="1"/>
            </p:cNvSpPr>
            <p:nvPr/>
          </p:nvSpPr>
          <p:spPr bwMode="auto">
            <a:xfrm>
              <a:off x="4568" y="2496"/>
              <a:ext cx="672" cy="240"/>
            </a:xfrm>
            <a:prstGeom prst="rect">
              <a:avLst/>
            </a:prstGeom>
            <a:grpFill/>
            <a:ln w="9525" algn="ctr">
              <a:solidFill>
                <a:schemeClr val="tx1"/>
              </a:solidFill>
              <a:miter lim="800000"/>
              <a:headEnd/>
              <a:tailEnd/>
            </a:ln>
          </p:spPr>
          <p:txBody>
            <a:bodyPr wrap="none" anchor="ctr"/>
            <a:lstStyle/>
            <a:p>
              <a:pPr algn="ctr"/>
              <a:r>
                <a:rPr lang="en-US" sz="1600">
                  <a:latin typeface="Courier New" pitchFamily="49" charset="0"/>
                </a:rPr>
                <a:t>80</a:t>
              </a:r>
            </a:p>
          </p:txBody>
        </p:sp>
        <p:sp>
          <p:nvSpPr>
            <p:cNvPr id="5153" name="Rectangle 15"/>
            <p:cNvSpPr>
              <a:spLocks noChangeArrowheads="1"/>
            </p:cNvSpPr>
            <p:nvPr/>
          </p:nvSpPr>
          <p:spPr bwMode="auto">
            <a:xfrm>
              <a:off x="4568" y="2736"/>
              <a:ext cx="672" cy="240"/>
            </a:xfrm>
            <a:prstGeom prst="rect">
              <a:avLst/>
            </a:prstGeom>
            <a:grpFill/>
            <a:ln w="9525" algn="ctr">
              <a:solidFill>
                <a:schemeClr val="tx1"/>
              </a:solidFill>
              <a:miter lim="800000"/>
              <a:headEnd/>
              <a:tailEnd/>
            </a:ln>
          </p:spPr>
          <p:txBody>
            <a:bodyPr wrap="none" anchor="ctr"/>
            <a:lstStyle/>
            <a:p>
              <a:pPr algn="ctr"/>
              <a:r>
                <a:rPr lang="en-US" sz="1600">
                  <a:latin typeface="Courier New" pitchFamily="49" charset="0"/>
                </a:rPr>
                <a:t>10</a:t>
              </a:r>
            </a:p>
          </p:txBody>
        </p:sp>
        <p:sp>
          <p:nvSpPr>
            <p:cNvPr id="5154" name="Rectangle 18"/>
            <p:cNvSpPr>
              <a:spLocks noChangeArrowheads="1"/>
            </p:cNvSpPr>
            <p:nvPr/>
          </p:nvSpPr>
          <p:spPr bwMode="auto">
            <a:xfrm>
              <a:off x="4568" y="2976"/>
              <a:ext cx="672" cy="240"/>
            </a:xfrm>
            <a:prstGeom prst="rect">
              <a:avLst/>
            </a:prstGeom>
            <a:grpFill/>
            <a:ln w="9525" algn="ctr">
              <a:solidFill>
                <a:schemeClr val="tx1"/>
              </a:solidFill>
              <a:miter lim="800000"/>
              <a:headEnd/>
              <a:tailEnd/>
            </a:ln>
          </p:spPr>
          <p:txBody>
            <a:bodyPr wrap="none" anchor="ctr"/>
            <a:lstStyle/>
            <a:p>
              <a:pPr algn="ctr"/>
              <a:r>
                <a:rPr lang="en-US" sz="1600">
                  <a:latin typeface="Courier New" pitchFamily="49" charset="0"/>
                </a:rPr>
                <a:t>20</a:t>
              </a:r>
            </a:p>
          </p:txBody>
        </p:sp>
        <p:sp>
          <p:nvSpPr>
            <p:cNvPr id="5155" name="Rectangle 21"/>
            <p:cNvSpPr>
              <a:spLocks noChangeArrowheads="1"/>
            </p:cNvSpPr>
            <p:nvPr/>
          </p:nvSpPr>
          <p:spPr bwMode="auto">
            <a:xfrm>
              <a:off x="4568" y="3216"/>
              <a:ext cx="672" cy="240"/>
            </a:xfrm>
            <a:prstGeom prst="rect">
              <a:avLst/>
            </a:prstGeom>
            <a:grpFill/>
            <a:ln w="9525" algn="ctr">
              <a:solidFill>
                <a:schemeClr val="tx1"/>
              </a:solidFill>
              <a:miter lim="800000"/>
              <a:headEnd/>
              <a:tailEnd/>
            </a:ln>
          </p:spPr>
          <p:txBody>
            <a:bodyPr wrap="none" anchor="ctr"/>
            <a:lstStyle/>
            <a:p>
              <a:pPr algn="ctr"/>
              <a:r>
                <a:rPr lang="en-US" sz="1600">
                  <a:latin typeface="Courier New" pitchFamily="49" charset="0"/>
                </a:rPr>
                <a:t>30</a:t>
              </a:r>
            </a:p>
          </p:txBody>
        </p:sp>
        <p:sp>
          <p:nvSpPr>
            <p:cNvPr id="5156" name="Rectangle 24"/>
            <p:cNvSpPr>
              <a:spLocks noChangeArrowheads="1"/>
            </p:cNvSpPr>
            <p:nvPr/>
          </p:nvSpPr>
          <p:spPr bwMode="auto">
            <a:xfrm>
              <a:off x="4568" y="3456"/>
              <a:ext cx="672" cy="240"/>
            </a:xfrm>
            <a:prstGeom prst="rect">
              <a:avLst/>
            </a:prstGeom>
            <a:grpFill/>
            <a:ln w="9525" algn="ctr">
              <a:solidFill>
                <a:schemeClr val="tx1"/>
              </a:solidFill>
              <a:miter lim="800000"/>
              <a:headEnd/>
              <a:tailEnd/>
            </a:ln>
          </p:spPr>
          <p:txBody>
            <a:bodyPr wrap="none" anchor="ctr"/>
            <a:lstStyle/>
            <a:p>
              <a:pPr algn="ctr"/>
              <a:r>
                <a:rPr lang="en-US" sz="1600">
                  <a:latin typeface="Courier New" pitchFamily="49" charset="0"/>
                </a:rPr>
                <a:t>40</a:t>
              </a:r>
            </a:p>
          </p:txBody>
        </p:sp>
        <p:sp>
          <p:nvSpPr>
            <p:cNvPr id="5157" name="AutoShape 27"/>
            <p:cNvSpPr>
              <a:spLocks noChangeArrowheads="1"/>
            </p:cNvSpPr>
            <p:nvPr/>
          </p:nvSpPr>
          <p:spPr bwMode="auto">
            <a:xfrm>
              <a:off x="4569" y="3936"/>
              <a:ext cx="672" cy="192"/>
            </a:xfrm>
            <a:prstGeom prst="flowChartDocument">
              <a:avLst/>
            </a:prstGeom>
            <a:grpFill/>
            <a:ln w="9525" algn="ctr">
              <a:solidFill>
                <a:schemeClr val="tx1"/>
              </a:solidFill>
              <a:miter lim="800000"/>
              <a:headEnd/>
              <a:tailEnd/>
            </a:ln>
          </p:spPr>
          <p:txBody>
            <a:bodyPr wrap="none" anchor="ctr"/>
            <a:lstStyle/>
            <a:p>
              <a:endParaRPr lang="en-CA"/>
            </a:p>
          </p:txBody>
        </p:sp>
        <p:sp>
          <p:nvSpPr>
            <p:cNvPr id="5158" name="AutoShape 28"/>
            <p:cNvSpPr>
              <a:spLocks noChangeArrowheads="1"/>
            </p:cNvSpPr>
            <p:nvPr/>
          </p:nvSpPr>
          <p:spPr bwMode="auto">
            <a:xfrm rot="10800000">
              <a:off x="4569" y="2016"/>
              <a:ext cx="672" cy="240"/>
            </a:xfrm>
            <a:prstGeom prst="flowChartDocument">
              <a:avLst/>
            </a:prstGeom>
            <a:grpFill/>
            <a:ln w="9525" algn="ctr">
              <a:solidFill>
                <a:schemeClr val="tx1"/>
              </a:solidFill>
              <a:miter lim="800000"/>
              <a:headEnd/>
              <a:tailEnd/>
            </a:ln>
          </p:spPr>
          <p:txBody>
            <a:bodyPr wrap="none" anchor="ctr"/>
            <a:lstStyle/>
            <a:p>
              <a:endParaRPr lang="en-CA"/>
            </a:p>
          </p:txBody>
        </p:sp>
      </p:grpSp>
      <p:grpSp>
        <p:nvGrpSpPr>
          <p:cNvPr id="3" name="Group 33"/>
          <p:cNvGrpSpPr>
            <a:grpSpLocks/>
          </p:cNvGrpSpPr>
          <p:nvPr/>
        </p:nvGrpSpPr>
        <p:grpSpPr bwMode="auto">
          <a:xfrm>
            <a:off x="9067800" y="3771900"/>
            <a:ext cx="1066800" cy="2476500"/>
            <a:chOff x="4569" y="2376"/>
            <a:chExt cx="672" cy="1560"/>
          </a:xfrm>
        </p:grpSpPr>
        <p:cxnSp>
          <p:nvCxnSpPr>
            <p:cNvPr id="5148" name="AutoShape 31"/>
            <p:cNvCxnSpPr>
              <a:cxnSpLocks noChangeShapeType="1"/>
              <a:stCxn id="5151" idx="3"/>
              <a:endCxn id="5150" idx="3"/>
            </p:cNvCxnSpPr>
            <p:nvPr/>
          </p:nvCxnSpPr>
          <p:spPr bwMode="auto">
            <a:xfrm flipV="1">
              <a:off x="5240" y="2376"/>
              <a:ext cx="1" cy="1440"/>
            </a:xfrm>
            <a:prstGeom prst="curvedConnector3">
              <a:avLst>
                <a:gd name="adj1" fmla="val 23200009"/>
              </a:avLst>
            </a:prstGeom>
            <a:noFill/>
            <a:ln w="25400">
              <a:solidFill>
                <a:schemeClr val="accent2"/>
              </a:solidFill>
              <a:round/>
              <a:headEnd/>
              <a:tailEnd type="triangle" w="med" len="med"/>
            </a:ln>
          </p:spPr>
        </p:cxnSp>
        <p:sp>
          <p:nvSpPr>
            <p:cNvPr id="5149" name="Rectangle 32"/>
            <p:cNvSpPr>
              <a:spLocks noChangeArrowheads="1"/>
            </p:cNvSpPr>
            <p:nvPr/>
          </p:nvSpPr>
          <p:spPr bwMode="auto">
            <a:xfrm>
              <a:off x="4569" y="3696"/>
              <a:ext cx="672" cy="240"/>
            </a:xfrm>
            <a:prstGeom prst="rect">
              <a:avLst/>
            </a:prstGeom>
            <a:solidFill>
              <a:schemeClr val="accent1"/>
            </a:solidFill>
            <a:ln w="9525" algn="ctr">
              <a:solidFill>
                <a:schemeClr val="tx1"/>
              </a:solidFill>
              <a:miter lim="800000"/>
              <a:headEnd/>
              <a:tailEnd/>
            </a:ln>
          </p:spPr>
          <p:txBody>
            <a:bodyPr wrap="none" anchor="ctr"/>
            <a:lstStyle/>
            <a:p>
              <a:pPr algn="ctr"/>
              <a:r>
                <a:rPr lang="en-US" sz="1600">
                  <a:latin typeface="Courier New" pitchFamily="49" charset="0"/>
                </a:rPr>
                <a:t>4892</a:t>
              </a:r>
            </a:p>
          </p:txBody>
        </p:sp>
      </p:grpSp>
      <p:sp>
        <p:nvSpPr>
          <p:cNvPr id="210978" name="Rectangle 34"/>
          <p:cNvSpPr>
            <a:spLocks noChangeArrowheads="1"/>
          </p:cNvSpPr>
          <p:nvPr/>
        </p:nvSpPr>
        <p:spPr bwMode="auto">
          <a:xfrm>
            <a:off x="9067800" y="3581400"/>
            <a:ext cx="1066800" cy="381000"/>
          </a:xfrm>
          <a:prstGeom prst="rect">
            <a:avLst/>
          </a:prstGeom>
          <a:solidFill>
            <a:srgbClr val="CCFFCC"/>
          </a:solidFill>
          <a:ln w="9525" algn="ctr">
            <a:solidFill>
              <a:schemeClr val="tx1"/>
            </a:solidFill>
            <a:miter lim="800000"/>
            <a:headEnd/>
            <a:tailEnd/>
          </a:ln>
        </p:spPr>
        <p:txBody>
          <a:bodyPr wrap="none" anchor="ctr"/>
          <a:lstStyle/>
          <a:p>
            <a:pPr algn="ctr"/>
            <a:r>
              <a:rPr lang="en-US" sz="1600">
                <a:latin typeface="Courier New" pitchFamily="49" charset="0"/>
              </a:rPr>
              <a:t>200</a:t>
            </a:r>
          </a:p>
        </p:txBody>
      </p:sp>
      <p:sp>
        <p:nvSpPr>
          <p:cNvPr id="210979" name="Rectangle 35"/>
          <p:cNvSpPr>
            <a:spLocks noChangeArrowheads="1"/>
          </p:cNvSpPr>
          <p:nvPr/>
        </p:nvSpPr>
        <p:spPr bwMode="auto">
          <a:xfrm>
            <a:off x="9066213" y="3962400"/>
            <a:ext cx="1066800" cy="381000"/>
          </a:xfrm>
          <a:prstGeom prst="rect">
            <a:avLst/>
          </a:prstGeom>
          <a:solidFill>
            <a:srgbClr val="FFFF00"/>
          </a:solidFill>
          <a:ln w="9525" algn="ctr">
            <a:solidFill>
              <a:schemeClr val="tx1"/>
            </a:solidFill>
            <a:miter lim="800000"/>
            <a:headEnd/>
            <a:tailEnd/>
          </a:ln>
        </p:spPr>
        <p:txBody>
          <a:bodyPr wrap="none" anchor="ctr"/>
          <a:lstStyle/>
          <a:p>
            <a:pPr algn="ctr"/>
            <a:r>
              <a:rPr lang="en-US" sz="1600">
                <a:latin typeface="Courier New" pitchFamily="49" charset="0"/>
              </a:rPr>
              <a:t>200</a:t>
            </a:r>
          </a:p>
        </p:txBody>
      </p:sp>
      <p:grpSp>
        <p:nvGrpSpPr>
          <p:cNvPr id="4" name="Group 39"/>
          <p:cNvGrpSpPr>
            <a:grpSpLocks/>
          </p:cNvGrpSpPr>
          <p:nvPr/>
        </p:nvGrpSpPr>
        <p:grpSpPr bwMode="auto">
          <a:xfrm>
            <a:off x="9067800" y="5295901"/>
            <a:ext cx="1066800" cy="957263"/>
            <a:chOff x="4569" y="3336"/>
            <a:chExt cx="672" cy="603"/>
          </a:xfrm>
        </p:grpSpPr>
        <p:cxnSp>
          <p:nvCxnSpPr>
            <p:cNvPr id="5146" name="AutoShape 37"/>
            <p:cNvCxnSpPr>
              <a:cxnSpLocks noChangeShapeType="1"/>
              <a:stCxn id="5147" idx="3"/>
              <a:endCxn id="5155" idx="3"/>
            </p:cNvCxnSpPr>
            <p:nvPr/>
          </p:nvCxnSpPr>
          <p:spPr bwMode="auto">
            <a:xfrm flipH="1" flipV="1">
              <a:off x="5240" y="3336"/>
              <a:ext cx="1" cy="483"/>
            </a:xfrm>
            <a:prstGeom prst="curvedConnector3">
              <a:avLst>
                <a:gd name="adj1" fmla="val -14400005"/>
              </a:avLst>
            </a:prstGeom>
            <a:noFill/>
            <a:ln w="25400">
              <a:solidFill>
                <a:schemeClr val="accent2"/>
              </a:solidFill>
              <a:round/>
              <a:headEnd/>
              <a:tailEnd type="triangle" w="med" len="med"/>
            </a:ln>
          </p:spPr>
        </p:cxnSp>
        <p:sp>
          <p:nvSpPr>
            <p:cNvPr id="5147" name="Rectangle 38"/>
            <p:cNvSpPr>
              <a:spLocks noChangeArrowheads="1"/>
            </p:cNvSpPr>
            <p:nvPr/>
          </p:nvSpPr>
          <p:spPr bwMode="auto">
            <a:xfrm>
              <a:off x="4569" y="3699"/>
              <a:ext cx="672" cy="240"/>
            </a:xfrm>
            <a:prstGeom prst="rect">
              <a:avLst/>
            </a:prstGeom>
            <a:solidFill>
              <a:schemeClr val="accent1"/>
            </a:solidFill>
            <a:ln w="9525" algn="ctr">
              <a:solidFill>
                <a:schemeClr val="tx1"/>
              </a:solidFill>
              <a:miter lim="800000"/>
              <a:headEnd/>
              <a:tailEnd/>
            </a:ln>
          </p:spPr>
          <p:txBody>
            <a:bodyPr wrap="none" anchor="ctr"/>
            <a:lstStyle/>
            <a:p>
              <a:pPr algn="ctr"/>
              <a:r>
                <a:rPr lang="en-US" sz="1600">
                  <a:latin typeface="Courier New" pitchFamily="49" charset="0"/>
                </a:rPr>
                <a:t>4900</a:t>
              </a:r>
            </a:p>
          </p:txBody>
        </p:sp>
      </p:grpSp>
      <p:sp>
        <p:nvSpPr>
          <p:cNvPr id="210985" name="Rectangle 41"/>
          <p:cNvSpPr>
            <a:spLocks noChangeArrowheads="1"/>
          </p:cNvSpPr>
          <p:nvPr/>
        </p:nvSpPr>
        <p:spPr bwMode="auto">
          <a:xfrm>
            <a:off x="9066213" y="5105400"/>
            <a:ext cx="1066800" cy="381000"/>
          </a:xfrm>
          <a:prstGeom prst="rect">
            <a:avLst/>
          </a:prstGeom>
          <a:solidFill>
            <a:srgbClr val="FFFF99"/>
          </a:solidFill>
          <a:ln w="9525" algn="ctr">
            <a:solidFill>
              <a:schemeClr val="tx1"/>
            </a:solidFill>
            <a:miter lim="800000"/>
            <a:headEnd/>
            <a:tailEnd/>
          </a:ln>
        </p:spPr>
        <p:txBody>
          <a:bodyPr wrap="none" anchor="ctr"/>
          <a:lstStyle/>
          <a:p>
            <a:pPr algn="ctr"/>
            <a:r>
              <a:rPr lang="en-US" sz="1600">
                <a:latin typeface="Courier New" pitchFamily="49" charset="0"/>
              </a:rPr>
              <a:t>50</a:t>
            </a:r>
          </a:p>
        </p:txBody>
      </p:sp>
      <p:sp>
        <p:nvSpPr>
          <p:cNvPr id="210984" name="Rectangle 40"/>
          <p:cNvSpPr>
            <a:spLocks noChangeArrowheads="1"/>
          </p:cNvSpPr>
          <p:nvPr/>
        </p:nvSpPr>
        <p:spPr bwMode="auto">
          <a:xfrm>
            <a:off x="9067800" y="3962400"/>
            <a:ext cx="1066800" cy="381000"/>
          </a:xfrm>
          <a:prstGeom prst="rect">
            <a:avLst/>
          </a:prstGeom>
          <a:solidFill>
            <a:srgbClr val="FFCC99"/>
          </a:solidFill>
          <a:ln w="9525" algn="ctr">
            <a:solidFill>
              <a:schemeClr val="tx1"/>
            </a:solidFill>
            <a:miter lim="800000"/>
            <a:headEnd/>
            <a:tailEnd/>
          </a:ln>
        </p:spPr>
        <p:txBody>
          <a:bodyPr wrap="none" anchor="ctr"/>
          <a:lstStyle/>
          <a:p>
            <a:pPr algn="ctr"/>
            <a:r>
              <a:rPr lang="en-US" sz="1600">
                <a:latin typeface="Courier New" pitchFamily="49" charset="0"/>
              </a:rPr>
              <a:t>51</a:t>
            </a:r>
          </a:p>
        </p:txBody>
      </p:sp>
      <p:sp>
        <p:nvSpPr>
          <p:cNvPr id="39" name="Date Placeholder 38"/>
          <p:cNvSpPr>
            <a:spLocks noGrp="1"/>
          </p:cNvSpPr>
          <p:nvPr>
            <p:ph type="dt" sz="half" idx="10"/>
          </p:nvPr>
        </p:nvSpPr>
        <p:spPr/>
        <p:txBody>
          <a:bodyPr/>
          <a:lstStyle/>
          <a:p>
            <a:fld id="{282BD398-9217-429D-A51C-11A559E8F3B4}" type="datetime1">
              <a:rPr lang="en-US" smtClean="0"/>
              <a:t>9/15/2022</a:t>
            </a:fld>
            <a:endParaRPr lang="en-US"/>
          </a:p>
        </p:txBody>
      </p:sp>
      <p:sp>
        <p:nvSpPr>
          <p:cNvPr id="40" name="Footer Placeholder 39"/>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31555854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0955">
                                            <p:txEl>
                                              <p:pRg st="3" end="3"/>
                                            </p:txEl>
                                          </p:spTgt>
                                        </p:tgtEl>
                                        <p:attrNameLst>
                                          <p:attrName>style.visibility</p:attrName>
                                        </p:attrNameLst>
                                      </p:cBhvr>
                                      <p:to>
                                        <p:strVal val="visible"/>
                                      </p:to>
                                    </p:set>
                                    <p:animEffect transition="in" filter="box(in)">
                                      <p:cBhvr>
                                        <p:cTn id="7" dur="500"/>
                                        <p:tgtEl>
                                          <p:spTgt spid="21095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0955">
                                            <p:txEl>
                                              <p:pRg st="4" end="4"/>
                                            </p:txEl>
                                          </p:spTgt>
                                        </p:tgtEl>
                                        <p:attrNameLst>
                                          <p:attrName>style.visibility</p:attrName>
                                        </p:attrNameLst>
                                      </p:cBhvr>
                                      <p:to>
                                        <p:strVal val="visible"/>
                                      </p:to>
                                    </p:set>
                                    <p:animEffect transition="in" filter="blinds(horizontal)">
                                      <p:cBhvr>
                                        <p:cTn id="17" dur="500"/>
                                        <p:tgtEl>
                                          <p:spTgt spid="21095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0978"/>
                                        </p:tgtEl>
                                        <p:attrNameLst>
                                          <p:attrName>style.visibility</p:attrName>
                                        </p:attrNameLst>
                                      </p:cBhvr>
                                      <p:to>
                                        <p:strVal val="visible"/>
                                      </p:to>
                                    </p:set>
                                    <p:animEffect transition="in" filter="blinds(horizontal)">
                                      <p:cBhvr>
                                        <p:cTn id="22" dur="500"/>
                                        <p:tgtEl>
                                          <p:spTgt spid="2109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10955">
                                            <p:txEl>
                                              <p:pRg st="5" end="5"/>
                                            </p:txEl>
                                          </p:spTgt>
                                        </p:tgtEl>
                                        <p:attrNameLst>
                                          <p:attrName>style.visibility</p:attrName>
                                        </p:attrNameLst>
                                      </p:cBhvr>
                                      <p:to>
                                        <p:strVal val="visible"/>
                                      </p:to>
                                    </p:set>
                                    <p:animEffect transition="in" filter="blinds(horizontal)">
                                      <p:cBhvr>
                                        <p:cTn id="27" dur="500"/>
                                        <p:tgtEl>
                                          <p:spTgt spid="21095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0979"/>
                                        </p:tgtEl>
                                        <p:attrNameLst>
                                          <p:attrName>style.visibility</p:attrName>
                                        </p:attrNameLst>
                                      </p:cBhvr>
                                      <p:to>
                                        <p:strVal val="visible"/>
                                      </p:to>
                                    </p:set>
                                    <p:animEffect transition="in" filter="blinds(horizontal)">
                                      <p:cBhvr>
                                        <p:cTn id="32" dur="500"/>
                                        <p:tgtEl>
                                          <p:spTgt spid="2109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10955">
                                            <p:txEl>
                                              <p:pRg st="6" end="6"/>
                                            </p:txEl>
                                          </p:spTgt>
                                        </p:tgtEl>
                                        <p:attrNameLst>
                                          <p:attrName>style.visibility</p:attrName>
                                        </p:attrNameLst>
                                      </p:cBhvr>
                                      <p:to>
                                        <p:strVal val="visible"/>
                                      </p:to>
                                    </p:set>
                                    <p:animEffect transition="in" filter="blinds(horizontal)">
                                      <p:cBhvr>
                                        <p:cTn id="37" dur="500"/>
                                        <p:tgtEl>
                                          <p:spTgt spid="21095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xit" presetSubtype="16" fill="hold" nodeType="clickEffect">
                                  <p:stCondLst>
                                    <p:cond delay="0"/>
                                  </p:stCondLst>
                                  <p:childTnLst>
                                    <p:animEffect transition="out" filter="box(in)">
                                      <p:cBhvr>
                                        <p:cTn id="41" dur="500"/>
                                        <p:tgtEl>
                                          <p:spTgt spid="3"/>
                                        </p:tgtEl>
                                      </p:cBhvr>
                                    </p:animEffect>
                                    <p:set>
                                      <p:cBhvr>
                                        <p:cTn id="42" dur="1" fill="hold">
                                          <p:stCondLst>
                                            <p:cond delay="499"/>
                                          </p:stCondLst>
                                        </p:cTn>
                                        <p:tgtEl>
                                          <p:spTgt spid="3"/>
                                        </p:tgtEl>
                                        <p:attrNameLst>
                                          <p:attrName>style.visibility</p:attrName>
                                        </p:attrNameLst>
                                      </p:cBhvr>
                                      <p:to>
                                        <p:strVal val="hidden"/>
                                      </p:to>
                                    </p:set>
                                  </p:childTnLst>
                                </p:cTn>
                              </p:par>
                              <p:par>
                                <p:cTn id="43" presetID="3" presetClass="entr" presetSubtype="1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blinds(horizontal)">
                                      <p:cBhvr>
                                        <p:cTn id="45" dur="500"/>
                                        <p:tgtEl>
                                          <p:spTgt spid="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210955">
                                            <p:txEl>
                                              <p:pRg st="7" end="7"/>
                                            </p:txEl>
                                          </p:spTgt>
                                        </p:tgtEl>
                                        <p:attrNameLst>
                                          <p:attrName>style.visibility</p:attrName>
                                        </p:attrNameLst>
                                      </p:cBhvr>
                                      <p:to>
                                        <p:strVal val="visible"/>
                                      </p:to>
                                    </p:set>
                                    <p:animEffect transition="in" filter="blinds(horizontal)">
                                      <p:cBhvr>
                                        <p:cTn id="50" dur="500"/>
                                        <p:tgtEl>
                                          <p:spTgt spid="210955">
                                            <p:txEl>
                                              <p:pRg st="7" end="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10985"/>
                                        </p:tgtEl>
                                        <p:attrNameLst>
                                          <p:attrName>style.visibility</p:attrName>
                                        </p:attrNameLst>
                                      </p:cBhvr>
                                      <p:to>
                                        <p:strVal val="visible"/>
                                      </p:to>
                                    </p:set>
                                    <p:animEffect transition="in" filter="blinds(horizontal)">
                                      <p:cBhvr>
                                        <p:cTn id="55" dur="500"/>
                                        <p:tgtEl>
                                          <p:spTgt spid="21098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210955">
                                            <p:txEl>
                                              <p:pRg st="8" end="8"/>
                                            </p:txEl>
                                          </p:spTgt>
                                        </p:tgtEl>
                                        <p:attrNameLst>
                                          <p:attrName>style.visibility</p:attrName>
                                        </p:attrNameLst>
                                      </p:cBhvr>
                                      <p:to>
                                        <p:strVal val="visible"/>
                                      </p:to>
                                    </p:set>
                                    <p:animEffect transition="in" filter="blinds(horizontal)">
                                      <p:cBhvr>
                                        <p:cTn id="60" dur="500"/>
                                        <p:tgtEl>
                                          <p:spTgt spid="210955">
                                            <p:txEl>
                                              <p:pRg st="8" end="8"/>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10984"/>
                                        </p:tgtEl>
                                        <p:attrNameLst>
                                          <p:attrName>style.visibility</p:attrName>
                                        </p:attrNameLst>
                                      </p:cBhvr>
                                      <p:to>
                                        <p:strVal val="visible"/>
                                      </p:to>
                                    </p:set>
                                    <p:animEffect transition="in" filter="blinds(horizontal)">
                                      <p:cBhvr>
                                        <p:cTn id="65" dur="500"/>
                                        <p:tgtEl>
                                          <p:spTgt spid="210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78" grpId="0" animBg="1"/>
      <p:bldP spid="210979" grpId="0" animBg="1"/>
      <p:bldP spid="210985" grpId="0" animBg="1"/>
      <p:bldP spid="21098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p:cNvSpPr>
            <a:spLocks noGrp="1"/>
          </p:cNvSpPr>
          <p:nvPr>
            <p:ph type="title"/>
          </p:nvPr>
        </p:nvSpPr>
        <p:spPr>
          <a:xfrm>
            <a:off x="1097280" y="716855"/>
            <a:ext cx="7239000" cy="975360"/>
          </a:xfrm>
        </p:spPr>
        <p:txBody>
          <a:bodyPr/>
          <a:lstStyle/>
          <a:p>
            <a:r>
              <a:rPr lang="en-US" sz="4400" dirty="0"/>
              <a:t>Pointer Examples</a:t>
            </a:r>
            <a:endParaRPr lang="en-CA" dirty="0" smtClean="0"/>
          </a:p>
        </p:txBody>
      </p:sp>
      <p:sp>
        <p:nvSpPr>
          <p:cNvPr id="6147" name="Content Placeholder 4"/>
          <p:cNvSpPr>
            <a:spLocks noGrp="1"/>
          </p:cNvSpPr>
          <p:nvPr>
            <p:ph idx="1"/>
          </p:nvPr>
        </p:nvSpPr>
        <p:spPr>
          <a:xfrm>
            <a:off x="1207697" y="1871931"/>
            <a:ext cx="9773729" cy="4587854"/>
          </a:xfrm>
        </p:spPr>
        <p:txBody>
          <a:bodyPr>
            <a:normAutofit fontScale="70000" lnSpcReduction="20000"/>
          </a:bodyPr>
          <a:lstStyle/>
          <a:p>
            <a:pPr marL="0" indent="0">
              <a:lnSpc>
                <a:spcPct val="125000"/>
              </a:lnSpc>
              <a:buNone/>
            </a:pPr>
            <a:r>
              <a:rPr lang="en-US" dirty="0">
                <a:solidFill>
                  <a:srgbClr val="800000"/>
                </a:solidFill>
                <a:latin typeface="Courier New" pitchFamily="49" charset="0"/>
              </a:rPr>
              <a:t>int x = 100;</a:t>
            </a:r>
          </a:p>
          <a:p>
            <a:pPr marL="0" indent="0">
              <a:lnSpc>
                <a:spcPct val="125000"/>
              </a:lnSpc>
              <a:buNone/>
            </a:pPr>
            <a:r>
              <a:rPr lang="en-US" b="1" dirty="0">
                <a:solidFill>
                  <a:srgbClr val="800000"/>
                </a:solidFill>
                <a:latin typeface="Courier New" pitchFamily="49" charset="0"/>
              </a:rPr>
              <a:t>int *p1 = &amp;x;</a:t>
            </a:r>
          </a:p>
          <a:p>
            <a:pPr marL="0" indent="0">
              <a:lnSpc>
                <a:spcPct val="125000"/>
              </a:lnSpc>
              <a:buNone/>
            </a:pPr>
            <a:r>
              <a:rPr lang="en-US" dirty="0">
                <a:solidFill>
                  <a:srgbClr val="800000"/>
                </a:solidFill>
                <a:latin typeface="Courier New" pitchFamily="49" charset="0"/>
              </a:rPr>
              <a:t>cout &lt;&lt; "&amp;x == " &lt;&lt; &amp;x &lt;&lt; "    x == " &lt;&lt; x &lt;&lt; </a:t>
            </a:r>
            <a:r>
              <a:rPr lang="en-US" dirty="0" err="1" smtClean="0">
                <a:solidFill>
                  <a:srgbClr val="800000"/>
                </a:solidFill>
                <a:latin typeface="Courier New" pitchFamily="49" charset="0"/>
              </a:rPr>
              <a:t>endl</a:t>
            </a:r>
            <a:r>
              <a:rPr lang="en-US" dirty="0" smtClean="0">
                <a:solidFill>
                  <a:srgbClr val="800000"/>
                </a:solidFill>
                <a:latin typeface="Courier New" pitchFamily="49" charset="0"/>
              </a:rPr>
              <a:t> &lt;&lt; </a:t>
            </a:r>
            <a:r>
              <a:rPr lang="en-US" dirty="0">
                <a:solidFill>
                  <a:srgbClr val="800000"/>
                </a:solidFill>
                <a:latin typeface="Courier New" pitchFamily="49" charset="0"/>
              </a:rPr>
              <a:t>"p1 == " &lt;&lt; p1 &lt;&lt; "  *p1 == " &lt;&lt; *p1 &lt;&lt; endl;</a:t>
            </a:r>
          </a:p>
          <a:p>
            <a:pPr marL="0" indent="0">
              <a:lnSpc>
                <a:spcPct val="125000"/>
              </a:lnSpc>
              <a:buNone/>
            </a:pPr>
            <a:r>
              <a:rPr lang="en-US" b="1" dirty="0">
                <a:solidFill>
                  <a:srgbClr val="800000"/>
                </a:solidFill>
                <a:latin typeface="Courier New" pitchFamily="49" charset="0"/>
              </a:rPr>
              <a:t>*p1 += 20;</a:t>
            </a:r>
          </a:p>
          <a:p>
            <a:pPr marL="0" indent="0">
              <a:lnSpc>
                <a:spcPct val="125000"/>
              </a:lnSpc>
              <a:buNone/>
            </a:pPr>
            <a:r>
              <a:rPr lang="en-US" dirty="0">
                <a:solidFill>
                  <a:srgbClr val="800000"/>
                </a:solidFill>
                <a:latin typeface="Courier New" pitchFamily="49" charset="0"/>
              </a:rPr>
              <a:t>cout &lt;&lt; "&amp;x == " &lt;&lt; &amp;x &lt;&lt; "    x == " &lt;&lt; x &lt;&lt; </a:t>
            </a:r>
            <a:r>
              <a:rPr lang="en-US" dirty="0" err="1" smtClean="0">
                <a:solidFill>
                  <a:srgbClr val="800000"/>
                </a:solidFill>
                <a:latin typeface="Courier New" pitchFamily="49" charset="0"/>
              </a:rPr>
              <a:t>endl</a:t>
            </a:r>
            <a:r>
              <a:rPr lang="en-US" dirty="0" smtClean="0">
                <a:solidFill>
                  <a:srgbClr val="800000"/>
                </a:solidFill>
                <a:latin typeface="Courier New" pitchFamily="49" charset="0"/>
              </a:rPr>
              <a:t> &lt;&lt; </a:t>
            </a:r>
            <a:r>
              <a:rPr lang="en-US" dirty="0">
                <a:solidFill>
                  <a:srgbClr val="800000"/>
                </a:solidFill>
                <a:latin typeface="Courier New" pitchFamily="49" charset="0"/>
              </a:rPr>
              <a:t>"p1 == " &lt;&lt; p1 &lt;&lt; "  *p1 == " &lt;&lt; *p1 &lt;&lt; endl;</a:t>
            </a:r>
          </a:p>
          <a:p>
            <a:pPr marL="0" indent="0">
              <a:lnSpc>
                <a:spcPct val="125000"/>
              </a:lnSpc>
              <a:buNone/>
            </a:pPr>
            <a:r>
              <a:rPr lang="en-US" b="1" u="sng" dirty="0" smtClean="0">
                <a:solidFill>
                  <a:srgbClr val="800000"/>
                </a:solidFill>
                <a:latin typeface="Courier New" pitchFamily="49" charset="0"/>
              </a:rPr>
              <a:t>Output</a:t>
            </a:r>
            <a:endParaRPr lang="en-US" b="1" u="sng" dirty="0">
              <a:solidFill>
                <a:srgbClr val="800000"/>
              </a:solidFill>
              <a:latin typeface="Courier New" pitchFamily="49" charset="0"/>
            </a:endParaRPr>
          </a:p>
          <a:p>
            <a:pPr marL="0" indent="0">
              <a:lnSpc>
                <a:spcPct val="125000"/>
              </a:lnSpc>
              <a:buNone/>
            </a:pPr>
            <a:r>
              <a:rPr lang="it-IT" sz="1800" b="1" dirty="0">
                <a:solidFill>
                  <a:srgbClr val="800000"/>
                </a:solidFill>
                <a:latin typeface="Courier New" pitchFamily="49" charset="0"/>
              </a:rPr>
              <a:t>&amp;x == 0x7fff7e60f41c    x == 100</a:t>
            </a:r>
          </a:p>
          <a:p>
            <a:pPr marL="0" indent="0">
              <a:lnSpc>
                <a:spcPct val="125000"/>
              </a:lnSpc>
              <a:buNone/>
            </a:pPr>
            <a:r>
              <a:rPr lang="it-IT" sz="1800" b="1" dirty="0">
                <a:solidFill>
                  <a:srgbClr val="800000"/>
                </a:solidFill>
                <a:latin typeface="Courier New" pitchFamily="49" charset="0"/>
              </a:rPr>
              <a:t>p1 == 0x7fff7e60f41c  *p1 == 100</a:t>
            </a:r>
          </a:p>
          <a:p>
            <a:pPr marL="0" indent="0">
              <a:lnSpc>
                <a:spcPct val="125000"/>
              </a:lnSpc>
              <a:buNone/>
            </a:pPr>
            <a:r>
              <a:rPr lang="it-IT" sz="1800" b="1" dirty="0">
                <a:solidFill>
                  <a:srgbClr val="800000"/>
                </a:solidFill>
                <a:latin typeface="Courier New" pitchFamily="49" charset="0"/>
              </a:rPr>
              <a:t>&amp;x == 0x7fff7e60f41c    x == 120</a:t>
            </a:r>
          </a:p>
          <a:p>
            <a:pPr marL="0" indent="0">
              <a:lnSpc>
                <a:spcPct val="125000"/>
              </a:lnSpc>
              <a:buNone/>
            </a:pPr>
            <a:r>
              <a:rPr lang="it-IT" sz="1800" b="1" dirty="0">
                <a:solidFill>
                  <a:srgbClr val="800000"/>
                </a:solidFill>
                <a:latin typeface="Courier New" pitchFamily="49" charset="0"/>
              </a:rPr>
              <a:t>p1 == 0x7fff7e60f41c  *p1 == 120</a:t>
            </a:r>
            <a:endParaRPr lang="en-US" sz="1800" dirty="0">
              <a:solidFill>
                <a:srgbClr val="800000"/>
              </a:solidFill>
              <a:latin typeface="Courier New" pitchFamily="49" charset="0"/>
            </a:endParaRPr>
          </a:p>
          <a:p>
            <a:pPr marL="0" indent="0">
              <a:buNone/>
            </a:pPr>
            <a:endParaRPr lang="en-CA" dirty="0"/>
          </a:p>
        </p:txBody>
      </p:sp>
      <p:sp>
        <p:nvSpPr>
          <p:cNvPr id="3" name="Slide Number Placeholder 2"/>
          <p:cNvSpPr>
            <a:spLocks noGrp="1"/>
          </p:cNvSpPr>
          <p:nvPr>
            <p:ph type="sldNum" sz="quarter" idx="10"/>
          </p:nvPr>
        </p:nvSpPr>
        <p:spPr/>
        <p:txBody>
          <a:bodyPr/>
          <a:lstStyle/>
          <a:p>
            <a:pPr>
              <a:defRPr/>
            </a:pPr>
            <a:fld id="{9BA2476B-C6E3-4DA4-9344-6D4E1DF9EBA0}" type="slidenum">
              <a:rPr lang="en-US" smtClean="0"/>
              <a:pPr>
                <a:defRPr/>
              </a:pPr>
              <a:t>14</a:t>
            </a:fld>
            <a:endParaRPr lang="en-US"/>
          </a:p>
        </p:txBody>
      </p:sp>
      <p:sp>
        <p:nvSpPr>
          <p:cNvPr id="5" name="Date Placeholder 4"/>
          <p:cNvSpPr>
            <a:spLocks noGrp="1"/>
          </p:cNvSpPr>
          <p:nvPr>
            <p:ph type="dt" sz="half" idx="10"/>
          </p:nvPr>
        </p:nvSpPr>
        <p:spPr/>
        <p:txBody>
          <a:bodyPr/>
          <a:lstStyle/>
          <a:p>
            <a:fld id="{A960A877-F9B6-46AE-8213-8F8AD571B4C4}" type="datetime1">
              <a:rPr lang="en-US" smtClean="0"/>
              <a:t>9/15/2022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1811455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097280" y="915263"/>
            <a:ext cx="7239000" cy="746760"/>
          </a:xfrm>
        </p:spPr>
        <p:txBody>
          <a:bodyPr/>
          <a:lstStyle/>
          <a:p>
            <a:r>
              <a:rPr lang="en-CA" b="1" dirty="0" smtClean="0"/>
              <a:t>const</a:t>
            </a:r>
            <a:r>
              <a:rPr lang="en-CA" dirty="0" smtClean="0"/>
              <a:t> and Pointers</a:t>
            </a:r>
          </a:p>
        </p:txBody>
      </p:sp>
      <p:sp>
        <p:nvSpPr>
          <p:cNvPr id="3" name="Content Placeholder 2"/>
          <p:cNvSpPr>
            <a:spLocks noGrp="1"/>
          </p:cNvSpPr>
          <p:nvPr>
            <p:ph idx="1"/>
          </p:nvPr>
        </p:nvSpPr>
        <p:spPr>
          <a:xfrm>
            <a:off x="1199072" y="1820174"/>
            <a:ext cx="8402128" cy="4656826"/>
          </a:xfrm>
        </p:spPr>
        <p:txBody>
          <a:bodyPr>
            <a:normAutofit/>
          </a:bodyPr>
          <a:lstStyle/>
          <a:p>
            <a:pPr>
              <a:buNone/>
            </a:pPr>
            <a:r>
              <a:rPr lang="en-CA" sz="2400" dirty="0">
                <a:latin typeface="Courier New" pitchFamily="49" charset="0"/>
              </a:rPr>
              <a:t>const int w=20;</a:t>
            </a:r>
          </a:p>
          <a:p>
            <a:pPr>
              <a:buNone/>
            </a:pPr>
            <a:r>
              <a:rPr lang="en-CA" sz="2400" dirty="0">
                <a:latin typeface="Courier New" pitchFamily="49" charset="0"/>
              </a:rPr>
              <a:t>int x, y;</a:t>
            </a:r>
            <a:endParaRPr lang="en-CA" sz="2400" b="1" dirty="0"/>
          </a:p>
          <a:p>
            <a:pPr marL="0" indent="0">
              <a:buNone/>
              <a:tabLst>
                <a:tab pos="2333625" algn="l"/>
                <a:tab pos="3411538" algn="l"/>
              </a:tabLst>
              <a:defRPr/>
            </a:pPr>
            <a:r>
              <a:rPr lang="en-CA" sz="2800" b="1" dirty="0"/>
              <a:t>const</a:t>
            </a:r>
            <a:r>
              <a:rPr lang="en-CA" sz="2800" dirty="0"/>
              <a:t> qualifier can be used with pointers in three ways:</a:t>
            </a:r>
          </a:p>
          <a:p>
            <a:pPr>
              <a:tabLst>
                <a:tab pos="2333625" algn="l"/>
                <a:tab pos="3411538" algn="l"/>
              </a:tabLst>
              <a:defRPr/>
            </a:pPr>
            <a:r>
              <a:rPr lang="en-CA" sz="2800" dirty="0"/>
              <a:t>Prohibit a pointer from changing its </a:t>
            </a:r>
            <a:r>
              <a:rPr lang="en-CA" sz="2800" b="1" u="sng" dirty="0"/>
              <a:t>content</a:t>
            </a:r>
          </a:p>
          <a:p>
            <a:pPr marL="571500" lvl="1" indent="0">
              <a:buNone/>
              <a:tabLst>
                <a:tab pos="2333625" algn="l"/>
                <a:tab pos="3411538" algn="l"/>
              </a:tabLst>
              <a:defRPr/>
            </a:pPr>
            <a:r>
              <a:rPr lang="en-CA" sz="2000" b="1" dirty="0">
                <a:latin typeface="Courier New" pitchFamily="49" charset="0"/>
                <a:cs typeface="Courier New" pitchFamily="49" charset="0"/>
              </a:rPr>
              <a:t>const int *</a:t>
            </a:r>
            <a:r>
              <a:rPr lang="en-CA" sz="2000" dirty="0">
                <a:latin typeface="Courier New" pitchFamily="49" charset="0"/>
                <a:cs typeface="Courier New" pitchFamily="49" charset="0"/>
              </a:rPr>
              <a:t>p1 = &amp;w; </a:t>
            </a:r>
          </a:p>
          <a:p>
            <a:pPr marL="571500" lvl="1" indent="0">
              <a:buNone/>
              <a:tabLst>
                <a:tab pos="2333625" algn="l"/>
                <a:tab pos="3411538" algn="l"/>
              </a:tabLst>
              <a:defRPr/>
            </a:pPr>
            <a:r>
              <a:rPr lang="en-CA" sz="2000" dirty="0">
                <a:latin typeface="Courier New" pitchFamily="49" charset="0"/>
                <a:cs typeface="Courier New" pitchFamily="49" charset="0"/>
              </a:rPr>
              <a:t> </a:t>
            </a:r>
            <a:r>
              <a:rPr lang="en-CA" sz="2000" i="1" dirty="0">
                <a:solidFill>
                  <a:srgbClr val="00B050"/>
                </a:solidFill>
                <a:latin typeface="Courier New" pitchFamily="49" charset="0"/>
                <a:cs typeface="Courier New" pitchFamily="49" charset="0"/>
              </a:rPr>
              <a:t>// p1 can point to (non-)const int</a:t>
            </a:r>
          </a:p>
          <a:p>
            <a:pPr marL="571500" lvl="1" indent="0">
              <a:buNone/>
              <a:tabLst>
                <a:tab pos="2333625" algn="l"/>
                <a:tab pos="3411538" algn="l"/>
              </a:tabLst>
              <a:defRPr/>
            </a:pPr>
            <a:r>
              <a:rPr lang="en-CA" sz="2000" dirty="0">
                <a:solidFill>
                  <a:srgbClr val="FF0000"/>
                </a:solidFill>
                <a:latin typeface="Courier New" pitchFamily="49" charset="0"/>
                <a:cs typeface="Courier New" pitchFamily="49" charset="0"/>
              </a:rPr>
              <a:t>*p1 = 200;   	</a:t>
            </a:r>
          </a:p>
          <a:p>
            <a:pPr marL="571500" lvl="1" indent="0">
              <a:buNone/>
              <a:tabLst>
                <a:tab pos="2333625" algn="l"/>
                <a:tab pos="3411538" algn="l"/>
              </a:tabLst>
              <a:defRPr/>
            </a:pPr>
            <a:r>
              <a:rPr lang="en-CA" sz="2000" i="1" dirty="0">
                <a:solidFill>
                  <a:srgbClr val="00B050"/>
                </a:solidFill>
                <a:latin typeface="Courier New" pitchFamily="49" charset="0"/>
                <a:cs typeface="Courier New" pitchFamily="49" charset="0"/>
              </a:rPr>
              <a:t>// invalid : content can’t change</a:t>
            </a:r>
          </a:p>
          <a:p>
            <a:pPr marL="571500" lvl="1" indent="0">
              <a:buNone/>
              <a:tabLst>
                <a:tab pos="2333625" algn="l"/>
                <a:tab pos="3411538" algn="l"/>
              </a:tabLst>
              <a:defRPr/>
            </a:pPr>
            <a:r>
              <a:rPr lang="en-CA" sz="2000" dirty="0">
                <a:latin typeface="Courier New" pitchFamily="49" charset="0"/>
                <a:cs typeface="Courier New" pitchFamily="49" charset="0"/>
              </a:rPr>
              <a:t>p1 = &amp;x;     	</a:t>
            </a:r>
          </a:p>
          <a:p>
            <a:pPr marL="571500" lvl="1" indent="0">
              <a:buNone/>
              <a:tabLst>
                <a:tab pos="2333625" algn="l"/>
                <a:tab pos="3411538" algn="l"/>
              </a:tabLst>
              <a:defRPr/>
            </a:pPr>
            <a:r>
              <a:rPr lang="en-CA" sz="2000" i="1" dirty="0">
                <a:solidFill>
                  <a:srgbClr val="00B050"/>
                </a:solidFill>
                <a:latin typeface="Courier New" pitchFamily="49" charset="0"/>
                <a:cs typeface="Courier New" pitchFamily="49" charset="0"/>
              </a:rPr>
              <a:t>// OK. p1 points to x (non-</a:t>
            </a:r>
            <a:r>
              <a:rPr lang="en-CA" sz="2000" i="1" dirty="0" err="1">
                <a:solidFill>
                  <a:srgbClr val="00B050"/>
                </a:solidFill>
                <a:latin typeface="Courier New" pitchFamily="49" charset="0"/>
                <a:cs typeface="Courier New" pitchFamily="49" charset="0"/>
              </a:rPr>
              <a:t>const</a:t>
            </a:r>
            <a:r>
              <a:rPr lang="en-CA" sz="2000" i="1" dirty="0">
                <a:solidFill>
                  <a:srgbClr val="00B050"/>
                </a:solidFill>
                <a:latin typeface="Courier New" pitchFamily="49" charset="0"/>
                <a:cs typeface="Courier New" pitchFamily="49" charset="0"/>
              </a:rPr>
              <a:t>)</a:t>
            </a:r>
          </a:p>
          <a:p>
            <a:pPr marL="571500" lvl="1" indent="0">
              <a:buNone/>
              <a:tabLst>
                <a:tab pos="2333625" algn="l"/>
                <a:tab pos="3411538" algn="l"/>
              </a:tabLst>
              <a:defRPr/>
            </a:pPr>
            <a:r>
              <a:rPr lang="en-CA" sz="2000" dirty="0">
                <a:latin typeface="Courier New" pitchFamily="49" charset="0"/>
                <a:cs typeface="Courier New" pitchFamily="49" charset="0"/>
              </a:rPr>
              <a:t>	</a:t>
            </a:r>
          </a:p>
          <a:p>
            <a:pPr marL="571500" lvl="1" indent="0">
              <a:buNone/>
              <a:tabLst>
                <a:tab pos="2333625" algn="l"/>
                <a:tab pos="3411538" algn="l"/>
              </a:tabLst>
              <a:defRPr/>
            </a:pPr>
            <a:endParaRPr lang="en-CA" dirty="0">
              <a:latin typeface="Courier New" pitchFamily="49" charset="0"/>
              <a:cs typeface="Courier New" pitchFamily="49" charset="0"/>
            </a:endParaRPr>
          </a:p>
          <a:p>
            <a:pPr marL="571500" lvl="1" indent="0">
              <a:buNone/>
              <a:tabLst>
                <a:tab pos="2333625" algn="l"/>
                <a:tab pos="3411538" algn="l"/>
              </a:tabLst>
              <a:defRPr/>
            </a:pPr>
            <a:endParaRPr lang="en-CA" dirty="0">
              <a:latin typeface="Courier New" pitchFamily="49" charset="0"/>
              <a:cs typeface="Courier New" pitchFamily="49" charset="0"/>
            </a:endParaRPr>
          </a:p>
        </p:txBody>
      </p:sp>
      <p:sp>
        <p:nvSpPr>
          <p:cNvPr id="4" name="Slide Number Placeholder 3"/>
          <p:cNvSpPr>
            <a:spLocks noGrp="1"/>
          </p:cNvSpPr>
          <p:nvPr>
            <p:ph type="sldNum" sz="quarter" idx="10"/>
          </p:nvPr>
        </p:nvSpPr>
        <p:spPr/>
        <p:txBody>
          <a:bodyPr/>
          <a:lstStyle/>
          <a:p>
            <a:pPr>
              <a:defRPr/>
            </a:pPr>
            <a:fld id="{A8F58982-26DE-4985-B81A-4F82E92300EC}" type="slidenum">
              <a:rPr lang="en-US" smtClean="0"/>
              <a:pPr>
                <a:defRPr/>
              </a:pPr>
              <a:t>15</a:t>
            </a:fld>
            <a:endParaRPr lang="en-US" dirty="0"/>
          </a:p>
        </p:txBody>
      </p:sp>
      <p:sp>
        <p:nvSpPr>
          <p:cNvPr id="5" name="Date Placeholder 4"/>
          <p:cNvSpPr>
            <a:spLocks noGrp="1"/>
          </p:cNvSpPr>
          <p:nvPr>
            <p:ph type="dt" sz="half" idx="10"/>
          </p:nvPr>
        </p:nvSpPr>
        <p:spPr/>
        <p:txBody>
          <a:bodyPr/>
          <a:lstStyle/>
          <a:p>
            <a:fld id="{5AF1E1EC-6746-45B2-8F30-AA1FE12A08FC}" type="datetime1">
              <a:rPr lang="en-US" smtClean="0"/>
              <a:t>9/15/2022</a:t>
            </a:fld>
            <a:endParaRPr lang="en-US" dirty="0"/>
          </a:p>
        </p:txBody>
      </p:sp>
      <p:sp>
        <p:nvSpPr>
          <p:cNvPr id="6" name="Footer Placeholder 5"/>
          <p:cNvSpPr>
            <a:spLocks noGrp="1"/>
          </p:cNvSpPr>
          <p:nvPr>
            <p:ph type="ftr" sz="quarter" idx="11"/>
          </p:nvPr>
        </p:nvSpPr>
        <p:spPr/>
        <p:txBody>
          <a:bodyPr/>
          <a:lstStyle/>
          <a:p>
            <a:r>
              <a:rPr lang="en-US" smtClean="0"/>
              <a:t>Designed by Ms Anosha Khan</a:t>
            </a:r>
            <a:endParaRPr lang="en-US" dirty="0"/>
          </a:p>
        </p:txBody>
      </p:sp>
    </p:spTree>
    <p:extLst>
      <p:ext uri="{BB962C8B-B14F-4D97-AF65-F5344CB8AC3E}">
        <p14:creationId xmlns:p14="http://schemas.microsoft.com/office/powerpoint/2010/main" val="35959616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const and Pointers</a:t>
            </a:r>
            <a:endParaRPr lang="en-US" dirty="0"/>
          </a:p>
        </p:txBody>
      </p:sp>
      <p:sp>
        <p:nvSpPr>
          <p:cNvPr id="3" name="Content Placeholder 2"/>
          <p:cNvSpPr>
            <a:spLocks noGrp="1"/>
          </p:cNvSpPr>
          <p:nvPr>
            <p:ph idx="1"/>
          </p:nvPr>
        </p:nvSpPr>
        <p:spPr/>
        <p:txBody>
          <a:bodyPr>
            <a:normAutofit/>
          </a:bodyPr>
          <a:lstStyle/>
          <a:p>
            <a:pPr>
              <a:tabLst>
                <a:tab pos="2333625" algn="l"/>
                <a:tab pos="3411538" algn="l"/>
              </a:tabLst>
              <a:defRPr/>
            </a:pPr>
            <a:r>
              <a:rPr lang="en-CA" sz="2800" dirty="0"/>
              <a:t>Prohibit a pointer from changing its </a:t>
            </a:r>
            <a:r>
              <a:rPr lang="en-CA" sz="2800" b="1" u="sng" dirty="0">
                <a:solidFill>
                  <a:srgbClr val="000000"/>
                </a:solidFill>
              </a:rPr>
              <a:t>reference</a:t>
            </a:r>
            <a:r>
              <a:rPr lang="en-CA" sz="2800" dirty="0">
                <a:solidFill>
                  <a:srgbClr val="000000"/>
                </a:solidFill>
              </a:rPr>
              <a:t>:</a:t>
            </a:r>
          </a:p>
          <a:p>
            <a:pPr marL="571500" lvl="1" indent="0">
              <a:buNone/>
              <a:tabLst>
                <a:tab pos="2333625" algn="l"/>
                <a:tab pos="3411538" algn="l"/>
              </a:tabLst>
              <a:defRPr/>
            </a:pPr>
            <a:r>
              <a:rPr lang="en-CA" sz="2000" b="1" dirty="0">
                <a:latin typeface="Courier New" pitchFamily="49" charset="0"/>
                <a:cs typeface="Courier New" pitchFamily="49" charset="0"/>
              </a:rPr>
              <a:t>int * const </a:t>
            </a:r>
            <a:r>
              <a:rPr lang="en-CA" sz="2000" dirty="0">
                <a:latin typeface="Courier New" pitchFamily="49" charset="0"/>
                <a:cs typeface="Courier New" pitchFamily="49" charset="0"/>
              </a:rPr>
              <a:t>p3 = &amp;x; </a:t>
            </a:r>
            <a:r>
              <a:rPr lang="en-CA" sz="2000" i="1" dirty="0">
                <a:solidFill>
                  <a:srgbClr val="00B050"/>
                </a:solidFill>
                <a:latin typeface="Courier New" pitchFamily="49" charset="0"/>
                <a:cs typeface="Courier New" pitchFamily="49" charset="0"/>
              </a:rPr>
              <a:t>// must be initialized at creation</a:t>
            </a:r>
          </a:p>
          <a:p>
            <a:pPr marL="571500" lvl="1" indent="0">
              <a:buNone/>
              <a:tabLst>
                <a:tab pos="2333625" algn="l"/>
                <a:tab pos="3411538" algn="l"/>
              </a:tabLst>
              <a:defRPr/>
            </a:pPr>
            <a:r>
              <a:rPr lang="en-CA" sz="2000" dirty="0">
                <a:solidFill>
                  <a:schemeClr val="accent6"/>
                </a:solidFill>
                <a:latin typeface="Courier New" pitchFamily="49" charset="0"/>
                <a:cs typeface="Courier New" pitchFamily="49" charset="0"/>
              </a:rPr>
              <a:t>p3 = &amp;y;</a:t>
            </a:r>
            <a:r>
              <a:rPr lang="en-CA" sz="2000" dirty="0">
                <a:latin typeface="Courier New" pitchFamily="49" charset="0"/>
                <a:cs typeface="Courier New" pitchFamily="49" charset="0"/>
              </a:rPr>
              <a:t>	</a:t>
            </a:r>
            <a:r>
              <a:rPr lang="en-CA" sz="2000" i="1" dirty="0">
                <a:solidFill>
                  <a:srgbClr val="00B050"/>
                </a:solidFill>
                <a:latin typeface="Courier New" pitchFamily="49" charset="0"/>
                <a:cs typeface="Courier New" pitchFamily="49" charset="0"/>
              </a:rPr>
              <a:t>// invalid: reference can’t change</a:t>
            </a:r>
          </a:p>
          <a:p>
            <a:pPr marL="571500" lvl="1" indent="0">
              <a:buNone/>
              <a:tabLst>
                <a:tab pos="2333625" algn="l"/>
                <a:tab pos="3411538" algn="l"/>
              </a:tabLst>
              <a:defRPr/>
            </a:pPr>
            <a:r>
              <a:rPr lang="en-CA" sz="2000" dirty="0">
                <a:latin typeface="Courier New" pitchFamily="49" charset="0"/>
                <a:cs typeface="Courier New" pitchFamily="49" charset="0"/>
              </a:rPr>
              <a:t>*p3 = 123;	</a:t>
            </a:r>
            <a:r>
              <a:rPr lang="en-CA" sz="2000" i="1" dirty="0">
                <a:solidFill>
                  <a:srgbClr val="00B050"/>
                </a:solidFill>
                <a:latin typeface="Courier New" pitchFamily="49" charset="0"/>
                <a:cs typeface="Courier New" pitchFamily="49" charset="0"/>
              </a:rPr>
              <a:t>// OK. changes value of x</a:t>
            </a:r>
          </a:p>
          <a:p>
            <a:pPr>
              <a:tabLst>
                <a:tab pos="2333625" algn="l"/>
                <a:tab pos="3411538" algn="l"/>
              </a:tabLst>
              <a:defRPr/>
            </a:pPr>
            <a:r>
              <a:rPr lang="en-CA" sz="2800" dirty="0">
                <a:solidFill>
                  <a:srgbClr val="000000"/>
                </a:solidFill>
              </a:rPr>
              <a:t>Prohibit a pointer from changing </a:t>
            </a:r>
            <a:r>
              <a:rPr lang="en-CA" sz="2800" b="1" u="sng" dirty="0">
                <a:solidFill>
                  <a:srgbClr val="000000"/>
                </a:solidFill>
              </a:rPr>
              <a:t>both</a:t>
            </a:r>
            <a:r>
              <a:rPr lang="en-CA" sz="2800" dirty="0">
                <a:solidFill>
                  <a:srgbClr val="000000"/>
                </a:solidFill>
              </a:rPr>
              <a:t> reference &amp; content:</a:t>
            </a:r>
          </a:p>
          <a:p>
            <a:pPr marL="571500" lvl="1" indent="0">
              <a:buNone/>
              <a:tabLst>
                <a:tab pos="2333625" algn="l"/>
                <a:tab pos="3411538" algn="l"/>
              </a:tabLst>
              <a:defRPr/>
            </a:pPr>
            <a:r>
              <a:rPr lang="en-CA" sz="2000" b="1" dirty="0">
                <a:latin typeface="Courier New" pitchFamily="49" charset="0"/>
                <a:cs typeface="Courier New" pitchFamily="49" charset="0"/>
              </a:rPr>
              <a:t>const int * const </a:t>
            </a:r>
            <a:r>
              <a:rPr lang="en-CA" sz="2000" dirty="0">
                <a:latin typeface="Courier New" pitchFamily="49" charset="0"/>
                <a:cs typeface="Courier New" pitchFamily="49" charset="0"/>
              </a:rPr>
              <a:t>p4 = &amp;w; </a:t>
            </a:r>
          </a:p>
          <a:p>
            <a:pPr marL="571500" lvl="1" indent="0">
              <a:buNone/>
              <a:tabLst>
                <a:tab pos="2333625" algn="l"/>
                <a:tab pos="3411538" algn="l"/>
              </a:tabLst>
              <a:defRPr/>
            </a:pPr>
            <a:r>
              <a:rPr lang="en-CA" sz="2000" i="1" dirty="0">
                <a:solidFill>
                  <a:srgbClr val="00B050"/>
                </a:solidFill>
                <a:latin typeface="Courier New" pitchFamily="49" charset="0"/>
                <a:cs typeface="Courier New" pitchFamily="49" charset="0"/>
              </a:rPr>
              <a:t>// must be initialized at creation &amp; point to const int</a:t>
            </a:r>
          </a:p>
          <a:p>
            <a:endParaRPr lang="en-US" dirty="0"/>
          </a:p>
        </p:txBody>
      </p:sp>
      <p:sp>
        <p:nvSpPr>
          <p:cNvPr id="4" name="Date Placeholder 3"/>
          <p:cNvSpPr>
            <a:spLocks noGrp="1"/>
          </p:cNvSpPr>
          <p:nvPr>
            <p:ph type="dt" sz="half" idx="10"/>
          </p:nvPr>
        </p:nvSpPr>
        <p:spPr/>
        <p:txBody>
          <a:bodyPr/>
          <a:lstStyle/>
          <a:p>
            <a:fld id="{F8F52428-D43E-43F2-B203-161EEC9D15BB}" type="datetime1">
              <a:rPr lang="en-US" smtClean="0"/>
              <a:t>9/15/2022</a:t>
            </a:fld>
            <a:endParaRPr lang="en-US"/>
          </a:p>
        </p:txBody>
      </p:sp>
      <p:sp>
        <p:nvSpPr>
          <p:cNvPr id="5" name="Slide Number Placeholder 4"/>
          <p:cNvSpPr>
            <a:spLocks noGrp="1"/>
          </p:cNvSpPr>
          <p:nvPr>
            <p:ph type="sldNum" sz="quarter" idx="12"/>
          </p:nvPr>
        </p:nvSpPr>
        <p:spPr/>
        <p:txBody>
          <a:bodyPr/>
          <a:lstStyle/>
          <a:p>
            <a:fld id="{A04D1FF3-96D2-4F17-898C-74B5120CFF37}"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15489011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2BF5A5CD-7A5B-4628-A106-14B4256AEBE7}" type="slidenum">
              <a:rPr lang="en-US"/>
              <a:pPr>
                <a:defRPr/>
              </a:pPr>
              <a:t>17</a:t>
            </a:fld>
            <a:endParaRPr lang="en-US"/>
          </a:p>
        </p:txBody>
      </p:sp>
      <p:sp>
        <p:nvSpPr>
          <p:cNvPr id="16387" name="Rectangle 2"/>
          <p:cNvSpPr>
            <a:spLocks noGrp="1" noChangeArrowheads="1"/>
          </p:cNvSpPr>
          <p:nvPr>
            <p:ph type="title"/>
          </p:nvPr>
        </p:nvSpPr>
        <p:spPr/>
        <p:txBody>
          <a:bodyPr>
            <a:normAutofit/>
          </a:bodyPr>
          <a:lstStyle/>
          <a:p>
            <a:pPr eaLnBrk="1" hangingPunct="1"/>
            <a:r>
              <a:rPr lang="en-US" dirty="0" smtClean="0"/>
              <a:t>Relationship Between Arrays and Pointers</a:t>
            </a:r>
          </a:p>
        </p:txBody>
      </p:sp>
      <p:sp>
        <p:nvSpPr>
          <p:cNvPr id="16388" name="Rectangle 3"/>
          <p:cNvSpPr>
            <a:spLocks noGrp="1" noChangeArrowheads="1"/>
          </p:cNvSpPr>
          <p:nvPr>
            <p:ph type="body" idx="1"/>
          </p:nvPr>
        </p:nvSpPr>
        <p:spPr/>
        <p:txBody>
          <a:bodyPr/>
          <a:lstStyle/>
          <a:p>
            <a:pPr eaLnBrk="1" hangingPunct="1"/>
            <a:r>
              <a:rPr lang="en-US" dirty="0" smtClean="0"/>
              <a:t>array names can be used as pointers, and vice-versa.</a:t>
            </a:r>
          </a:p>
        </p:txBody>
      </p:sp>
      <p:sp>
        <p:nvSpPr>
          <p:cNvPr id="5" name="Date Placeholder 4"/>
          <p:cNvSpPr>
            <a:spLocks noGrp="1"/>
          </p:cNvSpPr>
          <p:nvPr>
            <p:ph type="dt" sz="half" idx="10"/>
          </p:nvPr>
        </p:nvSpPr>
        <p:spPr/>
        <p:txBody>
          <a:bodyPr/>
          <a:lstStyle/>
          <a:p>
            <a:fld id="{58E0125D-2D92-4D7D-BD1C-60AC55DF1C45}" type="datetime1">
              <a:rPr lang="en-US" smtClean="0"/>
              <a:t>9/15/2022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41888880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B358CC51-3FAB-433E-ABD5-025D1F875C89}" type="slidenum">
              <a:rPr lang="en-US"/>
              <a:pPr>
                <a:defRPr/>
              </a:pPr>
              <a:t>18</a:t>
            </a:fld>
            <a:endParaRPr lang="en-US"/>
          </a:p>
        </p:txBody>
      </p:sp>
      <p:sp>
        <p:nvSpPr>
          <p:cNvPr id="17411" name="Rectangle 2"/>
          <p:cNvSpPr>
            <a:spLocks noGrp="1" noChangeArrowheads="1"/>
          </p:cNvSpPr>
          <p:nvPr>
            <p:ph type="title"/>
          </p:nvPr>
        </p:nvSpPr>
        <p:spPr>
          <a:xfrm>
            <a:off x="1097280" y="1107057"/>
            <a:ext cx="7772400" cy="609600"/>
          </a:xfrm>
        </p:spPr>
        <p:txBody>
          <a:bodyPr>
            <a:normAutofit fontScale="90000"/>
          </a:bodyPr>
          <a:lstStyle/>
          <a:p>
            <a:pPr eaLnBrk="1" hangingPunct="1"/>
            <a:r>
              <a:rPr lang="en-US" dirty="0" smtClean="0"/>
              <a:t>Program</a:t>
            </a:r>
          </a:p>
        </p:txBody>
      </p:sp>
      <p:sp>
        <p:nvSpPr>
          <p:cNvPr id="17412" name="Rectangle 3"/>
          <p:cNvSpPr>
            <a:spLocks noGrp="1" noChangeArrowheads="1"/>
          </p:cNvSpPr>
          <p:nvPr>
            <p:ph type="body" idx="1"/>
          </p:nvPr>
        </p:nvSpPr>
        <p:spPr>
          <a:xfrm>
            <a:off x="1157665" y="1802921"/>
            <a:ext cx="8351520" cy="4139242"/>
          </a:xfrm>
        </p:spPr>
        <p:txBody>
          <a:bodyPr>
            <a:noAutofit/>
          </a:bodyPr>
          <a:lstStyle/>
          <a:p>
            <a:pPr>
              <a:lnSpc>
                <a:spcPct val="80000"/>
              </a:lnSpc>
              <a:spcBef>
                <a:spcPts val="475"/>
              </a:spcBef>
              <a:buNone/>
            </a:pPr>
            <a:r>
              <a:rPr lang="en-US" noProof="1">
                <a:solidFill>
                  <a:srgbClr val="000000"/>
                </a:solidFill>
                <a:latin typeface="Courier New" pitchFamily="49" charset="0"/>
              </a:rPr>
              <a:t>// This program shows an array name being dereferenced </a:t>
            </a:r>
            <a:endParaRPr lang="en-US" dirty="0">
              <a:solidFill>
                <a:srgbClr val="000000"/>
              </a:solidFill>
              <a:latin typeface="Courier New" pitchFamily="49" charset="0"/>
            </a:endParaRPr>
          </a:p>
          <a:p>
            <a:pPr>
              <a:lnSpc>
                <a:spcPct val="80000"/>
              </a:lnSpc>
              <a:spcBef>
                <a:spcPts val="475"/>
              </a:spcBef>
              <a:buNone/>
            </a:pPr>
            <a:r>
              <a:rPr lang="en-US" dirty="0">
                <a:solidFill>
                  <a:srgbClr val="000000"/>
                </a:solidFill>
                <a:latin typeface="Courier New" pitchFamily="49" charset="0"/>
              </a:rPr>
              <a:t>// </a:t>
            </a:r>
            <a:r>
              <a:rPr lang="en-US" noProof="1">
                <a:solidFill>
                  <a:srgbClr val="000000"/>
                </a:solidFill>
                <a:latin typeface="Courier New" pitchFamily="49" charset="0"/>
              </a:rPr>
              <a:t>with the *</a:t>
            </a:r>
            <a:r>
              <a:rPr lang="en-US" dirty="0">
                <a:solidFill>
                  <a:srgbClr val="000000"/>
                </a:solidFill>
                <a:latin typeface="Courier New" pitchFamily="49" charset="0"/>
              </a:rPr>
              <a:t> </a:t>
            </a:r>
            <a:r>
              <a:rPr lang="en-US" noProof="1">
                <a:solidFill>
                  <a:srgbClr val="000000"/>
                </a:solidFill>
                <a:latin typeface="Courier New" pitchFamily="49" charset="0"/>
              </a:rPr>
              <a:t>operator</a:t>
            </a:r>
            <a:r>
              <a:rPr lang="en-US" noProof="1" smtClean="0">
                <a:solidFill>
                  <a:srgbClr val="000000"/>
                </a:solidFill>
                <a:latin typeface="Courier New" pitchFamily="49" charset="0"/>
              </a:rPr>
              <a:t>.</a:t>
            </a:r>
            <a:endParaRPr lang="en-US" noProof="1">
              <a:solidFill>
                <a:srgbClr val="000000"/>
              </a:solidFill>
              <a:latin typeface="Courier New" pitchFamily="49" charset="0"/>
            </a:endParaRPr>
          </a:p>
          <a:p>
            <a:pPr eaLnBrk="1" hangingPunct="1">
              <a:lnSpc>
                <a:spcPct val="80000"/>
              </a:lnSpc>
              <a:buFontTx/>
              <a:buNone/>
            </a:pPr>
            <a:r>
              <a:rPr lang="en-US" noProof="1">
                <a:solidFill>
                  <a:srgbClr val="000000"/>
                </a:solidFill>
                <a:latin typeface="Courier New" pitchFamily="49" charset="0"/>
              </a:rPr>
              <a:t>#include &lt;</a:t>
            </a:r>
            <a:r>
              <a:rPr lang="en-US" noProof="1" smtClean="0">
                <a:solidFill>
                  <a:srgbClr val="000000"/>
                </a:solidFill>
                <a:latin typeface="Courier New" pitchFamily="49" charset="0"/>
              </a:rPr>
              <a:t>iostrea</a:t>
            </a:r>
            <a:r>
              <a:rPr lang="en-US" dirty="0" smtClean="0">
                <a:solidFill>
                  <a:srgbClr val="000000"/>
                </a:solidFill>
                <a:latin typeface="Courier New" pitchFamily="49" charset="0"/>
              </a:rPr>
              <a:t>m</a:t>
            </a:r>
            <a:r>
              <a:rPr lang="en-US" noProof="1" smtClean="0">
                <a:solidFill>
                  <a:srgbClr val="000000"/>
                </a:solidFill>
                <a:latin typeface="Courier New" pitchFamily="49" charset="0"/>
              </a:rPr>
              <a:t>&gt;</a:t>
            </a:r>
            <a:endParaRPr lang="en-US" noProof="1">
              <a:solidFill>
                <a:srgbClr val="000000"/>
              </a:solidFill>
              <a:latin typeface="Courier New" pitchFamily="49" charset="0"/>
            </a:endParaRPr>
          </a:p>
          <a:p>
            <a:pPr eaLnBrk="1" hangingPunct="1">
              <a:lnSpc>
                <a:spcPct val="80000"/>
              </a:lnSpc>
              <a:buFontTx/>
              <a:buNone/>
            </a:pPr>
            <a:r>
              <a:rPr lang="en-US" noProof="1">
                <a:solidFill>
                  <a:srgbClr val="000000"/>
                </a:solidFill>
                <a:latin typeface="Courier New" pitchFamily="49" charset="0"/>
              </a:rPr>
              <a:t>void main(void)</a:t>
            </a:r>
          </a:p>
          <a:p>
            <a:pPr eaLnBrk="1" hangingPunct="1">
              <a:lnSpc>
                <a:spcPct val="80000"/>
              </a:lnSpc>
              <a:buFontTx/>
              <a:buNone/>
            </a:pPr>
            <a:r>
              <a:rPr lang="en-US" noProof="1">
                <a:solidFill>
                  <a:srgbClr val="000000"/>
                </a:solidFill>
                <a:latin typeface="Courier New" pitchFamily="49" charset="0"/>
              </a:rPr>
              <a:t>{</a:t>
            </a:r>
          </a:p>
          <a:p>
            <a:pPr eaLnBrk="1" hangingPunct="1">
              <a:lnSpc>
                <a:spcPct val="80000"/>
              </a:lnSpc>
              <a:buFontTx/>
              <a:buNone/>
            </a:pPr>
            <a:r>
              <a:rPr lang="en-US" noProof="1">
                <a:solidFill>
                  <a:srgbClr val="000000"/>
                </a:solidFill>
                <a:latin typeface="Courier New" pitchFamily="49" charset="0"/>
              </a:rPr>
              <a:t>	short numbers[] = {10, 20, 30, 40, 50</a:t>
            </a:r>
            <a:r>
              <a:rPr lang="en-US" noProof="1" smtClean="0">
                <a:solidFill>
                  <a:srgbClr val="000000"/>
                </a:solidFill>
                <a:latin typeface="Courier New" pitchFamily="49" charset="0"/>
              </a:rPr>
              <a:t>};</a:t>
            </a:r>
            <a:endParaRPr lang="en-US" noProof="1">
              <a:solidFill>
                <a:srgbClr val="000000"/>
              </a:solidFill>
              <a:latin typeface="Courier New" pitchFamily="49" charset="0"/>
            </a:endParaRPr>
          </a:p>
          <a:p>
            <a:pPr eaLnBrk="1" hangingPunct="1">
              <a:lnSpc>
                <a:spcPct val="80000"/>
              </a:lnSpc>
              <a:buFontTx/>
              <a:buNone/>
            </a:pPr>
            <a:r>
              <a:rPr lang="en-US" noProof="1">
                <a:solidFill>
                  <a:srgbClr val="000000"/>
                </a:solidFill>
                <a:latin typeface="Courier New" pitchFamily="49" charset="0"/>
              </a:rPr>
              <a:t>	cout &lt;&lt; "The first element of the array is ";</a:t>
            </a:r>
          </a:p>
          <a:p>
            <a:pPr eaLnBrk="1" hangingPunct="1">
              <a:lnSpc>
                <a:spcPct val="80000"/>
              </a:lnSpc>
              <a:buFontTx/>
              <a:buNone/>
            </a:pPr>
            <a:r>
              <a:rPr lang="en-US" noProof="1">
                <a:solidFill>
                  <a:srgbClr val="000000"/>
                </a:solidFill>
                <a:latin typeface="Courier New" pitchFamily="49" charset="0"/>
              </a:rPr>
              <a:t>	cout &lt;&lt; *numbers &lt;&lt; endl;</a:t>
            </a:r>
          </a:p>
          <a:p>
            <a:pPr eaLnBrk="1" hangingPunct="1">
              <a:buFontTx/>
              <a:buNone/>
            </a:pPr>
            <a:r>
              <a:rPr lang="en-US" noProof="1">
                <a:solidFill>
                  <a:srgbClr val="000000"/>
                </a:solidFill>
                <a:latin typeface="Courier New" pitchFamily="49" charset="0"/>
              </a:rPr>
              <a:t>}	</a:t>
            </a:r>
          </a:p>
          <a:p>
            <a:pPr eaLnBrk="1" hangingPunct="1">
              <a:buFontTx/>
              <a:buNone/>
            </a:pPr>
            <a:r>
              <a:rPr lang="en-US" noProof="1">
                <a:solidFill>
                  <a:srgbClr val="000000"/>
                </a:solidFill>
                <a:latin typeface="Courier New" pitchFamily="49" charset="0"/>
              </a:rPr>
              <a:t>Output:</a:t>
            </a:r>
          </a:p>
          <a:p>
            <a:pPr>
              <a:buNone/>
            </a:pPr>
            <a:r>
              <a:rPr lang="en-US" noProof="1">
                <a:solidFill>
                  <a:srgbClr val="000000"/>
                </a:solidFill>
                <a:latin typeface="Prestige Elite"/>
              </a:rPr>
              <a:t>The first element in the array is 10</a:t>
            </a:r>
            <a:endParaRPr lang="en-US" noProof="1">
              <a:solidFill>
                <a:srgbClr val="000000"/>
              </a:solidFill>
              <a:latin typeface="Courier New" pitchFamily="49" charset="0"/>
            </a:endParaRPr>
          </a:p>
        </p:txBody>
      </p:sp>
      <p:sp>
        <p:nvSpPr>
          <p:cNvPr id="5" name="Date Placeholder 4"/>
          <p:cNvSpPr>
            <a:spLocks noGrp="1"/>
          </p:cNvSpPr>
          <p:nvPr>
            <p:ph type="dt" sz="half" idx="10"/>
          </p:nvPr>
        </p:nvSpPr>
        <p:spPr/>
        <p:txBody>
          <a:bodyPr/>
          <a:lstStyle/>
          <a:p>
            <a:fld id="{CF8BC46B-FC71-415F-BE8A-4AF209840CB9}" type="datetime1">
              <a:rPr lang="en-US" smtClean="0"/>
              <a:t>9/15/2022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8354505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5"/>
          <p:cNvSpPr>
            <a:spLocks noGrp="1"/>
          </p:cNvSpPr>
          <p:nvPr>
            <p:ph type="sldNum" sz="quarter" idx="12"/>
          </p:nvPr>
        </p:nvSpPr>
        <p:spPr/>
        <p:txBody>
          <a:bodyPr/>
          <a:lstStyle/>
          <a:p>
            <a:pPr>
              <a:defRPr/>
            </a:pPr>
            <a:fld id="{4B92A107-9ADF-4169-A503-E2ED4909FA04}" type="slidenum">
              <a:rPr lang="en-US"/>
              <a:pPr>
                <a:defRPr/>
              </a:pPr>
              <a:t>19</a:t>
            </a:fld>
            <a:endParaRPr lang="en-US"/>
          </a:p>
        </p:txBody>
      </p:sp>
      <p:sp>
        <p:nvSpPr>
          <p:cNvPr id="20483" name="Rectangle 2"/>
          <p:cNvSpPr>
            <a:spLocks noGrp="1" noChangeArrowheads="1"/>
          </p:cNvSpPr>
          <p:nvPr>
            <p:ph type="title"/>
          </p:nvPr>
        </p:nvSpPr>
        <p:spPr/>
        <p:txBody>
          <a:bodyPr/>
          <a:lstStyle/>
          <a:p>
            <a:pPr eaLnBrk="1" hangingPunct="1"/>
            <a:r>
              <a:rPr lang="en-US" dirty="0" smtClean="0"/>
              <a:t>Figure</a:t>
            </a:r>
          </a:p>
        </p:txBody>
      </p:sp>
      <p:grpSp>
        <p:nvGrpSpPr>
          <p:cNvPr id="2" name="Group 32"/>
          <p:cNvGrpSpPr>
            <a:grpSpLocks/>
          </p:cNvGrpSpPr>
          <p:nvPr/>
        </p:nvGrpSpPr>
        <p:grpSpPr bwMode="auto">
          <a:xfrm>
            <a:off x="1828800" y="3048000"/>
            <a:ext cx="8610600" cy="1936750"/>
            <a:chOff x="192" y="1920"/>
            <a:chExt cx="5424" cy="1220"/>
          </a:xfrm>
        </p:grpSpPr>
        <p:sp>
          <p:nvSpPr>
            <p:cNvPr id="20485" name="Rectangle 7"/>
            <p:cNvSpPr>
              <a:spLocks noChangeArrowheads="1"/>
            </p:cNvSpPr>
            <p:nvPr/>
          </p:nvSpPr>
          <p:spPr bwMode="auto">
            <a:xfrm>
              <a:off x="192" y="2256"/>
              <a:ext cx="2160" cy="240"/>
            </a:xfrm>
            <a:prstGeom prst="rect">
              <a:avLst/>
            </a:prstGeom>
            <a:noFill/>
            <a:ln w="38100">
              <a:solidFill>
                <a:schemeClr val="tx1"/>
              </a:solidFill>
              <a:miter lim="800000"/>
              <a:headEnd/>
              <a:tailEnd/>
            </a:ln>
          </p:spPr>
          <p:txBody>
            <a:bodyPr wrap="none" anchor="ctr"/>
            <a:lstStyle/>
            <a:p>
              <a:endParaRPr lang="en-US"/>
            </a:p>
          </p:txBody>
        </p:sp>
        <p:sp>
          <p:nvSpPr>
            <p:cNvPr id="20486" name="Line 8"/>
            <p:cNvSpPr>
              <a:spLocks noChangeShapeType="1"/>
            </p:cNvSpPr>
            <p:nvPr/>
          </p:nvSpPr>
          <p:spPr bwMode="auto">
            <a:xfrm>
              <a:off x="720" y="2256"/>
              <a:ext cx="1" cy="240"/>
            </a:xfrm>
            <a:prstGeom prst="line">
              <a:avLst/>
            </a:prstGeom>
            <a:noFill/>
            <a:ln w="9525">
              <a:solidFill>
                <a:schemeClr val="tx1"/>
              </a:solidFill>
              <a:prstDash val="sysDot"/>
              <a:round/>
              <a:headEnd/>
              <a:tailEnd/>
            </a:ln>
          </p:spPr>
          <p:txBody>
            <a:bodyPr/>
            <a:lstStyle/>
            <a:p>
              <a:endParaRPr lang="en-US"/>
            </a:p>
          </p:txBody>
        </p:sp>
        <p:sp>
          <p:nvSpPr>
            <p:cNvPr id="20487" name="Line 9"/>
            <p:cNvSpPr>
              <a:spLocks noChangeShapeType="1"/>
            </p:cNvSpPr>
            <p:nvPr/>
          </p:nvSpPr>
          <p:spPr bwMode="auto">
            <a:xfrm>
              <a:off x="1248" y="2256"/>
              <a:ext cx="1" cy="240"/>
            </a:xfrm>
            <a:prstGeom prst="line">
              <a:avLst/>
            </a:prstGeom>
            <a:noFill/>
            <a:ln w="38100">
              <a:solidFill>
                <a:schemeClr val="tx1"/>
              </a:solidFill>
              <a:round/>
              <a:headEnd/>
              <a:tailEnd/>
            </a:ln>
          </p:spPr>
          <p:txBody>
            <a:bodyPr/>
            <a:lstStyle/>
            <a:p>
              <a:endParaRPr lang="en-US"/>
            </a:p>
          </p:txBody>
        </p:sp>
        <p:sp>
          <p:nvSpPr>
            <p:cNvPr id="20488" name="Line 10"/>
            <p:cNvSpPr>
              <a:spLocks noChangeShapeType="1"/>
            </p:cNvSpPr>
            <p:nvPr/>
          </p:nvSpPr>
          <p:spPr bwMode="auto">
            <a:xfrm>
              <a:off x="1824" y="2256"/>
              <a:ext cx="1" cy="240"/>
            </a:xfrm>
            <a:prstGeom prst="line">
              <a:avLst/>
            </a:prstGeom>
            <a:noFill/>
            <a:ln w="9525">
              <a:solidFill>
                <a:schemeClr val="tx1"/>
              </a:solidFill>
              <a:prstDash val="sysDot"/>
              <a:round/>
              <a:headEnd/>
              <a:tailEnd/>
            </a:ln>
          </p:spPr>
          <p:txBody>
            <a:bodyPr/>
            <a:lstStyle/>
            <a:p>
              <a:endParaRPr lang="en-US"/>
            </a:p>
          </p:txBody>
        </p:sp>
        <p:sp>
          <p:nvSpPr>
            <p:cNvPr id="20489" name="Text Box 11"/>
            <p:cNvSpPr txBox="1">
              <a:spLocks noChangeArrowheads="1"/>
            </p:cNvSpPr>
            <p:nvPr/>
          </p:nvSpPr>
          <p:spPr bwMode="auto">
            <a:xfrm>
              <a:off x="240" y="2928"/>
              <a:ext cx="655" cy="212"/>
            </a:xfrm>
            <a:prstGeom prst="rect">
              <a:avLst/>
            </a:prstGeom>
            <a:noFill/>
            <a:ln w="9525">
              <a:noFill/>
              <a:miter lim="800000"/>
              <a:headEnd/>
              <a:tailEnd/>
            </a:ln>
          </p:spPr>
          <p:txBody>
            <a:bodyPr wrap="none">
              <a:spAutoFit/>
            </a:bodyPr>
            <a:lstStyle/>
            <a:p>
              <a:r>
                <a:rPr lang="en-US" sz="1600">
                  <a:latin typeface="Courier New" pitchFamily="49" charset="0"/>
                </a:rPr>
                <a:t>numbers</a:t>
              </a:r>
            </a:p>
          </p:txBody>
        </p:sp>
        <p:sp>
          <p:nvSpPr>
            <p:cNvPr id="20490" name="Line 12"/>
            <p:cNvSpPr>
              <a:spLocks noChangeShapeType="1"/>
            </p:cNvSpPr>
            <p:nvPr/>
          </p:nvSpPr>
          <p:spPr bwMode="auto">
            <a:xfrm flipV="1">
              <a:off x="336" y="2544"/>
              <a:ext cx="0" cy="384"/>
            </a:xfrm>
            <a:prstGeom prst="line">
              <a:avLst/>
            </a:prstGeom>
            <a:noFill/>
            <a:ln w="19050">
              <a:solidFill>
                <a:schemeClr val="tx1"/>
              </a:solidFill>
              <a:round/>
              <a:headEnd/>
              <a:tailEnd type="triangle" w="med" len="med"/>
            </a:ln>
          </p:spPr>
          <p:txBody>
            <a:bodyPr/>
            <a:lstStyle/>
            <a:p>
              <a:endParaRPr lang="en-US"/>
            </a:p>
          </p:txBody>
        </p:sp>
        <p:sp>
          <p:nvSpPr>
            <p:cNvPr id="20491" name="Text Box 13"/>
            <p:cNvSpPr txBox="1">
              <a:spLocks noChangeArrowheads="1"/>
            </p:cNvSpPr>
            <p:nvPr/>
          </p:nvSpPr>
          <p:spPr bwMode="auto">
            <a:xfrm>
              <a:off x="192" y="1920"/>
              <a:ext cx="976" cy="231"/>
            </a:xfrm>
            <a:prstGeom prst="rect">
              <a:avLst/>
            </a:prstGeom>
            <a:noFill/>
            <a:ln w="9525">
              <a:noFill/>
              <a:miter lim="800000"/>
              <a:headEnd/>
              <a:tailEnd/>
            </a:ln>
          </p:spPr>
          <p:txBody>
            <a:bodyPr wrap="none">
              <a:spAutoFit/>
            </a:bodyPr>
            <a:lstStyle/>
            <a:p>
              <a:r>
                <a:rPr lang="en-US" dirty="0">
                  <a:latin typeface="Courier New" pitchFamily="49" charset="0"/>
                </a:rPr>
                <a:t>numbers[0]</a:t>
              </a:r>
            </a:p>
          </p:txBody>
        </p:sp>
        <p:sp>
          <p:nvSpPr>
            <p:cNvPr id="20492" name="Rectangle 14"/>
            <p:cNvSpPr>
              <a:spLocks noChangeArrowheads="1"/>
            </p:cNvSpPr>
            <p:nvPr/>
          </p:nvSpPr>
          <p:spPr bwMode="auto">
            <a:xfrm>
              <a:off x="2352" y="2256"/>
              <a:ext cx="2160" cy="240"/>
            </a:xfrm>
            <a:prstGeom prst="rect">
              <a:avLst/>
            </a:prstGeom>
            <a:noFill/>
            <a:ln w="38100">
              <a:solidFill>
                <a:schemeClr val="tx1"/>
              </a:solidFill>
              <a:miter lim="800000"/>
              <a:headEnd/>
              <a:tailEnd/>
            </a:ln>
          </p:spPr>
          <p:txBody>
            <a:bodyPr wrap="none" anchor="ctr"/>
            <a:lstStyle/>
            <a:p>
              <a:endParaRPr lang="en-US"/>
            </a:p>
          </p:txBody>
        </p:sp>
        <p:sp>
          <p:nvSpPr>
            <p:cNvPr id="20493" name="Line 15"/>
            <p:cNvSpPr>
              <a:spLocks noChangeShapeType="1"/>
            </p:cNvSpPr>
            <p:nvPr/>
          </p:nvSpPr>
          <p:spPr bwMode="auto">
            <a:xfrm>
              <a:off x="2880" y="2256"/>
              <a:ext cx="1" cy="240"/>
            </a:xfrm>
            <a:prstGeom prst="line">
              <a:avLst/>
            </a:prstGeom>
            <a:noFill/>
            <a:ln w="9525">
              <a:solidFill>
                <a:schemeClr val="tx1"/>
              </a:solidFill>
              <a:prstDash val="sysDot"/>
              <a:round/>
              <a:headEnd/>
              <a:tailEnd/>
            </a:ln>
          </p:spPr>
          <p:txBody>
            <a:bodyPr/>
            <a:lstStyle/>
            <a:p>
              <a:endParaRPr lang="en-US"/>
            </a:p>
          </p:txBody>
        </p:sp>
        <p:sp>
          <p:nvSpPr>
            <p:cNvPr id="20494" name="Line 16"/>
            <p:cNvSpPr>
              <a:spLocks noChangeShapeType="1"/>
            </p:cNvSpPr>
            <p:nvPr/>
          </p:nvSpPr>
          <p:spPr bwMode="auto">
            <a:xfrm>
              <a:off x="3408" y="2256"/>
              <a:ext cx="1" cy="240"/>
            </a:xfrm>
            <a:prstGeom prst="line">
              <a:avLst/>
            </a:prstGeom>
            <a:noFill/>
            <a:ln w="38100">
              <a:solidFill>
                <a:schemeClr val="tx1"/>
              </a:solidFill>
              <a:round/>
              <a:headEnd/>
              <a:tailEnd/>
            </a:ln>
          </p:spPr>
          <p:txBody>
            <a:bodyPr/>
            <a:lstStyle/>
            <a:p>
              <a:endParaRPr lang="en-US"/>
            </a:p>
          </p:txBody>
        </p:sp>
        <p:sp>
          <p:nvSpPr>
            <p:cNvPr id="20495" name="Line 17"/>
            <p:cNvSpPr>
              <a:spLocks noChangeShapeType="1"/>
            </p:cNvSpPr>
            <p:nvPr/>
          </p:nvSpPr>
          <p:spPr bwMode="auto">
            <a:xfrm>
              <a:off x="3984" y="2256"/>
              <a:ext cx="1" cy="240"/>
            </a:xfrm>
            <a:prstGeom prst="line">
              <a:avLst/>
            </a:prstGeom>
            <a:noFill/>
            <a:ln w="9525">
              <a:solidFill>
                <a:schemeClr val="tx1"/>
              </a:solidFill>
              <a:prstDash val="sysDot"/>
              <a:round/>
              <a:headEnd/>
              <a:tailEnd/>
            </a:ln>
          </p:spPr>
          <p:txBody>
            <a:bodyPr/>
            <a:lstStyle/>
            <a:p>
              <a:endParaRPr lang="en-US"/>
            </a:p>
          </p:txBody>
        </p:sp>
        <p:sp>
          <p:nvSpPr>
            <p:cNvPr id="20496" name="Text Box 18"/>
            <p:cNvSpPr txBox="1">
              <a:spLocks noChangeArrowheads="1"/>
            </p:cNvSpPr>
            <p:nvPr/>
          </p:nvSpPr>
          <p:spPr bwMode="auto">
            <a:xfrm>
              <a:off x="1248" y="1920"/>
              <a:ext cx="976" cy="231"/>
            </a:xfrm>
            <a:prstGeom prst="rect">
              <a:avLst/>
            </a:prstGeom>
            <a:noFill/>
            <a:ln w="9525">
              <a:noFill/>
              <a:miter lim="800000"/>
              <a:headEnd/>
              <a:tailEnd/>
            </a:ln>
          </p:spPr>
          <p:txBody>
            <a:bodyPr wrap="none">
              <a:spAutoFit/>
            </a:bodyPr>
            <a:lstStyle/>
            <a:p>
              <a:r>
                <a:rPr lang="en-US">
                  <a:latin typeface="Courier New" pitchFamily="49" charset="0"/>
                </a:rPr>
                <a:t>numbers[1]</a:t>
              </a:r>
            </a:p>
          </p:txBody>
        </p:sp>
        <p:sp>
          <p:nvSpPr>
            <p:cNvPr id="20497" name="Text Box 19"/>
            <p:cNvSpPr txBox="1">
              <a:spLocks noChangeArrowheads="1"/>
            </p:cNvSpPr>
            <p:nvPr/>
          </p:nvSpPr>
          <p:spPr bwMode="auto">
            <a:xfrm>
              <a:off x="2352" y="1920"/>
              <a:ext cx="976" cy="231"/>
            </a:xfrm>
            <a:prstGeom prst="rect">
              <a:avLst/>
            </a:prstGeom>
            <a:noFill/>
            <a:ln w="9525">
              <a:noFill/>
              <a:miter lim="800000"/>
              <a:headEnd/>
              <a:tailEnd/>
            </a:ln>
          </p:spPr>
          <p:txBody>
            <a:bodyPr wrap="none">
              <a:spAutoFit/>
            </a:bodyPr>
            <a:lstStyle/>
            <a:p>
              <a:r>
                <a:rPr lang="en-US">
                  <a:latin typeface="Courier New" pitchFamily="49" charset="0"/>
                </a:rPr>
                <a:t>numbers[2]</a:t>
              </a:r>
            </a:p>
          </p:txBody>
        </p:sp>
        <p:sp>
          <p:nvSpPr>
            <p:cNvPr id="20498" name="Text Box 20"/>
            <p:cNvSpPr txBox="1">
              <a:spLocks noChangeArrowheads="1"/>
            </p:cNvSpPr>
            <p:nvPr/>
          </p:nvSpPr>
          <p:spPr bwMode="auto">
            <a:xfrm>
              <a:off x="3504" y="1920"/>
              <a:ext cx="976" cy="231"/>
            </a:xfrm>
            <a:prstGeom prst="rect">
              <a:avLst/>
            </a:prstGeom>
            <a:noFill/>
            <a:ln w="9525">
              <a:noFill/>
              <a:miter lim="800000"/>
              <a:headEnd/>
              <a:tailEnd/>
            </a:ln>
          </p:spPr>
          <p:txBody>
            <a:bodyPr wrap="none">
              <a:spAutoFit/>
            </a:bodyPr>
            <a:lstStyle/>
            <a:p>
              <a:r>
                <a:rPr lang="en-US">
                  <a:latin typeface="Courier New" pitchFamily="49" charset="0"/>
                </a:rPr>
                <a:t>numbers[3]</a:t>
              </a:r>
            </a:p>
          </p:txBody>
        </p:sp>
        <p:sp>
          <p:nvSpPr>
            <p:cNvPr id="20499" name="Rectangle 21"/>
            <p:cNvSpPr>
              <a:spLocks noChangeArrowheads="1"/>
            </p:cNvSpPr>
            <p:nvPr/>
          </p:nvSpPr>
          <p:spPr bwMode="auto">
            <a:xfrm>
              <a:off x="4512" y="2256"/>
              <a:ext cx="1104" cy="240"/>
            </a:xfrm>
            <a:prstGeom prst="rect">
              <a:avLst/>
            </a:prstGeom>
            <a:noFill/>
            <a:ln w="38100">
              <a:solidFill>
                <a:schemeClr val="tx1"/>
              </a:solidFill>
              <a:miter lim="800000"/>
              <a:headEnd/>
              <a:tailEnd/>
            </a:ln>
          </p:spPr>
          <p:txBody>
            <a:bodyPr wrap="none" anchor="ctr"/>
            <a:lstStyle/>
            <a:p>
              <a:endParaRPr lang="en-US"/>
            </a:p>
          </p:txBody>
        </p:sp>
        <p:sp>
          <p:nvSpPr>
            <p:cNvPr id="20500" name="Line 22"/>
            <p:cNvSpPr>
              <a:spLocks noChangeShapeType="1"/>
            </p:cNvSpPr>
            <p:nvPr/>
          </p:nvSpPr>
          <p:spPr bwMode="auto">
            <a:xfrm>
              <a:off x="5088" y="2256"/>
              <a:ext cx="1" cy="240"/>
            </a:xfrm>
            <a:prstGeom prst="line">
              <a:avLst/>
            </a:prstGeom>
            <a:noFill/>
            <a:ln w="9525">
              <a:solidFill>
                <a:schemeClr val="tx1"/>
              </a:solidFill>
              <a:prstDash val="sysDot"/>
              <a:round/>
              <a:headEnd/>
              <a:tailEnd/>
            </a:ln>
          </p:spPr>
          <p:txBody>
            <a:bodyPr/>
            <a:lstStyle/>
            <a:p>
              <a:endParaRPr lang="en-US"/>
            </a:p>
          </p:txBody>
        </p:sp>
        <p:sp>
          <p:nvSpPr>
            <p:cNvPr id="20501" name="Text Box 23"/>
            <p:cNvSpPr txBox="1">
              <a:spLocks noChangeArrowheads="1"/>
            </p:cNvSpPr>
            <p:nvPr/>
          </p:nvSpPr>
          <p:spPr bwMode="auto">
            <a:xfrm>
              <a:off x="4560" y="1920"/>
              <a:ext cx="976" cy="231"/>
            </a:xfrm>
            <a:prstGeom prst="rect">
              <a:avLst/>
            </a:prstGeom>
            <a:noFill/>
            <a:ln w="9525">
              <a:noFill/>
              <a:miter lim="800000"/>
              <a:headEnd/>
              <a:tailEnd/>
            </a:ln>
          </p:spPr>
          <p:txBody>
            <a:bodyPr wrap="none">
              <a:spAutoFit/>
            </a:bodyPr>
            <a:lstStyle/>
            <a:p>
              <a:r>
                <a:rPr lang="en-US">
                  <a:latin typeface="Courier New" pitchFamily="49" charset="0"/>
                </a:rPr>
                <a:t>numbers[4]</a:t>
              </a:r>
            </a:p>
          </p:txBody>
        </p:sp>
        <p:sp>
          <p:nvSpPr>
            <p:cNvPr id="20502" name="Text Box 24"/>
            <p:cNvSpPr txBox="1">
              <a:spLocks noChangeArrowheads="1"/>
            </p:cNvSpPr>
            <p:nvPr/>
          </p:nvSpPr>
          <p:spPr bwMode="auto">
            <a:xfrm>
              <a:off x="1296" y="2928"/>
              <a:ext cx="963" cy="212"/>
            </a:xfrm>
            <a:prstGeom prst="rect">
              <a:avLst/>
            </a:prstGeom>
            <a:noFill/>
            <a:ln w="9525">
              <a:noFill/>
              <a:miter lim="800000"/>
              <a:headEnd/>
              <a:tailEnd/>
            </a:ln>
          </p:spPr>
          <p:txBody>
            <a:bodyPr wrap="none">
              <a:spAutoFit/>
            </a:bodyPr>
            <a:lstStyle/>
            <a:p>
              <a:r>
                <a:rPr lang="en-US" sz="1600">
                  <a:latin typeface="Courier New" pitchFamily="49" charset="0"/>
                </a:rPr>
                <a:t>(numbers+1)</a:t>
              </a:r>
            </a:p>
          </p:txBody>
        </p:sp>
        <p:sp>
          <p:nvSpPr>
            <p:cNvPr id="20503" name="Line 25"/>
            <p:cNvSpPr>
              <a:spLocks noChangeShapeType="1"/>
            </p:cNvSpPr>
            <p:nvPr/>
          </p:nvSpPr>
          <p:spPr bwMode="auto">
            <a:xfrm flipV="1">
              <a:off x="1392" y="2544"/>
              <a:ext cx="0" cy="384"/>
            </a:xfrm>
            <a:prstGeom prst="line">
              <a:avLst/>
            </a:prstGeom>
            <a:noFill/>
            <a:ln w="19050">
              <a:solidFill>
                <a:schemeClr val="tx1"/>
              </a:solidFill>
              <a:round/>
              <a:headEnd/>
              <a:tailEnd type="triangle" w="med" len="med"/>
            </a:ln>
          </p:spPr>
          <p:txBody>
            <a:bodyPr/>
            <a:lstStyle/>
            <a:p>
              <a:endParaRPr lang="en-US"/>
            </a:p>
          </p:txBody>
        </p:sp>
        <p:sp>
          <p:nvSpPr>
            <p:cNvPr id="20504" name="Text Box 26"/>
            <p:cNvSpPr txBox="1">
              <a:spLocks noChangeArrowheads="1"/>
            </p:cNvSpPr>
            <p:nvPr/>
          </p:nvSpPr>
          <p:spPr bwMode="auto">
            <a:xfrm>
              <a:off x="2448" y="2928"/>
              <a:ext cx="963" cy="212"/>
            </a:xfrm>
            <a:prstGeom prst="rect">
              <a:avLst/>
            </a:prstGeom>
            <a:noFill/>
            <a:ln w="9525">
              <a:noFill/>
              <a:miter lim="800000"/>
              <a:headEnd/>
              <a:tailEnd/>
            </a:ln>
          </p:spPr>
          <p:txBody>
            <a:bodyPr wrap="none">
              <a:spAutoFit/>
            </a:bodyPr>
            <a:lstStyle/>
            <a:p>
              <a:r>
                <a:rPr lang="en-US" sz="1600">
                  <a:latin typeface="Courier New" pitchFamily="49" charset="0"/>
                </a:rPr>
                <a:t>(numbers+2)</a:t>
              </a:r>
            </a:p>
          </p:txBody>
        </p:sp>
        <p:sp>
          <p:nvSpPr>
            <p:cNvPr id="20505" name="Line 27"/>
            <p:cNvSpPr>
              <a:spLocks noChangeShapeType="1"/>
            </p:cNvSpPr>
            <p:nvPr/>
          </p:nvSpPr>
          <p:spPr bwMode="auto">
            <a:xfrm flipV="1">
              <a:off x="2544" y="2517"/>
              <a:ext cx="0" cy="384"/>
            </a:xfrm>
            <a:prstGeom prst="line">
              <a:avLst/>
            </a:prstGeom>
            <a:noFill/>
            <a:ln w="19050">
              <a:solidFill>
                <a:schemeClr val="tx1"/>
              </a:solidFill>
              <a:round/>
              <a:headEnd/>
              <a:tailEnd type="triangle" w="med" len="med"/>
            </a:ln>
          </p:spPr>
          <p:txBody>
            <a:bodyPr/>
            <a:lstStyle/>
            <a:p>
              <a:endParaRPr lang="en-US"/>
            </a:p>
          </p:txBody>
        </p:sp>
        <p:sp>
          <p:nvSpPr>
            <p:cNvPr id="20506" name="Text Box 28"/>
            <p:cNvSpPr txBox="1">
              <a:spLocks noChangeArrowheads="1"/>
            </p:cNvSpPr>
            <p:nvPr/>
          </p:nvSpPr>
          <p:spPr bwMode="auto">
            <a:xfrm>
              <a:off x="3504" y="2928"/>
              <a:ext cx="963" cy="212"/>
            </a:xfrm>
            <a:prstGeom prst="rect">
              <a:avLst/>
            </a:prstGeom>
            <a:noFill/>
            <a:ln w="9525">
              <a:noFill/>
              <a:miter lim="800000"/>
              <a:headEnd/>
              <a:tailEnd/>
            </a:ln>
          </p:spPr>
          <p:txBody>
            <a:bodyPr wrap="none">
              <a:spAutoFit/>
            </a:bodyPr>
            <a:lstStyle/>
            <a:p>
              <a:r>
                <a:rPr lang="en-US" sz="1600">
                  <a:latin typeface="Courier New" pitchFamily="49" charset="0"/>
                </a:rPr>
                <a:t>(numbers+3)</a:t>
              </a:r>
            </a:p>
          </p:txBody>
        </p:sp>
        <p:sp>
          <p:nvSpPr>
            <p:cNvPr id="20507" name="Line 29"/>
            <p:cNvSpPr>
              <a:spLocks noChangeShapeType="1"/>
            </p:cNvSpPr>
            <p:nvPr/>
          </p:nvSpPr>
          <p:spPr bwMode="auto">
            <a:xfrm flipV="1">
              <a:off x="3600" y="2517"/>
              <a:ext cx="0" cy="384"/>
            </a:xfrm>
            <a:prstGeom prst="line">
              <a:avLst/>
            </a:prstGeom>
            <a:noFill/>
            <a:ln w="19050">
              <a:solidFill>
                <a:schemeClr val="tx1"/>
              </a:solidFill>
              <a:round/>
              <a:headEnd/>
              <a:tailEnd type="triangle" w="med" len="med"/>
            </a:ln>
          </p:spPr>
          <p:txBody>
            <a:bodyPr/>
            <a:lstStyle/>
            <a:p>
              <a:endParaRPr lang="en-US"/>
            </a:p>
          </p:txBody>
        </p:sp>
        <p:sp>
          <p:nvSpPr>
            <p:cNvPr id="20508" name="Text Box 30"/>
            <p:cNvSpPr txBox="1">
              <a:spLocks noChangeArrowheads="1"/>
            </p:cNvSpPr>
            <p:nvPr/>
          </p:nvSpPr>
          <p:spPr bwMode="auto">
            <a:xfrm>
              <a:off x="4608" y="2928"/>
              <a:ext cx="963" cy="212"/>
            </a:xfrm>
            <a:prstGeom prst="rect">
              <a:avLst/>
            </a:prstGeom>
            <a:noFill/>
            <a:ln w="9525">
              <a:noFill/>
              <a:miter lim="800000"/>
              <a:headEnd/>
              <a:tailEnd/>
            </a:ln>
          </p:spPr>
          <p:txBody>
            <a:bodyPr wrap="none">
              <a:spAutoFit/>
            </a:bodyPr>
            <a:lstStyle/>
            <a:p>
              <a:r>
                <a:rPr lang="en-US" sz="1600">
                  <a:latin typeface="Courier New" pitchFamily="49" charset="0"/>
                </a:rPr>
                <a:t>(numbers+4)</a:t>
              </a:r>
            </a:p>
          </p:txBody>
        </p:sp>
        <p:sp>
          <p:nvSpPr>
            <p:cNvPr id="20509" name="Line 31"/>
            <p:cNvSpPr>
              <a:spLocks noChangeShapeType="1"/>
            </p:cNvSpPr>
            <p:nvPr/>
          </p:nvSpPr>
          <p:spPr bwMode="auto">
            <a:xfrm flipV="1">
              <a:off x="4704" y="2517"/>
              <a:ext cx="0" cy="384"/>
            </a:xfrm>
            <a:prstGeom prst="line">
              <a:avLst/>
            </a:prstGeom>
            <a:noFill/>
            <a:ln w="19050">
              <a:solidFill>
                <a:schemeClr val="tx1"/>
              </a:solidFill>
              <a:round/>
              <a:headEnd/>
              <a:tailEnd type="triangle" w="med" len="med"/>
            </a:ln>
          </p:spPr>
          <p:txBody>
            <a:bodyPr/>
            <a:lstStyle/>
            <a:p>
              <a:endParaRPr lang="en-US"/>
            </a:p>
          </p:txBody>
        </p:sp>
      </p:grpSp>
      <p:sp>
        <p:nvSpPr>
          <p:cNvPr id="30" name="Date Placeholder 29"/>
          <p:cNvSpPr>
            <a:spLocks noGrp="1"/>
          </p:cNvSpPr>
          <p:nvPr>
            <p:ph type="dt" sz="half" idx="10"/>
          </p:nvPr>
        </p:nvSpPr>
        <p:spPr/>
        <p:txBody>
          <a:bodyPr/>
          <a:lstStyle/>
          <a:p>
            <a:fld id="{7BE92E65-91B2-41A1-9077-FBE2AFE726AE}" type="datetime1">
              <a:rPr lang="en-US" smtClean="0"/>
              <a:t>9/15/2022</a:t>
            </a:fld>
            <a:endParaRPr lang="en-US"/>
          </a:p>
        </p:txBody>
      </p:sp>
      <p:sp>
        <p:nvSpPr>
          <p:cNvPr id="31" name="Footer Placeholder 30"/>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12341130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41BCFDD4-7AE3-4E22-BC88-0745558C3F35}" type="slidenum">
              <a:rPr lang="en-US"/>
              <a:pPr>
                <a:defRPr/>
              </a:pPr>
              <a:t>20</a:t>
            </a:fld>
            <a:endParaRPr lang="en-US"/>
          </a:p>
        </p:txBody>
      </p:sp>
      <p:sp>
        <p:nvSpPr>
          <p:cNvPr id="21507" name="Rectangle 2"/>
          <p:cNvSpPr>
            <a:spLocks noGrp="1" noChangeArrowheads="1"/>
          </p:cNvSpPr>
          <p:nvPr>
            <p:ph type="title"/>
          </p:nvPr>
        </p:nvSpPr>
        <p:spPr>
          <a:xfrm>
            <a:off x="1097280" y="1288211"/>
            <a:ext cx="7772400" cy="457200"/>
          </a:xfrm>
        </p:spPr>
        <p:txBody>
          <a:bodyPr>
            <a:normAutofit fontScale="90000"/>
          </a:bodyPr>
          <a:lstStyle/>
          <a:p>
            <a:pPr eaLnBrk="1" hangingPunct="1"/>
            <a:r>
              <a:rPr lang="en-US" dirty="0" smtClean="0"/>
              <a:t>Program</a:t>
            </a:r>
          </a:p>
        </p:txBody>
      </p:sp>
      <p:sp>
        <p:nvSpPr>
          <p:cNvPr id="21508" name="Rectangle 3"/>
          <p:cNvSpPr>
            <a:spLocks noGrp="1" noChangeArrowheads="1"/>
          </p:cNvSpPr>
          <p:nvPr>
            <p:ph type="body" idx="1"/>
          </p:nvPr>
        </p:nvSpPr>
        <p:spPr>
          <a:xfrm>
            <a:off x="1190445" y="1820173"/>
            <a:ext cx="9558068" cy="4639611"/>
          </a:xfrm>
        </p:spPr>
        <p:txBody>
          <a:bodyPr>
            <a:normAutofit fontScale="85000" lnSpcReduction="20000"/>
          </a:bodyPr>
          <a:lstStyle/>
          <a:p>
            <a:pPr>
              <a:lnSpc>
                <a:spcPct val="80000"/>
              </a:lnSpc>
              <a:spcBef>
                <a:spcPts val="475"/>
              </a:spcBef>
              <a:buNone/>
            </a:pPr>
            <a:r>
              <a:rPr lang="en-US" noProof="1">
                <a:solidFill>
                  <a:srgbClr val="000000"/>
                </a:solidFill>
                <a:latin typeface="Courier New" pitchFamily="49" charset="0"/>
              </a:rPr>
              <a:t>// This program processes the contents of an array. Pointer</a:t>
            </a:r>
          </a:p>
          <a:p>
            <a:pPr eaLnBrk="1" hangingPunct="1">
              <a:lnSpc>
                <a:spcPct val="80000"/>
              </a:lnSpc>
              <a:buFontTx/>
              <a:buNone/>
            </a:pPr>
            <a:r>
              <a:rPr lang="en-US" noProof="1">
                <a:solidFill>
                  <a:srgbClr val="000000"/>
                </a:solidFill>
                <a:latin typeface="Courier New" pitchFamily="49" charset="0"/>
              </a:rPr>
              <a:t>// notation is used.</a:t>
            </a:r>
          </a:p>
          <a:p>
            <a:pPr eaLnBrk="1" hangingPunct="1">
              <a:lnSpc>
                <a:spcPct val="80000"/>
              </a:lnSpc>
              <a:buFontTx/>
              <a:buNone/>
            </a:pPr>
            <a:r>
              <a:rPr lang="en-US" noProof="1">
                <a:solidFill>
                  <a:srgbClr val="000000"/>
                </a:solidFill>
                <a:latin typeface="Courier New" pitchFamily="49" charset="0"/>
              </a:rPr>
              <a:t>#include &lt;iostream</a:t>
            </a:r>
            <a:r>
              <a:rPr lang="en-US" dirty="0">
                <a:solidFill>
                  <a:srgbClr val="000000"/>
                </a:solidFill>
                <a:latin typeface="Courier New" pitchFamily="49" charset="0"/>
              </a:rPr>
              <a:t>.h</a:t>
            </a:r>
            <a:r>
              <a:rPr lang="en-US" noProof="1" smtClean="0">
                <a:solidFill>
                  <a:srgbClr val="000000"/>
                </a:solidFill>
                <a:latin typeface="Courier New" pitchFamily="49" charset="0"/>
              </a:rPr>
              <a:t>&gt;</a:t>
            </a:r>
            <a:endParaRPr lang="en-US" noProof="1">
              <a:solidFill>
                <a:srgbClr val="000000"/>
              </a:solidFill>
              <a:latin typeface="Courier New" pitchFamily="49" charset="0"/>
            </a:endParaRPr>
          </a:p>
          <a:p>
            <a:pPr>
              <a:lnSpc>
                <a:spcPct val="80000"/>
              </a:lnSpc>
              <a:spcBef>
                <a:spcPts val="475"/>
              </a:spcBef>
              <a:buNone/>
            </a:pPr>
            <a:r>
              <a:rPr lang="en-US" dirty="0">
                <a:solidFill>
                  <a:srgbClr val="000000"/>
                </a:solidFill>
                <a:latin typeface="Courier New" pitchFamily="49" charset="0"/>
              </a:rPr>
              <a:t>void main(void)</a:t>
            </a:r>
            <a:endParaRPr lang="en-US" noProof="1">
              <a:solidFill>
                <a:srgbClr val="000000"/>
              </a:solidFill>
              <a:latin typeface="Courier New" pitchFamily="49" charset="0"/>
            </a:endParaRPr>
          </a:p>
          <a:p>
            <a:pPr eaLnBrk="1" hangingPunct="1">
              <a:lnSpc>
                <a:spcPct val="80000"/>
              </a:lnSpc>
              <a:buFontTx/>
              <a:buNone/>
            </a:pPr>
            <a:r>
              <a:rPr lang="en-US" noProof="1">
                <a:solidFill>
                  <a:srgbClr val="000000"/>
                </a:solidFill>
                <a:latin typeface="Courier New" pitchFamily="49" charset="0"/>
              </a:rPr>
              <a:t>{</a:t>
            </a:r>
          </a:p>
          <a:p>
            <a:pPr eaLnBrk="1" hangingPunct="1">
              <a:lnSpc>
                <a:spcPct val="80000"/>
              </a:lnSpc>
              <a:buFontTx/>
              <a:buNone/>
            </a:pPr>
            <a:r>
              <a:rPr lang="en-US" noProof="1">
                <a:solidFill>
                  <a:srgbClr val="000000"/>
                </a:solidFill>
                <a:latin typeface="Courier New" pitchFamily="49" charset="0"/>
              </a:rPr>
              <a:t>	int numbers[5</a:t>
            </a:r>
            <a:r>
              <a:rPr lang="en-US" noProof="1" smtClean="0">
                <a:solidFill>
                  <a:srgbClr val="000000"/>
                </a:solidFill>
                <a:latin typeface="Courier New" pitchFamily="49" charset="0"/>
              </a:rPr>
              <a:t>];</a:t>
            </a:r>
            <a:endParaRPr lang="en-US" noProof="1">
              <a:solidFill>
                <a:srgbClr val="000000"/>
              </a:solidFill>
              <a:latin typeface="Courier New" pitchFamily="49" charset="0"/>
            </a:endParaRPr>
          </a:p>
          <a:p>
            <a:pPr eaLnBrk="1" hangingPunct="1">
              <a:lnSpc>
                <a:spcPct val="80000"/>
              </a:lnSpc>
              <a:buFontTx/>
              <a:buNone/>
            </a:pPr>
            <a:r>
              <a:rPr lang="en-US" noProof="1">
                <a:solidFill>
                  <a:srgbClr val="000000"/>
                </a:solidFill>
                <a:latin typeface="Courier New" pitchFamily="49" charset="0"/>
              </a:rPr>
              <a:t>	cout &lt;&lt; "Enter five numbers: ";</a:t>
            </a:r>
          </a:p>
          <a:p>
            <a:pPr eaLnBrk="1" hangingPunct="1">
              <a:lnSpc>
                <a:spcPct val="80000"/>
              </a:lnSpc>
              <a:buFontTx/>
              <a:buNone/>
            </a:pPr>
            <a:r>
              <a:rPr lang="en-US" noProof="1">
                <a:solidFill>
                  <a:srgbClr val="000000"/>
                </a:solidFill>
                <a:latin typeface="Courier New" pitchFamily="49" charset="0"/>
              </a:rPr>
              <a:t>	for (int count = 0; count &lt; 5; count++)</a:t>
            </a:r>
          </a:p>
          <a:p>
            <a:pPr eaLnBrk="1" hangingPunct="1">
              <a:lnSpc>
                <a:spcPct val="80000"/>
              </a:lnSpc>
              <a:buFontTx/>
              <a:buNone/>
            </a:pPr>
            <a:r>
              <a:rPr lang="en-US" noProof="1">
                <a:solidFill>
                  <a:srgbClr val="000000"/>
                </a:solidFill>
                <a:latin typeface="Courier New" pitchFamily="49" charset="0"/>
              </a:rPr>
              <a:t>		cin &gt;&gt; *(numbers + count);</a:t>
            </a:r>
          </a:p>
          <a:p>
            <a:pPr eaLnBrk="1" hangingPunct="1">
              <a:lnSpc>
                <a:spcPct val="80000"/>
              </a:lnSpc>
              <a:buFontTx/>
              <a:buNone/>
            </a:pPr>
            <a:r>
              <a:rPr lang="en-US" noProof="1">
                <a:solidFill>
                  <a:srgbClr val="000000"/>
                </a:solidFill>
                <a:latin typeface="Courier New" pitchFamily="49" charset="0"/>
              </a:rPr>
              <a:t>	cout &lt;&lt; "Here are the numbers you entered:\n";</a:t>
            </a:r>
          </a:p>
          <a:p>
            <a:pPr eaLnBrk="1" hangingPunct="1">
              <a:lnSpc>
                <a:spcPct val="80000"/>
              </a:lnSpc>
              <a:buFontTx/>
              <a:buNone/>
            </a:pPr>
            <a:r>
              <a:rPr lang="en-US" noProof="1">
                <a:solidFill>
                  <a:srgbClr val="000000"/>
                </a:solidFill>
                <a:latin typeface="Courier New" pitchFamily="49" charset="0"/>
              </a:rPr>
              <a:t>	for (int count = 0; count &lt; 5; count++)</a:t>
            </a:r>
          </a:p>
          <a:p>
            <a:pPr eaLnBrk="1" hangingPunct="1">
              <a:lnSpc>
                <a:spcPct val="80000"/>
              </a:lnSpc>
              <a:buFontTx/>
              <a:buNone/>
            </a:pPr>
            <a:r>
              <a:rPr lang="en-US" noProof="1">
                <a:solidFill>
                  <a:srgbClr val="000000"/>
                </a:solidFill>
                <a:latin typeface="Courier New" pitchFamily="49" charset="0"/>
              </a:rPr>
              <a:t>		cout &lt;&lt; *(numbers + count)&lt;&lt; " ";</a:t>
            </a:r>
          </a:p>
          <a:p>
            <a:pPr eaLnBrk="1" hangingPunct="1">
              <a:lnSpc>
                <a:spcPct val="80000"/>
              </a:lnSpc>
              <a:buFontTx/>
              <a:buNone/>
            </a:pPr>
            <a:r>
              <a:rPr lang="en-US" noProof="1">
                <a:solidFill>
                  <a:srgbClr val="000000"/>
                </a:solidFill>
                <a:latin typeface="Courier New" pitchFamily="49" charset="0"/>
              </a:rPr>
              <a:t>	cout &lt;&lt; endl;</a:t>
            </a:r>
          </a:p>
          <a:p>
            <a:pPr eaLnBrk="1" hangingPunct="1">
              <a:buFontTx/>
              <a:buNone/>
            </a:pPr>
            <a:r>
              <a:rPr lang="en-US" sz="1800" noProof="1">
                <a:solidFill>
                  <a:srgbClr val="000000"/>
                </a:solidFill>
                <a:latin typeface="Courier New" pitchFamily="49" charset="0"/>
              </a:rPr>
              <a:t>}	</a:t>
            </a:r>
          </a:p>
        </p:txBody>
      </p:sp>
      <p:sp>
        <p:nvSpPr>
          <p:cNvPr id="5" name="Date Placeholder 4"/>
          <p:cNvSpPr>
            <a:spLocks noGrp="1"/>
          </p:cNvSpPr>
          <p:nvPr>
            <p:ph type="dt" sz="half" idx="10"/>
          </p:nvPr>
        </p:nvSpPr>
        <p:spPr/>
        <p:txBody>
          <a:bodyPr/>
          <a:lstStyle/>
          <a:p>
            <a:fld id="{7EC19FA5-3DB1-4F4A-ACA4-3EF55128FCC7}" type="datetime1">
              <a:rPr lang="en-US" smtClean="0"/>
              <a:t>9/15/2022</a:t>
            </a:fld>
            <a:endParaRPr lang="en-US"/>
          </a:p>
        </p:txBody>
      </p:sp>
      <p:sp>
        <p:nvSpPr>
          <p:cNvPr id="6" name="Footer Placeholder 5"/>
          <p:cNvSpPr>
            <a:spLocks noGrp="1"/>
          </p:cNvSpPr>
          <p:nvPr>
            <p:ph type="ftr" sz="quarter" idx="11"/>
          </p:nvPr>
        </p:nvSpPr>
        <p:spPr/>
        <p:txBody>
          <a:bodyPr/>
          <a:lstStyle/>
          <a:p>
            <a:r>
              <a:rPr lang="en-US" smtClean="0"/>
              <a:t>Designed by Ms Anosha Khan</a:t>
            </a:r>
            <a:endParaRPr lang="en-US"/>
          </a:p>
        </p:txBody>
      </p:sp>
    </p:spTree>
    <p:extLst>
      <p:ext uri="{BB962C8B-B14F-4D97-AF65-F5344CB8AC3E}">
        <p14:creationId xmlns:p14="http://schemas.microsoft.com/office/powerpoint/2010/main" val="10700904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Variable</a:t>
            </a:r>
            <a:endParaRPr lang="en-US" dirty="0"/>
          </a:p>
        </p:txBody>
      </p:sp>
      <p:sp>
        <p:nvSpPr>
          <p:cNvPr id="3" name="Content Placeholder 2"/>
          <p:cNvSpPr>
            <a:spLocks noGrp="1"/>
          </p:cNvSpPr>
          <p:nvPr>
            <p:ph idx="1"/>
          </p:nvPr>
        </p:nvSpPr>
        <p:spPr/>
        <p:txBody>
          <a:bodyPr>
            <a:normAutofit/>
          </a:bodyPr>
          <a:lstStyle/>
          <a:p>
            <a:r>
              <a:rPr lang="en-US" sz="2400" dirty="0"/>
              <a:t>Variables that are created during program execution are called dynamic variables. </a:t>
            </a:r>
            <a:endParaRPr lang="en-US" sz="2400" dirty="0" smtClean="0"/>
          </a:p>
          <a:p>
            <a:r>
              <a:rPr lang="en-US" sz="2400" dirty="0" smtClean="0"/>
              <a:t>With </a:t>
            </a:r>
            <a:r>
              <a:rPr lang="en-US" sz="2400" dirty="0"/>
              <a:t>the help of pointers, C++ creates dynamic variables. </a:t>
            </a:r>
            <a:endParaRPr lang="en-US" sz="2400" dirty="0" smtClean="0"/>
          </a:p>
          <a:p>
            <a:r>
              <a:rPr lang="en-US" sz="2400" dirty="0" smtClean="0"/>
              <a:t>C</a:t>
            </a:r>
            <a:r>
              <a:rPr lang="en-US" sz="2400" dirty="0"/>
              <a:t>++ provides two operators, new and delete, to create and destroy dynamic variables, respectively. </a:t>
            </a:r>
            <a:endParaRPr lang="en-US" sz="2400" dirty="0" smtClean="0"/>
          </a:p>
          <a:p>
            <a:r>
              <a:rPr lang="en-US" sz="2400" dirty="0" smtClean="0"/>
              <a:t>When </a:t>
            </a:r>
            <a:r>
              <a:rPr lang="en-US" sz="2400" dirty="0"/>
              <a:t>a program requires a new variable, the operator new is used. </a:t>
            </a:r>
            <a:endParaRPr lang="en-US" sz="2400" dirty="0" smtClean="0"/>
          </a:p>
          <a:p>
            <a:r>
              <a:rPr lang="en-US" sz="2400" dirty="0" smtClean="0"/>
              <a:t>When </a:t>
            </a:r>
            <a:r>
              <a:rPr lang="en-US" sz="2400" dirty="0"/>
              <a:t>a program no longer needs a dynamic variable, the operator delete is used. </a:t>
            </a:r>
            <a:endParaRPr lang="en-US" sz="2400" dirty="0" smtClean="0"/>
          </a:p>
          <a:p>
            <a:r>
              <a:rPr lang="en-US" sz="2400" dirty="0" smtClean="0"/>
              <a:t>In </a:t>
            </a:r>
            <a:r>
              <a:rPr lang="en-US" sz="2400" dirty="0"/>
              <a:t>C++, new and delete are reserved words</a:t>
            </a:r>
          </a:p>
        </p:txBody>
      </p:sp>
      <p:sp>
        <p:nvSpPr>
          <p:cNvPr id="4" name="Date Placeholder 3"/>
          <p:cNvSpPr>
            <a:spLocks noGrp="1"/>
          </p:cNvSpPr>
          <p:nvPr>
            <p:ph type="dt" sz="half" idx="10"/>
          </p:nvPr>
        </p:nvSpPr>
        <p:spPr/>
        <p:txBody>
          <a:bodyPr/>
          <a:lstStyle/>
          <a:p>
            <a:fld id="{4A1E0182-D1B1-40A3-8121-FEDDECA05593}"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21</a:t>
            </a:fld>
            <a:endParaRPr lang="en-US"/>
          </a:p>
        </p:txBody>
      </p:sp>
    </p:spTree>
    <p:extLst>
      <p:ext uri="{BB962C8B-B14F-4D97-AF65-F5344CB8AC3E}">
        <p14:creationId xmlns:p14="http://schemas.microsoft.com/office/powerpoint/2010/main" val="2413097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 new</a:t>
            </a:r>
            <a:endParaRPr lang="en-US" dirty="0"/>
          </a:p>
        </p:txBody>
      </p:sp>
      <p:sp>
        <p:nvSpPr>
          <p:cNvPr id="3" name="Content Placeholder 2"/>
          <p:cNvSpPr>
            <a:spLocks noGrp="1"/>
          </p:cNvSpPr>
          <p:nvPr>
            <p:ph idx="1"/>
          </p:nvPr>
        </p:nvSpPr>
        <p:spPr>
          <a:xfrm>
            <a:off x="1097280" y="1828481"/>
            <a:ext cx="10058400" cy="4023360"/>
          </a:xfrm>
        </p:spPr>
        <p:txBody>
          <a:bodyPr/>
          <a:lstStyle/>
          <a:p>
            <a:r>
              <a:rPr lang="en-US" dirty="0"/>
              <a:t>The operator new has two forms: one to allocate a single variable and another to allocate an array of variables. The syntax to use the operator new is</a:t>
            </a:r>
            <a:r>
              <a:rPr lang="en-US" dirty="0" smtClean="0"/>
              <a:t>:</a:t>
            </a:r>
          </a:p>
          <a:p>
            <a:endParaRPr lang="en-US" dirty="0"/>
          </a:p>
        </p:txBody>
      </p:sp>
      <p:sp>
        <p:nvSpPr>
          <p:cNvPr id="4" name="Date Placeholder 3"/>
          <p:cNvSpPr>
            <a:spLocks noGrp="1"/>
          </p:cNvSpPr>
          <p:nvPr>
            <p:ph type="dt" sz="half" idx="10"/>
          </p:nvPr>
        </p:nvSpPr>
        <p:spPr/>
        <p:txBody>
          <a:bodyPr/>
          <a:lstStyle/>
          <a:p>
            <a:fld id="{E0AA419B-9BBA-4EA8-8395-6D15D052B428}"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22</a:t>
            </a:fld>
            <a:endParaRPr lang="en-US"/>
          </a:p>
        </p:txBody>
      </p:sp>
      <p:pic>
        <p:nvPicPr>
          <p:cNvPr id="7" name="Picture 6"/>
          <p:cNvPicPr>
            <a:picLocks noChangeAspect="1"/>
          </p:cNvPicPr>
          <p:nvPr/>
        </p:nvPicPr>
        <p:blipFill>
          <a:blip r:embed="rId2"/>
          <a:stretch>
            <a:fillRect/>
          </a:stretch>
        </p:blipFill>
        <p:spPr>
          <a:xfrm>
            <a:off x="1097278" y="2536166"/>
            <a:ext cx="8452164" cy="753308"/>
          </a:xfrm>
          <a:prstGeom prst="rect">
            <a:avLst/>
          </a:prstGeom>
        </p:spPr>
      </p:pic>
      <p:sp>
        <p:nvSpPr>
          <p:cNvPr id="8" name="Rectangle 7"/>
          <p:cNvSpPr/>
          <p:nvPr/>
        </p:nvSpPr>
        <p:spPr>
          <a:xfrm>
            <a:off x="1097278" y="3443468"/>
            <a:ext cx="9961785" cy="2862322"/>
          </a:xfrm>
          <a:prstGeom prst="rect">
            <a:avLst/>
          </a:prstGeom>
        </p:spPr>
        <p:txBody>
          <a:bodyPr wrap="square">
            <a:spAutoFit/>
          </a:bodyPr>
          <a:lstStyle/>
          <a:p>
            <a:r>
              <a:rPr lang="en-US" dirty="0"/>
              <a:t>in which </a:t>
            </a:r>
            <a:r>
              <a:rPr lang="en-US" b="1" dirty="0" err="1"/>
              <a:t>intExp</a:t>
            </a:r>
            <a:r>
              <a:rPr lang="en-US" dirty="0"/>
              <a:t> is any expression evaluating to a positive integer. </a:t>
            </a:r>
            <a:endParaRPr lang="en-US" dirty="0" smtClean="0"/>
          </a:p>
          <a:p>
            <a:r>
              <a:rPr lang="en-US" dirty="0" smtClean="0"/>
              <a:t>The </a:t>
            </a:r>
            <a:r>
              <a:rPr lang="en-US" dirty="0"/>
              <a:t>operator new allocates memory (a variable) of the designated type and returns a pointer to it—that is, the address of this allocated memory. Moreover, the allocated memory is uninitialized</a:t>
            </a:r>
            <a:r>
              <a:rPr lang="en-US" dirty="0" smtClean="0"/>
              <a:t>.</a:t>
            </a:r>
          </a:p>
          <a:p>
            <a:r>
              <a:rPr lang="en-US" b="1" dirty="0"/>
              <a:t>p = new </a:t>
            </a:r>
            <a:r>
              <a:rPr lang="en-US" b="1" dirty="0" err="1"/>
              <a:t>int</a:t>
            </a:r>
            <a:r>
              <a:rPr lang="en-US" b="1" dirty="0"/>
              <a:t>; </a:t>
            </a:r>
            <a:endParaRPr lang="en-US" b="1" dirty="0" smtClean="0"/>
          </a:p>
          <a:p>
            <a:r>
              <a:rPr lang="en-US" dirty="0" smtClean="0"/>
              <a:t>This </a:t>
            </a:r>
            <a:r>
              <a:rPr lang="en-US" dirty="0"/>
              <a:t>statement creates a variable during program execution somewhere in memory and stores the address of the allocated memory in p. The allocated memory is accessed via pointer </a:t>
            </a:r>
            <a:r>
              <a:rPr lang="en-US" dirty="0" smtClean="0"/>
              <a:t>dereferencing namely</a:t>
            </a:r>
            <a:r>
              <a:rPr lang="en-US" dirty="0"/>
              <a:t>, *p. </a:t>
            </a:r>
            <a:endParaRPr lang="en-US" dirty="0" smtClean="0"/>
          </a:p>
          <a:p>
            <a:r>
              <a:rPr lang="en-US" dirty="0" smtClean="0"/>
              <a:t>Similarly</a:t>
            </a:r>
            <a:r>
              <a:rPr lang="en-US" dirty="0"/>
              <a:t>, the statement</a:t>
            </a:r>
            <a:r>
              <a:rPr lang="en-US" dirty="0" smtClean="0"/>
              <a:t>:</a:t>
            </a:r>
          </a:p>
          <a:p>
            <a:r>
              <a:rPr lang="en-US" b="1" dirty="0" smtClean="0"/>
              <a:t>q </a:t>
            </a:r>
            <a:r>
              <a:rPr lang="en-US" b="1" dirty="0"/>
              <a:t>= new char[16]; </a:t>
            </a:r>
            <a:endParaRPr lang="en-US" b="1" dirty="0" smtClean="0"/>
          </a:p>
          <a:p>
            <a:r>
              <a:rPr lang="en-US" dirty="0" smtClean="0"/>
              <a:t>creates </a:t>
            </a:r>
            <a:r>
              <a:rPr lang="en-US" dirty="0"/>
              <a:t>an array of 16 components of type char and stores the base address of the array in q.</a:t>
            </a:r>
          </a:p>
        </p:txBody>
      </p:sp>
    </p:spTree>
    <p:extLst>
      <p:ext uri="{BB962C8B-B14F-4D97-AF65-F5344CB8AC3E}">
        <p14:creationId xmlns:p14="http://schemas.microsoft.com/office/powerpoint/2010/main" val="479845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9E5B7BBD-EA1F-418C-BCFA-1025CE79DA3A}"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23</a:t>
            </a:fld>
            <a:endParaRPr lang="en-US"/>
          </a:p>
        </p:txBody>
      </p:sp>
      <p:pic>
        <p:nvPicPr>
          <p:cNvPr id="7" name="Picture 6"/>
          <p:cNvPicPr>
            <a:picLocks noChangeAspect="1"/>
          </p:cNvPicPr>
          <p:nvPr/>
        </p:nvPicPr>
        <p:blipFill>
          <a:blip r:embed="rId2"/>
          <a:stretch>
            <a:fillRect/>
          </a:stretch>
        </p:blipFill>
        <p:spPr>
          <a:xfrm>
            <a:off x="1255923" y="162167"/>
            <a:ext cx="9415716" cy="6114474"/>
          </a:xfrm>
          <a:prstGeom prst="rect">
            <a:avLst/>
          </a:prstGeom>
        </p:spPr>
      </p:pic>
    </p:spTree>
    <p:extLst>
      <p:ext uri="{BB962C8B-B14F-4D97-AF65-F5344CB8AC3E}">
        <p14:creationId xmlns:p14="http://schemas.microsoft.com/office/powerpoint/2010/main" val="4207934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 delete </a:t>
            </a:r>
            <a:endParaRPr lang="en-US" dirty="0"/>
          </a:p>
        </p:txBody>
      </p:sp>
      <p:sp>
        <p:nvSpPr>
          <p:cNvPr id="3" name="Content Placeholder 2"/>
          <p:cNvSpPr>
            <a:spLocks noGrp="1"/>
          </p:cNvSpPr>
          <p:nvPr>
            <p:ph idx="1"/>
          </p:nvPr>
        </p:nvSpPr>
        <p:spPr/>
        <p:txBody>
          <a:bodyPr/>
          <a:lstStyle/>
          <a:p>
            <a:r>
              <a:rPr lang="en-US" dirty="0"/>
              <a:t>Suppose you have the following declaration:</a:t>
            </a:r>
          </a:p>
          <a:p>
            <a:r>
              <a:rPr lang="en-US" dirty="0" err="1"/>
              <a:t>int</a:t>
            </a:r>
            <a:r>
              <a:rPr lang="en-US" dirty="0"/>
              <a:t> *p;</a:t>
            </a:r>
          </a:p>
          <a:p>
            <a:r>
              <a:rPr lang="en-US" dirty="0"/>
              <a:t>This statement declares p to be a pointer variable of type int. Next, consider the</a:t>
            </a:r>
          </a:p>
          <a:p>
            <a:r>
              <a:rPr lang="en-US" dirty="0"/>
              <a:t>following statements:</a:t>
            </a:r>
          </a:p>
          <a:p>
            <a:r>
              <a:rPr lang="en-US" dirty="0"/>
              <a:t>p = new </a:t>
            </a:r>
            <a:r>
              <a:rPr lang="en-US" dirty="0" err="1"/>
              <a:t>int</a:t>
            </a:r>
            <a:r>
              <a:rPr lang="en-US" dirty="0"/>
              <a:t>; //Line 1</a:t>
            </a:r>
          </a:p>
          <a:p>
            <a:r>
              <a:rPr lang="en-US" dirty="0"/>
              <a:t>*p = 54; //Line 2</a:t>
            </a:r>
          </a:p>
          <a:p>
            <a:r>
              <a:rPr lang="en-US" dirty="0"/>
              <a:t>p = new </a:t>
            </a:r>
            <a:r>
              <a:rPr lang="en-US" dirty="0" err="1"/>
              <a:t>int</a:t>
            </a:r>
            <a:r>
              <a:rPr lang="en-US" dirty="0"/>
              <a:t>; //Line 3</a:t>
            </a:r>
          </a:p>
          <a:p>
            <a:r>
              <a:rPr lang="en-US" dirty="0"/>
              <a:t>*p = 73; //Line </a:t>
            </a:r>
            <a:r>
              <a:rPr lang="en-US" dirty="0" smtClean="0"/>
              <a:t>4</a:t>
            </a:r>
            <a:endParaRPr lang="en-US" dirty="0"/>
          </a:p>
        </p:txBody>
      </p:sp>
      <p:sp>
        <p:nvSpPr>
          <p:cNvPr id="4" name="Date Placeholder 3"/>
          <p:cNvSpPr>
            <a:spLocks noGrp="1"/>
          </p:cNvSpPr>
          <p:nvPr>
            <p:ph type="dt" sz="half" idx="10"/>
          </p:nvPr>
        </p:nvSpPr>
        <p:spPr/>
        <p:txBody>
          <a:bodyPr/>
          <a:lstStyle/>
          <a:p>
            <a:fld id="{2B64B2BF-3FFB-4AE1-9126-017F68BBC600}"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24</a:t>
            </a:fld>
            <a:endParaRPr lang="en-US"/>
          </a:p>
        </p:txBody>
      </p:sp>
    </p:spTree>
    <p:extLst>
      <p:ext uri="{BB962C8B-B14F-4D97-AF65-F5344CB8AC3E}">
        <p14:creationId xmlns:p14="http://schemas.microsoft.com/office/powerpoint/2010/main" val="337551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2AE9A221-CCD5-499F-B33C-78838C799114}"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25</a:t>
            </a:fld>
            <a:endParaRPr lang="en-US"/>
          </a:p>
        </p:txBody>
      </p:sp>
      <p:pic>
        <p:nvPicPr>
          <p:cNvPr id="7" name="Picture 6"/>
          <p:cNvPicPr>
            <a:picLocks noChangeAspect="1"/>
          </p:cNvPicPr>
          <p:nvPr/>
        </p:nvPicPr>
        <p:blipFill>
          <a:blip r:embed="rId2"/>
          <a:stretch>
            <a:fillRect/>
          </a:stretch>
        </p:blipFill>
        <p:spPr>
          <a:xfrm>
            <a:off x="1097280" y="110333"/>
            <a:ext cx="9908571" cy="6220078"/>
          </a:xfrm>
          <a:prstGeom prst="rect">
            <a:avLst/>
          </a:prstGeom>
        </p:spPr>
      </p:pic>
    </p:spTree>
    <p:extLst>
      <p:ext uri="{BB962C8B-B14F-4D97-AF65-F5344CB8AC3E}">
        <p14:creationId xmlns:p14="http://schemas.microsoft.com/office/powerpoint/2010/main" val="2822017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a:t>
            </a:r>
            <a:r>
              <a:rPr lang="en-US" dirty="0"/>
              <a:t>leak</a:t>
            </a:r>
          </a:p>
        </p:txBody>
      </p:sp>
      <p:sp>
        <p:nvSpPr>
          <p:cNvPr id="3" name="Content Placeholder 2"/>
          <p:cNvSpPr>
            <a:spLocks noGrp="1"/>
          </p:cNvSpPr>
          <p:nvPr>
            <p:ph idx="1"/>
          </p:nvPr>
        </p:nvSpPr>
        <p:spPr/>
        <p:txBody>
          <a:bodyPr>
            <a:normAutofit/>
          </a:bodyPr>
          <a:lstStyle/>
          <a:p>
            <a:r>
              <a:rPr lang="en-US" sz="2800" dirty="0"/>
              <a:t>Now the obvious question is what happened to the memory space 1500 that p was pointing to after execution of the statement in Line 1. After execution of the statement in Line 3, p points to the new memory space at location 1800. The previous memory space at location 1500 is now inaccessible. In addition, the memory space 1500 remains as marked allocated. In other words, it cannot be reallocated. This is called memory leak. That is, there is an unused memory space that cannot be allocated</a:t>
            </a:r>
          </a:p>
        </p:txBody>
      </p:sp>
      <p:sp>
        <p:nvSpPr>
          <p:cNvPr id="4" name="Date Placeholder 3"/>
          <p:cNvSpPr>
            <a:spLocks noGrp="1"/>
          </p:cNvSpPr>
          <p:nvPr>
            <p:ph type="dt" sz="half" idx="10"/>
          </p:nvPr>
        </p:nvSpPr>
        <p:spPr/>
        <p:txBody>
          <a:bodyPr/>
          <a:lstStyle/>
          <a:p>
            <a:fld id="{1D3A2D87-D50E-4CD7-B175-F887D2FEACB7}"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26</a:t>
            </a:fld>
            <a:endParaRPr lang="en-US"/>
          </a:p>
        </p:txBody>
      </p:sp>
    </p:spTree>
    <p:extLst>
      <p:ext uri="{BB962C8B-B14F-4D97-AF65-F5344CB8AC3E}">
        <p14:creationId xmlns:p14="http://schemas.microsoft.com/office/powerpoint/2010/main" val="2868977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t>
            </a:r>
            <a:r>
              <a:rPr lang="en-US" dirty="0" smtClean="0"/>
              <a:t>ow </a:t>
            </a:r>
            <a:r>
              <a:rPr lang="en-US" dirty="0"/>
              <a:t>to avoid memory leak</a:t>
            </a:r>
          </a:p>
        </p:txBody>
      </p:sp>
      <p:sp>
        <p:nvSpPr>
          <p:cNvPr id="3" name="Content Placeholder 2"/>
          <p:cNvSpPr>
            <a:spLocks noGrp="1"/>
          </p:cNvSpPr>
          <p:nvPr>
            <p:ph idx="1"/>
          </p:nvPr>
        </p:nvSpPr>
        <p:spPr>
          <a:xfrm>
            <a:off x="1097280" y="1845734"/>
            <a:ext cx="11094720" cy="4023360"/>
          </a:xfrm>
        </p:spPr>
        <p:txBody>
          <a:bodyPr>
            <a:normAutofit/>
          </a:bodyPr>
          <a:lstStyle/>
          <a:p>
            <a:r>
              <a:rPr lang="en-US" dirty="0"/>
              <a:t>When a dynamic variable is no longer needed, it can be destroyed; that is, its memory can be </a:t>
            </a:r>
            <a:r>
              <a:rPr lang="en-US" dirty="0" err="1"/>
              <a:t>deallocated</a:t>
            </a:r>
            <a:r>
              <a:rPr lang="en-US" dirty="0" smtClean="0"/>
              <a:t>.</a:t>
            </a:r>
          </a:p>
          <a:p>
            <a:r>
              <a:rPr lang="en-US" dirty="0"/>
              <a:t>operator delete is used to destroy dynamic variables. The syntax to use the operator delete has two </a:t>
            </a:r>
            <a:r>
              <a:rPr lang="en-US" dirty="0" smtClean="0"/>
              <a:t>forms</a:t>
            </a:r>
          </a:p>
          <a:p>
            <a:endParaRPr lang="en-US" dirty="0" smtClean="0"/>
          </a:p>
          <a:p>
            <a:endParaRPr lang="en-US" dirty="0"/>
          </a:p>
          <a:p>
            <a:endParaRPr lang="en-US" dirty="0" smtClean="0"/>
          </a:p>
          <a:p>
            <a:r>
              <a:rPr lang="en-US" dirty="0" smtClean="0"/>
              <a:t>delete </a:t>
            </a:r>
            <a:r>
              <a:rPr lang="en-US" dirty="0"/>
              <a:t>p; </a:t>
            </a:r>
            <a:endParaRPr lang="en-US" dirty="0" smtClean="0"/>
          </a:p>
          <a:p>
            <a:r>
              <a:rPr lang="en-US" dirty="0" smtClean="0"/>
              <a:t>delete </a:t>
            </a:r>
            <a:r>
              <a:rPr lang="en-US" dirty="0"/>
              <a:t>[] name; </a:t>
            </a:r>
            <a:endParaRPr lang="en-US" dirty="0" smtClean="0"/>
          </a:p>
          <a:p>
            <a:r>
              <a:rPr lang="en-US" dirty="0" smtClean="0"/>
              <a:t>delete </a:t>
            </a:r>
            <a:r>
              <a:rPr lang="en-US" dirty="0" err="1"/>
              <a:t>str</a:t>
            </a:r>
            <a:endParaRPr lang="en-US" dirty="0"/>
          </a:p>
        </p:txBody>
      </p:sp>
      <p:sp>
        <p:nvSpPr>
          <p:cNvPr id="4" name="Date Placeholder 3"/>
          <p:cNvSpPr>
            <a:spLocks noGrp="1"/>
          </p:cNvSpPr>
          <p:nvPr>
            <p:ph type="dt" sz="half" idx="10"/>
          </p:nvPr>
        </p:nvSpPr>
        <p:spPr/>
        <p:txBody>
          <a:bodyPr/>
          <a:lstStyle/>
          <a:p>
            <a:fld id="{015B5B54-37C5-44AA-9E15-80918456ACF7}"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27</a:t>
            </a:fld>
            <a:endParaRPr lang="en-US"/>
          </a:p>
        </p:txBody>
      </p:sp>
      <p:pic>
        <p:nvPicPr>
          <p:cNvPr id="7" name="Picture 6"/>
          <p:cNvPicPr>
            <a:picLocks noChangeAspect="1"/>
          </p:cNvPicPr>
          <p:nvPr/>
        </p:nvPicPr>
        <p:blipFill>
          <a:blip r:embed="rId2"/>
          <a:stretch>
            <a:fillRect/>
          </a:stretch>
        </p:blipFill>
        <p:spPr>
          <a:xfrm>
            <a:off x="1655973" y="2718183"/>
            <a:ext cx="7734300" cy="1333500"/>
          </a:xfrm>
          <a:prstGeom prst="rect">
            <a:avLst/>
          </a:prstGeom>
        </p:spPr>
      </p:pic>
    </p:spTree>
    <p:extLst>
      <p:ext uri="{BB962C8B-B14F-4D97-AF65-F5344CB8AC3E}">
        <p14:creationId xmlns:p14="http://schemas.microsoft.com/office/powerpoint/2010/main" val="4168935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D56888FD-F840-4116-B680-BB7382794285}"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28</a:t>
            </a:fld>
            <a:endParaRPr lang="en-US"/>
          </a:p>
        </p:txBody>
      </p:sp>
      <p:pic>
        <p:nvPicPr>
          <p:cNvPr id="7" name="Picture 6"/>
          <p:cNvPicPr>
            <a:picLocks noChangeAspect="1"/>
          </p:cNvPicPr>
          <p:nvPr/>
        </p:nvPicPr>
        <p:blipFill>
          <a:blip r:embed="rId2"/>
          <a:stretch>
            <a:fillRect/>
          </a:stretch>
        </p:blipFill>
        <p:spPr>
          <a:xfrm>
            <a:off x="306807" y="0"/>
            <a:ext cx="11467669" cy="5869094"/>
          </a:xfrm>
          <a:prstGeom prst="rect">
            <a:avLst/>
          </a:prstGeom>
        </p:spPr>
      </p:pic>
    </p:spTree>
    <p:extLst>
      <p:ext uri="{BB962C8B-B14F-4D97-AF65-F5344CB8AC3E}">
        <p14:creationId xmlns:p14="http://schemas.microsoft.com/office/powerpoint/2010/main" val="2357695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Operations on Pointer Variables</a:t>
            </a:r>
            <a:endParaRPr lang="en-US" dirty="0"/>
          </a:p>
        </p:txBody>
      </p:sp>
      <p:sp>
        <p:nvSpPr>
          <p:cNvPr id="3" name="Content Placeholder 2"/>
          <p:cNvSpPr>
            <a:spLocks noGrp="1"/>
          </p:cNvSpPr>
          <p:nvPr>
            <p:ph idx="1"/>
          </p:nvPr>
        </p:nvSpPr>
        <p:spPr>
          <a:xfrm>
            <a:off x="1097280" y="1845734"/>
            <a:ext cx="10690768" cy="4023360"/>
          </a:xfrm>
        </p:spPr>
        <p:txBody>
          <a:bodyPr>
            <a:noAutofit/>
          </a:bodyPr>
          <a:lstStyle/>
          <a:p>
            <a:r>
              <a:rPr lang="en-US" sz="2800" dirty="0"/>
              <a:t>The operations that are allowed on pointer variables are the assignment and relational </a:t>
            </a:r>
            <a:r>
              <a:rPr lang="en-US" sz="2800" dirty="0" smtClean="0"/>
              <a:t>operations </a:t>
            </a:r>
            <a:r>
              <a:rPr lang="en-US" sz="2800" dirty="0"/>
              <a:t>and some limited arithmetic operations. </a:t>
            </a:r>
            <a:endParaRPr lang="en-US" sz="2800" dirty="0" smtClean="0"/>
          </a:p>
          <a:p>
            <a:r>
              <a:rPr lang="en-US" sz="2800" dirty="0" smtClean="0"/>
              <a:t>The </a:t>
            </a:r>
            <a:r>
              <a:rPr lang="en-US" sz="2800" dirty="0"/>
              <a:t>value of one pointer variable can be assigned to another pointer variable of the same type</a:t>
            </a:r>
            <a:r>
              <a:rPr lang="en-US" sz="2800" dirty="0" smtClean="0"/>
              <a:t>.</a:t>
            </a:r>
          </a:p>
          <a:p>
            <a:r>
              <a:rPr lang="en-US" sz="2800" dirty="0" smtClean="0"/>
              <a:t>Two </a:t>
            </a:r>
            <a:r>
              <a:rPr lang="en-US" sz="2800" dirty="0"/>
              <a:t>pointer variables of the same type can be compared for equality, and so on. </a:t>
            </a:r>
            <a:endParaRPr lang="en-US" sz="2800" dirty="0" smtClean="0"/>
          </a:p>
          <a:p>
            <a:r>
              <a:rPr lang="en-US" sz="2800" dirty="0" smtClean="0"/>
              <a:t>Integer </a:t>
            </a:r>
            <a:r>
              <a:rPr lang="en-US" sz="2800" dirty="0"/>
              <a:t>values can be added and subtracted from a pointer variable. </a:t>
            </a:r>
            <a:endParaRPr lang="en-US" sz="2800" dirty="0" smtClean="0"/>
          </a:p>
          <a:p>
            <a:r>
              <a:rPr lang="en-US" sz="2800" dirty="0" smtClean="0"/>
              <a:t>The </a:t>
            </a:r>
            <a:r>
              <a:rPr lang="en-US" sz="2800" dirty="0"/>
              <a:t>value of one pointer variable can be subtracted from another pointer variable</a:t>
            </a:r>
          </a:p>
        </p:txBody>
      </p:sp>
      <p:sp>
        <p:nvSpPr>
          <p:cNvPr id="4" name="Date Placeholder 3"/>
          <p:cNvSpPr>
            <a:spLocks noGrp="1"/>
          </p:cNvSpPr>
          <p:nvPr>
            <p:ph type="dt" sz="half" idx="10"/>
          </p:nvPr>
        </p:nvSpPr>
        <p:spPr/>
        <p:txBody>
          <a:bodyPr/>
          <a:lstStyle/>
          <a:p>
            <a:fld id="{50CCDE58-D5A9-439A-9681-B9B921BF1E65}"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29</a:t>
            </a:fld>
            <a:endParaRPr lang="en-US"/>
          </a:p>
        </p:txBody>
      </p:sp>
    </p:spTree>
    <p:extLst>
      <p:ext uri="{BB962C8B-B14F-4D97-AF65-F5344CB8AC3E}">
        <p14:creationId xmlns:p14="http://schemas.microsoft.com/office/powerpoint/2010/main" val="155214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on Pointer Variables</a:t>
            </a:r>
          </a:p>
        </p:txBody>
      </p:sp>
      <p:sp>
        <p:nvSpPr>
          <p:cNvPr id="3" name="Content Placeholder 2"/>
          <p:cNvSpPr>
            <a:spLocks noGrp="1"/>
          </p:cNvSpPr>
          <p:nvPr>
            <p:ph idx="1"/>
          </p:nvPr>
        </p:nvSpPr>
        <p:spPr>
          <a:xfrm>
            <a:off x="1097279" y="1845733"/>
            <a:ext cx="10448397" cy="4488965"/>
          </a:xfrm>
        </p:spPr>
        <p:txBody>
          <a:bodyPr>
            <a:normAutofit/>
          </a:bodyPr>
          <a:lstStyle/>
          <a:p>
            <a:r>
              <a:rPr lang="en-US" dirty="0"/>
              <a:t>For example, suppose that we have the following statements</a:t>
            </a:r>
            <a:r>
              <a:rPr lang="en-US" dirty="0" smtClean="0"/>
              <a:t>:</a:t>
            </a:r>
          </a:p>
          <a:p>
            <a:r>
              <a:rPr lang="en-US" b="1" dirty="0" smtClean="0"/>
              <a:t> </a:t>
            </a:r>
            <a:r>
              <a:rPr lang="en-US" b="1" dirty="0" err="1"/>
              <a:t>int</a:t>
            </a:r>
            <a:r>
              <a:rPr lang="en-US" b="1" dirty="0"/>
              <a:t> *p, *q; </a:t>
            </a:r>
            <a:endParaRPr lang="en-US" b="1" dirty="0" smtClean="0"/>
          </a:p>
          <a:p>
            <a:r>
              <a:rPr lang="en-US" dirty="0" smtClean="0"/>
              <a:t>The </a:t>
            </a:r>
            <a:r>
              <a:rPr lang="en-US" dirty="0"/>
              <a:t>statement: </a:t>
            </a:r>
            <a:r>
              <a:rPr lang="en-US" b="1" dirty="0"/>
              <a:t>p = q</a:t>
            </a:r>
            <a:r>
              <a:rPr lang="en-US" b="1" dirty="0" smtClean="0"/>
              <a:t>;</a:t>
            </a:r>
          </a:p>
          <a:p>
            <a:r>
              <a:rPr lang="en-US" dirty="0"/>
              <a:t>copies the value of q into p. After this statement executes, both p and q point to the same memory location. Any changes made to *p automatically change the value of *q, and vice </a:t>
            </a:r>
            <a:r>
              <a:rPr lang="en-US" dirty="0" smtClean="0"/>
              <a:t>versa</a:t>
            </a:r>
          </a:p>
          <a:p>
            <a:r>
              <a:rPr lang="en-US" dirty="0"/>
              <a:t>The expression: </a:t>
            </a:r>
            <a:endParaRPr lang="en-US" dirty="0" smtClean="0"/>
          </a:p>
          <a:p>
            <a:r>
              <a:rPr lang="en-US" b="1" dirty="0" smtClean="0"/>
              <a:t>p </a:t>
            </a:r>
            <a:r>
              <a:rPr lang="en-US" b="1" dirty="0"/>
              <a:t>== q </a:t>
            </a:r>
            <a:endParaRPr lang="en-US" b="1" dirty="0" smtClean="0"/>
          </a:p>
          <a:p>
            <a:r>
              <a:rPr lang="en-US" dirty="0" smtClean="0"/>
              <a:t>evaluates </a:t>
            </a:r>
            <a:r>
              <a:rPr lang="en-US" dirty="0"/>
              <a:t>to true if p and q have the same value—that is, if they point to the same memory location. </a:t>
            </a:r>
            <a:endParaRPr lang="en-US" dirty="0" smtClean="0"/>
          </a:p>
          <a:p>
            <a:r>
              <a:rPr lang="en-US" dirty="0" smtClean="0"/>
              <a:t>Similarly</a:t>
            </a:r>
            <a:r>
              <a:rPr lang="en-US" dirty="0"/>
              <a:t>, the expression: </a:t>
            </a:r>
            <a:endParaRPr lang="en-US" dirty="0" smtClean="0"/>
          </a:p>
          <a:p>
            <a:r>
              <a:rPr lang="en-US" b="1" dirty="0" smtClean="0"/>
              <a:t>p </a:t>
            </a:r>
            <a:r>
              <a:rPr lang="en-US" b="1" dirty="0"/>
              <a:t>!= q </a:t>
            </a:r>
            <a:r>
              <a:rPr lang="en-US" dirty="0"/>
              <a:t>evaluates to true if p and q point to different memory locations</a:t>
            </a:r>
          </a:p>
        </p:txBody>
      </p:sp>
      <p:sp>
        <p:nvSpPr>
          <p:cNvPr id="4" name="Date Placeholder 3"/>
          <p:cNvSpPr>
            <a:spLocks noGrp="1"/>
          </p:cNvSpPr>
          <p:nvPr>
            <p:ph type="dt" sz="half" idx="10"/>
          </p:nvPr>
        </p:nvSpPr>
        <p:spPr/>
        <p:txBody>
          <a:bodyPr/>
          <a:lstStyle/>
          <a:p>
            <a:fld id="{A7FEBB94-2756-4A73-B8E5-3D8B9ADD5631}"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30</a:t>
            </a:fld>
            <a:endParaRPr lang="en-US"/>
          </a:p>
        </p:txBody>
      </p:sp>
    </p:spTree>
    <p:extLst>
      <p:ext uri="{BB962C8B-B14F-4D97-AF65-F5344CB8AC3E}">
        <p14:creationId xmlns:p14="http://schemas.microsoft.com/office/powerpoint/2010/main" val="3680415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operations on Pointers</a:t>
            </a:r>
            <a:endParaRPr lang="en-US" dirty="0"/>
          </a:p>
        </p:txBody>
      </p:sp>
      <p:sp>
        <p:nvSpPr>
          <p:cNvPr id="3" name="Content Placeholder 2"/>
          <p:cNvSpPr>
            <a:spLocks noGrp="1"/>
          </p:cNvSpPr>
          <p:nvPr>
            <p:ph idx="1"/>
          </p:nvPr>
        </p:nvSpPr>
        <p:spPr/>
        <p:txBody>
          <a:bodyPr>
            <a:normAutofit lnSpcReduction="10000"/>
          </a:bodyPr>
          <a:lstStyle/>
          <a:p>
            <a:r>
              <a:rPr lang="fr-FR" b="1" dirty="0" err="1"/>
              <a:t>int</a:t>
            </a:r>
            <a:r>
              <a:rPr lang="fr-FR" b="1" dirty="0"/>
              <a:t> *p; </a:t>
            </a:r>
            <a:endParaRPr lang="fr-FR" b="1" dirty="0" smtClean="0"/>
          </a:p>
          <a:p>
            <a:r>
              <a:rPr lang="fr-FR" b="1" dirty="0" smtClean="0"/>
              <a:t>double </a:t>
            </a:r>
            <a:r>
              <a:rPr lang="fr-FR" b="1" dirty="0"/>
              <a:t>*q; </a:t>
            </a:r>
            <a:endParaRPr lang="fr-FR" b="1" dirty="0" smtClean="0"/>
          </a:p>
          <a:p>
            <a:r>
              <a:rPr lang="fr-FR" b="1" dirty="0" smtClean="0"/>
              <a:t>char </a:t>
            </a:r>
            <a:r>
              <a:rPr lang="fr-FR" b="1" dirty="0"/>
              <a:t>*</a:t>
            </a:r>
            <a:r>
              <a:rPr lang="fr-FR" b="1" dirty="0" err="1"/>
              <a:t>chPtr</a:t>
            </a:r>
            <a:r>
              <a:rPr lang="fr-FR" b="1" dirty="0" smtClean="0"/>
              <a:t>;</a:t>
            </a:r>
          </a:p>
          <a:p>
            <a:r>
              <a:rPr lang="en-US" dirty="0"/>
              <a:t>the size of the memory allocated for an </a:t>
            </a:r>
            <a:r>
              <a:rPr lang="en-US" dirty="0" err="1"/>
              <a:t>int</a:t>
            </a:r>
            <a:r>
              <a:rPr lang="en-US" dirty="0"/>
              <a:t> variable is 4 bytes, a double variable is 8 bytes, and a char variable is 1 byte’ </a:t>
            </a:r>
            <a:endParaRPr lang="en-US" dirty="0" smtClean="0"/>
          </a:p>
          <a:p>
            <a:r>
              <a:rPr lang="en-US" dirty="0" smtClean="0"/>
              <a:t>The </a:t>
            </a:r>
            <a:r>
              <a:rPr lang="en-US" dirty="0"/>
              <a:t>statement: </a:t>
            </a:r>
            <a:r>
              <a:rPr lang="en-US" b="1" dirty="0"/>
              <a:t>p++; or p = p + 1; </a:t>
            </a:r>
            <a:r>
              <a:rPr lang="en-US" dirty="0"/>
              <a:t>increments the value of p by 4 bytes because p is a pointer of type int</a:t>
            </a:r>
            <a:r>
              <a:rPr lang="en-US" dirty="0" smtClean="0"/>
              <a:t>.</a:t>
            </a:r>
          </a:p>
          <a:p>
            <a:r>
              <a:rPr lang="en-US" b="1" dirty="0"/>
              <a:t>q++; </a:t>
            </a:r>
            <a:endParaRPr lang="en-US" b="1" dirty="0" smtClean="0"/>
          </a:p>
          <a:p>
            <a:r>
              <a:rPr lang="en-US" b="1" dirty="0" err="1" smtClean="0"/>
              <a:t>chPtr</a:t>
            </a:r>
            <a:r>
              <a:rPr lang="en-US" b="1" dirty="0" smtClean="0"/>
              <a:t>++;</a:t>
            </a:r>
          </a:p>
          <a:p>
            <a:r>
              <a:rPr lang="en-US" dirty="0" smtClean="0"/>
              <a:t> </a:t>
            </a:r>
            <a:r>
              <a:rPr lang="en-US" dirty="0"/>
              <a:t>increment the value of q by 8 bytes and the value of </a:t>
            </a:r>
            <a:r>
              <a:rPr lang="en-US" dirty="0" err="1"/>
              <a:t>chPtr</a:t>
            </a:r>
            <a:r>
              <a:rPr lang="en-US" dirty="0"/>
              <a:t> by 1 byte, respectively.</a:t>
            </a:r>
          </a:p>
        </p:txBody>
      </p:sp>
      <p:sp>
        <p:nvSpPr>
          <p:cNvPr id="4" name="Date Placeholder 3"/>
          <p:cNvSpPr>
            <a:spLocks noGrp="1"/>
          </p:cNvSpPr>
          <p:nvPr>
            <p:ph type="dt" sz="half" idx="10"/>
          </p:nvPr>
        </p:nvSpPr>
        <p:spPr/>
        <p:txBody>
          <a:bodyPr/>
          <a:lstStyle/>
          <a:p>
            <a:fld id="{830BC6C2-2A38-4804-9519-7C3875D65091}"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31</a:t>
            </a:fld>
            <a:endParaRPr lang="en-US"/>
          </a:p>
        </p:txBody>
      </p:sp>
    </p:spTree>
    <p:extLst>
      <p:ext uri="{BB962C8B-B14F-4D97-AF65-F5344CB8AC3E}">
        <p14:creationId xmlns:p14="http://schemas.microsoft.com/office/powerpoint/2010/main" val="4185769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Arithmetic operations on Pointers</a:t>
            </a:r>
          </a:p>
        </p:txBody>
      </p:sp>
      <p:sp>
        <p:nvSpPr>
          <p:cNvPr id="3" name="Content Placeholder 2"/>
          <p:cNvSpPr>
            <a:spLocks noGrp="1"/>
          </p:cNvSpPr>
          <p:nvPr>
            <p:ph idx="1"/>
          </p:nvPr>
        </p:nvSpPr>
        <p:spPr/>
        <p:txBody>
          <a:bodyPr/>
          <a:lstStyle/>
          <a:p>
            <a:r>
              <a:rPr lang="en-US" dirty="0"/>
              <a:t>The increment operator increments the value of a pointer variable by the size of the</a:t>
            </a:r>
          </a:p>
          <a:p>
            <a:r>
              <a:rPr lang="en-US" dirty="0"/>
              <a:t>memory to which it is pointing. Similarly, the decrement operator decrements the value</a:t>
            </a:r>
          </a:p>
          <a:p>
            <a:r>
              <a:rPr lang="en-US" dirty="0"/>
              <a:t>of a pointer variable by the size of the memory to which it is pointing.</a:t>
            </a:r>
          </a:p>
          <a:p>
            <a:r>
              <a:rPr lang="en-US" dirty="0"/>
              <a:t>Moreover, the statement:</a:t>
            </a:r>
          </a:p>
          <a:p>
            <a:r>
              <a:rPr lang="en-US" b="1" dirty="0"/>
              <a:t>p = p + 2;</a:t>
            </a:r>
          </a:p>
          <a:p>
            <a:r>
              <a:rPr lang="en-US" dirty="0"/>
              <a:t>increments the value of p by 8 </a:t>
            </a:r>
            <a:r>
              <a:rPr lang="en-US" dirty="0" smtClean="0"/>
              <a:t>bytes</a:t>
            </a:r>
          </a:p>
          <a:p>
            <a:r>
              <a:rPr lang="en-US" dirty="0"/>
              <a:t>Thus, when an integer is added to a pointer variable, the value of the pointer variable is incremented by the integer times the size of the memory that the pointer is pointing to. Similarly, when an integer is subtracted from a pointer variable, the value of the pointer variable is decremented by the integer times the size of the memory to which the pointer is pointing</a:t>
            </a:r>
          </a:p>
        </p:txBody>
      </p:sp>
      <p:sp>
        <p:nvSpPr>
          <p:cNvPr id="4" name="Date Placeholder 3"/>
          <p:cNvSpPr>
            <a:spLocks noGrp="1"/>
          </p:cNvSpPr>
          <p:nvPr>
            <p:ph type="dt" sz="half" idx="10"/>
          </p:nvPr>
        </p:nvSpPr>
        <p:spPr/>
        <p:txBody>
          <a:bodyPr/>
          <a:lstStyle/>
          <a:p>
            <a:fld id="{1F046B86-0C3B-4496-A02B-16D01ADFDE80}"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32</a:t>
            </a:fld>
            <a:endParaRPr lang="en-US"/>
          </a:p>
        </p:txBody>
      </p:sp>
    </p:spTree>
    <p:extLst>
      <p:ext uri="{BB962C8B-B14F-4D97-AF65-F5344CB8AC3E}">
        <p14:creationId xmlns:p14="http://schemas.microsoft.com/office/powerpoint/2010/main" val="3572573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Arrays</a:t>
            </a:r>
            <a:endParaRPr lang="en-US" dirty="0"/>
          </a:p>
        </p:txBody>
      </p:sp>
      <p:sp>
        <p:nvSpPr>
          <p:cNvPr id="3" name="Content Placeholder 2"/>
          <p:cNvSpPr>
            <a:spLocks noGrp="1"/>
          </p:cNvSpPr>
          <p:nvPr>
            <p:ph idx="1"/>
          </p:nvPr>
        </p:nvSpPr>
        <p:spPr>
          <a:xfrm>
            <a:off x="1097279" y="1845733"/>
            <a:ext cx="10272127" cy="4614051"/>
          </a:xfrm>
        </p:spPr>
        <p:txBody>
          <a:bodyPr>
            <a:normAutofit lnSpcReduction="10000"/>
          </a:bodyPr>
          <a:lstStyle/>
          <a:p>
            <a:r>
              <a:rPr lang="en-US" dirty="0" smtClean="0"/>
              <a:t>It </a:t>
            </a:r>
            <a:r>
              <a:rPr lang="en-US" dirty="0"/>
              <a:t>would be helpful if, during program execution, you could prompt the user to enter the size of the array and then create an array of the appropriate size. This approach is especially helpful if you cannot even guess the array size. In this section, you will learn how to create arrays during program execution and process such arrays</a:t>
            </a:r>
            <a:r>
              <a:rPr lang="en-US" dirty="0" smtClean="0"/>
              <a:t>.</a:t>
            </a:r>
          </a:p>
          <a:p>
            <a:r>
              <a:rPr lang="en-US" b="1" dirty="0"/>
              <a:t>An array created during the execution of a program is called a dynamic array. To </a:t>
            </a:r>
            <a:r>
              <a:rPr lang="en-US" b="1" dirty="0" smtClean="0"/>
              <a:t>create a </a:t>
            </a:r>
            <a:r>
              <a:rPr lang="en-US" b="1" dirty="0"/>
              <a:t>dynamic array, we use the second form of the new operator.</a:t>
            </a:r>
          </a:p>
          <a:p>
            <a:r>
              <a:rPr lang="en-US" dirty="0"/>
              <a:t>The statement:</a:t>
            </a:r>
          </a:p>
          <a:p>
            <a:r>
              <a:rPr lang="en-US" b="1" dirty="0" err="1"/>
              <a:t>int</a:t>
            </a:r>
            <a:r>
              <a:rPr lang="en-US" b="1" dirty="0"/>
              <a:t> *p;</a:t>
            </a:r>
          </a:p>
          <a:p>
            <a:r>
              <a:rPr lang="en-US" dirty="0"/>
              <a:t>declares p to be a pointer variable of type int. The statement:</a:t>
            </a:r>
          </a:p>
          <a:p>
            <a:r>
              <a:rPr lang="en-US" b="1" dirty="0"/>
              <a:t>p = new </a:t>
            </a:r>
            <a:r>
              <a:rPr lang="en-US" b="1" dirty="0" err="1"/>
              <a:t>int</a:t>
            </a:r>
            <a:r>
              <a:rPr lang="en-US" b="1" dirty="0"/>
              <a:t>[10];</a:t>
            </a:r>
          </a:p>
          <a:p>
            <a:r>
              <a:rPr lang="en-US" dirty="0"/>
              <a:t>allocates 10 contiguous memory locations, each of type </a:t>
            </a:r>
            <a:r>
              <a:rPr lang="en-US" dirty="0" err="1"/>
              <a:t>int</a:t>
            </a:r>
            <a:r>
              <a:rPr lang="en-US" dirty="0"/>
              <a:t>, and stores the address of the</a:t>
            </a:r>
          </a:p>
          <a:p>
            <a:r>
              <a:rPr lang="en-US" dirty="0"/>
              <a:t>first memory location into p.</a:t>
            </a:r>
          </a:p>
        </p:txBody>
      </p:sp>
      <p:sp>
        <p:nvSpPr>
          <p:cNvPr id="4" name="Date Placeholder 3"/>
          <p:cNvSpPr>
            <a:spLocks noGrp="1"/>
          </p:cNvSpPr>
          <p:nvPr>
            <p:ph type="dt" sz="half" idx="10"/>
          </p:nvPr>
        </p:nvSpPr>
        <p:spPr/>
        <p:txBody>
          <a:bodyPr/>
          <a:lstStyle/>
          <a:p>
            <a:fld id="{A95E717F-06C3-47C4-A51F-3BE7F838DC66}"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33</a:t>
            </a:fld>
            <a:endParaRPr lang="en-US"/>
          </a:p>
        </p:txBody>
      </p:sp>
    </p:spTree>
    <p:extLst>
      <p:ext uri="{BB962C8B-B14F-4D97-AF65-F5344CB8AC3E}">
        <p14:creationId xmlns:p14="http://schemas.microsoft.com/office/powerpoint/2010/main" val="2608845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a:t>
            </a:r>
            <a:r>
              <a:rPr lang="en-US" dirty="0" smtClean="0"/>
              <a:t>Arrays (Continue)</a:t>
            </a:r>
            <a:endParaRPr lang="en-US" dirty="0"/>
          </a:p>
        </p:txBody>
      </p:sp>
      <p:sp>
        <p:nvSpPr>
          <p:cNvPr id="3" name="Content Placeholder 2"/>
          <p:cNvSpPr>
            <a:spLocks noGrp="1"/>
          </p:cNvSpPr>
          <p:nvPr>
            <p:ph idx="1"/>
          </p:nvPr>
        </p:nvSpPr>
        <p:spPr>
          <a:xfrm>
            <a:off x="1097279" y="1845734"/>
            <a:ext cx="10371279" cy="4422864"/>
          </a:xfrm>
        </p:spPr>
        <p:txBody>
          <a:bodyPr/>
          <a:lstStyle/>
          <a:p>
            <a:r>
              <a:rPr lang="en-US" dirty="0"/>
              <a:t>In other words, the operator new creates an array of 10 components of type </a:t>
            </a:r>
            <a:r>
              <a:rPr lang="en-US" dirty="0" err="1"/>
              <a:t>int</a:t>
            </a:r>
            <a:r>
              <a:rPr lang="en-US" dirty="0"/>
              <a:t>, it returns the base address of the array, and the assignment operator stores the base address of the array into </a:t>
            </a:r>
            <a:r>
              <a:rPr lang="en-US" dirty="0" smtClean="0"/>
              <a:t>p</a:t>
            </a:r>
          </a:p>
          <a:p>
            <a:r>
              <a:rPr lang="en-US" b="1" dirty="0"/>
              <a:t>*p = 25;</a:t>
            </a:r>
          </a:p>
          <a:p>
            <a:r>
              <a:rPr lang="en-US" dirty="0"/>
              <a:t>stores 25 into the first memory location, and the statements:</a:t>
            </a:r>
          </a:p>
          <a:p>
            <a:r>
              <a:rPr lang="en-US" b="1" dirty="0"/>
              <a:t>p++; </a:t>
            </a:r>
            <a:r>
              <a:rPr lang="en-US" dirty="0"/>
              <a:t>//p points to the next array component</a:t>
            </a:r>
          </a:p>
          <a:p>
            <a:r>
              <a:rPr lang="en-US" b="1" dirty="0" smtClean="0"/>
              <a:t>*p = 35 </a:t>
            </a:r>
            <a:r>
              <a:rPr lang="en-US" dirty="0"/>
              <a:t>store 35 into the second memory </a:t>
            </a:r>
            <a:r>
              <a:rPr lang="en-US" dirty="0" smtClean="0"/>
              <a:t>location</a:t>
            </a:r>
          </a:p>
          <a:p>
            <a:r>
              <a:rPr lang="en-US" dirty="0"/>
              <a:t>C++ allows us to use array notation to access these memory locations. </a:t>
            </a:r>
            <a:endParaRPr lang="en-US" dirty="0" smtClean="0"/>
          </a:p>
          <a:p>
            <a:r>
              <a:rPr lang="en-US" dirty="0" smtClean="0"/>
              <a:t>For </a:t>
            </a:r>
            <a:r>
              <a:rPr lang="en-US" dirty="0"/>
              <a:t>example, the statements</a:t>
            </a:r>
            <a:r>
              <a:rPr lang="en-US" dirty="0" smtClean="0"/>
              <a:t>:</a:t>
            </a:r>
          </a:p>
          <a:p>
            <a:r>
              <a:rPr lang="en-US" dirty="0" smtClean="0"/>
              <a:t> </a:t>
            </a:r>
            <a:r>
              <a:rPr lang="en-US" b="1" dirty="0"/>
              <a:t>p[0] = 25; p[1] = 35; </a:t>
            </a:r>
            <a:endParaRPr lang="en-US" b="1" dirty="0" smtClean="0"/>
          </a:p>
          <a:p>
            <a:r>
              <a:rPr lang="en-US" dirty="0" smtClean="0"/>
              <a:t>store </a:t>
            </a:r>
            <a:r>
              <a:rPr lang="en-US" dirty="0"/>
              <a:t>25 and 35 into the first and second array components, respectively.</a:t>
            </a:r>
            <a:endParaRPr lang="en-US" b="1" dirty="0"/>
          </a:p>
        </p:txBody>
      </p:sp>
      <p:sp>
        <p:nvSpPr>
          <p:cNvPr id="4" name="Date Placeholder 3"/>
          <p:cNvSpPr>
            <a:spLocks noGrp="1"/>
          </p:cNvSpPr>
          <p:nvPr>
            <p:ph type="dt" sz="half" idx="10"/>
          </p:nvPr>
        </p:nvSpPr>
        <p:spPr/>
        <p:txBody>
          <a:bodyPr/>
          <a:lstStyle/>
          <a:p>
            <a:fld id="{8C73A510-4BCA-42A4-82F3-B61C3CBE08C0}"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34</a:t>
            </a:fld>
            <a:endParaRPr lang="en-US"/>
          </a:p>
        </p:txBody>
      </p:sp>
    </p:spTree>
    <p:extLst>
      <p:ext uri="{BB962C8B-B14F-4D97-AF65-F5344CB8AC3E}">
        <p14:creationId xmlns:p14="http://schemas.microsoft.com/office/powerpoint/2010/main" val="3270295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3200" dirty="0" smtClean="0"/>
              <a:t>In </a:t>
            </a:r>
            <a:r>
              <a:rPr lang="en-US" sz="3200" dirty="0" err="1"/>
              <a:t>int</a:t>
            </a:r>
            <a:r>
              <a:rPr lang="en-US" sz="3200" dirty="0"/>
              <a:t> list[5];</a:t>
            </a:r>
            <a:endParaRPr lang="en-US" sz="3200" dirty="0" smtClean="0"/>
          </a:p>
          <a:p>
            <a:r>
              <a:rPr lang="en-US" sz="3200" b="1" dirty="0" smtClean="0"/>
              <a:t>An </a:t>
            </a:r>
            <a:r>
              <a:rPr lang="en-US" sz="3200" b="1" dirty="0"/>
              <a:t>array </a:t>
            </a:r>
            <a:r>
              <a:rPr lang="en-US" sz="3200" b="1" dirty="0" smtClean="0"/>
              <a:t>name </a:t>
            </a:r>
            <a:r>
              <a:rPr lang="en-US" sz="3200" b="1" dirty="0"/>
              <a:t>is a constant </a:t>
            </a:r>
            <a:r>
              <a:rPr lang="en-US" sz="3200" b="1" dirty="0" smtClean="0"/>
              <a:t>pointer</a:t>
            </a:r>
          </a:p>
          <a:p>
            <a:r>
              <a:rPr lang="en-US" sz="3200" dirty="0"/>
              <a:t>If p is a pointer variable of type </a:t>
            </a:r>
            <a:r>
              <a:rPr lang="en-US" sz="3200" dirty="0" err="1"/>
              <a:t>int</a:t>
            </a:r>
            <a:r>
              <a:rPr lang="en-US" sz="3200" dirty="0"/>
              <a:t>, then the statement: </a:t>
            </a:r>
            <a:endParaRPr lang="en-US" sz="3200" dirty="0" smtClean="0"/>
          </a:p>
          <a:p>
            <a:r>
              <a:rPr lang="en-US" sz="3200" b="1" dirty="0" smtClean="0"/>
              <a:t>p </a:t>
            </a:r>
            <a:r>
              <a:rPr lang="en-US" sz="3200" b="1" dirty="0"/>
              <a:t>= list; </a:t>
            </a:r>
            <a:endParaRPr lang="en-US" sz="3200" b="1" dirty="0" smtClean="0"/>
          </a:p>
          <a:p>
            <a:r>
              <a:rPr lang="en-US" sz="3200" dirty="0" smtClean="0"/>
              <a:t>copies </a:t>
            </a:r>
            <a:r>
              <a:rPr lang="en-US" sz="3200" dirty="0"/>
              <a:t>the value of list, which is 1000, the base address of the array, into </a:t>
            </a:r>
            <a:r>
              <a:rPr lang="en-US" sz="3200" b="1" dirty="0"/>
              <a:t>p</a:t>
            </a:r>
            <a:r>
              <a:rPr lang="en-US" sz="3200" dirty="0"/>
              <a:t>. We are allowed to perform increment and decrement operations on </a:t>
            </a:r>
            <a:r>
              <a:rPr lang="en-US" sz="3200" b="1" dirty="0" smtClean="0"/>
              <a:t>p</a:t>
            </a:r>
            <a:r>
              <a:rPr lang="en-US" sz="3200" dirty="0" smtClean="0"/>
              <a:t> now</a:t>
            </a:r>
            <a:endParaRPr lang="en-US" sz="3200" b="1" dirty="0"/>
          </a:p>
        </p:txBody>
      </p:sp>
      <p:sp>
        <p:nvSpPr>
          <p:cNvPr id="4" name="Date Placeholder 3"/>
          <p:cNvSpPr>
            <a:spLocks noGrp="1"/>
          </p:cNvSpPr>
          <p:nvPr>
            <p:ph type="dt" sz="half" idx="10"/>
          </p:nvPr>
        </p:nvSpPr>
        <p:spPr/>
        <p:txBody>
          <a:bodyPr/>
          <a:lstStyle/>
          <a:p>
            <a:fld id="{F78BA417-DB5F-4A69-970E-713BD1119701}"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35</a:t>
            </a:fld>
            <a:endParaRPr lang="en-US"/>
          </a:p>
        </p:txBody>
      </p:sp>
    </p:spTree>
    <p:extLst>
      <p:ext uri="{BB962C8B-B14F-4D97-AF65-F5344CB8AC3E}">
        <p14:creationId xmlns:p14="http://schemas.microsoft.com/office/powerpoint/2010/main" val="23799897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1660" y="13648"/>
            <a:ext cx="8140453" cy="968991"/>
          </a:xfrm>
        </p:spPr>
        <p:txBody>
          <a:bodyPr>
            <a:normAutofit/>
          </a:bodyPr>
          <a:lstStyle/>
          <a:p>
            <a:r>
              <a:rPr lang="en-US" b="1" dirty="0"/>
              <a:t>Array to Function as parameters</a:t>
            </a:r>
          </a:p>
        </p:txBody>
      </p:sp>
      <p:pic>
        <p:nvPicPr>
          <p:cNvPr id="4" name="Content Placeholder 3"/>
          <p:cNvPicPr>
            <a:picLocks noGrp="1" noChangeAspect="1"/>
          </p:cNvPicPr>
          <p:nvPr>
            <p:ph idx="1"/>
          </p:nvPr>
        </p:nvPicPr>
        <p:blipFill rotWithShape="1">
          <a:blip r:embed="rId3"/>
          <a:srcRect t="3367"/>
          <a:stretch/>
        </p:blipFill>
        <p:spPr>
          <a:xfrm>
            <a:off x="245832" y="832513"/>
            <a:ext cx="11482253" cy="5869676"/>
          </a:xfrm>
          <a:prstGeom prst="rect">
            <a:avLst/>
          </a:prstGeom>
        </p:spPr>
      </p:pic>
      <p:sp>
        <p:nvSpPr>
          <p:cNvPr id="3" name="Date Placeholder 2"/>
          <p:cNvSpPr>
            <a:spLocks noGrp="1"/>
          </p:cNvSpPr>
          <p:nvPr>
            <p:ph type="dt" sz="half" idx="10"/>
          </p:nvPr>
        </p:nvSpPr>
        <p:spPr/>
        <p:txBody>
          <a:bodyPr/>
          <a:lstStyle/>
          <a:p>
            <a:fld id="{D2827EAA-5F48-4EC3-9091-28B8796B2129}"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36</a:t>
            </a:fld>
            <a:endParaRPr lang="en-US"/>
          </a:p>
        </p:txBody>
      </p:sp>
    </p:spTree>
    <p:extLst>
      <p:ext uri="{BB962C8B-B14F-4D97-AF65-F5344CB8AC3E}">
        <p14:creationId xmlns:p14="http://schemas.microsoft.com/office/powerpoint/2010/main" val="21534192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Swapping Using pointers</a:t>
            </a:r>
            <a:endParaRPr lang="en-US" dirty="0"/>
          </a:p>
        </p:txBody>
      </p:sp>
      <p:sp>
        <p:nvSpPr>
          <p:cNvPr id="7" name="Text Placeholder 6"/>
          <p:cNvSpPr>
            <a:spLocks noGrp="1"/>
          </p:cNvSpPr>
          <p:nvPr>
            <p:ph type="body" idx="1"/>
          </p:nvPr>
        </p:nvSpPr>
        <p:spPr/>
        <p:txBody>
          <a:bodyPr/>
          <a:lstStyle/>
          <a:p>
            <a:r>
              <a:rPr lang="en-US" dirty="0" smtClean="0"/>
              <a:t>Class activity</a:t>
            </a:r>
            <a:endParaRPr lang="en-US" dirty="0"/>
          </a:p>
        </p:txBody>
      </p:sp>
      <p:sp>
        <p:nvSpPr>
          <p:cNvPr id="4" name="Date Placeholder 3"/>
          <p:cNvSpPr>
            <a:spLocks noGrp="1"/>
          </p:cNvSpPr>
          <p:nvPr>
            <p:ph type="dt" sz="half" idx="10"/>
          </p:nvPr>
        </p:nvSpPr>
        <p:spPr/>
        <p:txBody>
          <a:bodyPr/>
          <a:lstStyle/>
          <a:p>
            <a:fld id="{D6B1E665-E411-4B9B-A461-A4E75ECBC19E}"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37</a:t>
            </a:fld>
            <a:endParaRPr lang="en-US"/>
          </a:p>
        </p:txBody>
      </p:sp>
    </p:spTree>
    <p:extLst>
      <p:ext uri="{BB962C8B-B14F-4D97-AF65-F5344CB8AC3E}">
        <p14:creationId xmlns:p14="http://schemas.microsoft.com/office/powerpoint/2010/main" val="5115428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174" y="99631"/>
            <a:ext cx="7656394" cy="1450757"/>
          </a:xfrm>
        </p:spPr>
        <p:txBody>
          <a:bodyPr/>
          <a:lstStyle/>
          <a:p>
            <a:r>
              <a:rPr lang="en-US" dirty="0"/>
              <a:t>Functions Returning Pointers</a:t>
            </a:r>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38</a:t>
            </a:fld>
            <a:endParaRPr lang="en-US"/>
          </a:p>
        </p:txBody>
      </p:sp>
      <p:sp>
        <p:nvSpPr>
          <p:cNvPr id="7" name="Rectangle 1">
            <a:extLst>
              <a:ext uri="{FF2B5EF4-FFF2-40B4-BE49-F238E27FC236}">
                <a16:creationId xmlns:a16="http://schemas.microsoft.com/office/drawing/2014/main" xmlns="" id="{412F452E-301F-4F83-AB7F-5CA234557AF8}"/>
              </a:ext>
            </a:extLst>
          </p:cNvPr>
          <p:cNvSpPr>
            <a:spLocks noGrp="1" noChangeArrowheads="1"/>
          </p:cNvSpPr>
          <p:nvPr>
            <p:ph idx="1"/>
          </p:nvPr>
        </p:nvSpPr>
        <p:spPr bwMode="auto">
          <a:xfrm>
            <a:off x="1187356" y="1766012"/>
            <a:ext cx="6725384" cy="44781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1" i="0" u="none" strike="noStrike" cap="none" normalizeH="0" baseline="0" dirty="0">
                <a:ln>
                  <a:noFill/>
                </a:ln>
                <a:solidFill>
                  <a:srgbClr val="808080"/>
                </a:solidFill>
                <a:effectLst/>
                <a:latin typeface="Consolas" panose="020B0609020204030204" pitchFamily="49" charset="0"/>
              </a:rPr>
              <a:t>int</a:t>
            </a:r>
            <a:r>
              <a:rPr kumimoji="0" lang="x-none" altLang="x-none" b="0" i="0" u="none" strike="noStrike" cap="none" normalizeH="0" baseline="0" dirty="0">
                <a:ln>
                  <a:noFill/>
                </a:ln>
                <a:solidFill>
                  <a:srgbClr val="000000"/>
                </a:solidFill>
                <a:effectLst/>
                <a:latin typeface="Consolas" panose="020B0609020204030204" pitchFamily="49" charset="0"/>
              </a:rPr>
              <a:t>* fun()</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000000"/>
                </a:solidFill>
                <a:effectLst/>
                <a:latin typeface="Consolas" panose="020B0609020204030204" pitchFamily="49" charset="0"/>
              </a:rPr>
              <a:t>{</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1" i="0" u="none" strike="noStrike" cap="none" normalizeH="0" baseline="0" dirty="0">
                <a:ln>
                  <a:noFill/>
                </a:ln>
                <a:solidFill>
                  <a:srgbClr val="808080"/>
                </a:solidFill>
                <a:effectLst/>
                <a:latin typeface="Consolas" panose="020B0609020204030204" pitchFamily="49" charset="0"/>
              </a:rPr>
              <a:t>int</a:t>
            </a: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0" i="0" u="none" strike="noStrike" cap="none" normalizeH="0" baseline="0" dirty="0">
                <a:ln>
                  <a:noFill/>
                </a:ln>
                <a:solidFill>
                  <a:srgbClr val="000000"/>
                </a:solidFill>
                <a:effectLst/>
                <a:latin typeface="Consolas" panose="020B0609020204030204" pitchFamily="49" charset="0"/>
              </a:rPr>
              <a:t>A = 10;</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1" i="0" u="none" strike="noStrike" cap="none" normalizeH="0" baseline="0" dirty="0">
                <a:ln>
                  <a:noFill/>
                </a:ln>
                <a:solidFill>
                  <a:srgbClr val="006699"/>
                </a:solidFill>
                <a:effectLst/>
                <a:latin typeface="Consolas" panose="020B0609020204030204" pitchFamily="49" charset="0"/>
              </a:rPr>
              <a:t>return</a:t>
            </a: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0" i="0" u="none" strike="noStrike" cap="none" normalizeH="0" baseline="0" dirty="0">
                <a:ln>
                  <a:noFill/>
                </a:ln>
                <a:solidFill>
                  <a:srgbClr val="000000"/>
                </a:solidFill>
                <a:effectLst/>
                <a:latin typeface="Consolas" panose="020B0609020204030204" pitchFamily="49" charset="0"/>
              </a:rPr>
              <a:t>(&amp;A);</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smtClean="0">
                <a:ln>
                  <a:noFill/>
                </a:ln>
                <a:solidFill>
                  <a:srgbClr val="000000"/>
                </a:solidFill>
                <a:effectLst/>
                <a:latin typeface="Consolas" panose="020B0609020204030204" pitchFamily="49" charset="0"/>
              </a:rPr>
              <a:t>}</a:t>
            </a:r>
            <a:endParaRPr lang="en-US" altLang="x-none" sz="32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1" i="0" u="none" strike="noStrike" cap="none" normalizeH="0" baseline="0" dirty="0" smtClean="0">
                <a:ln>
                  <a:noFill/>
                </a:ln>
                <a:solidFill>
                  <a:srgbClr val="808080"/>
                </a:solidFill>
                <a:effectLst/>
                <a:latin typeface="Consolas" panose="020B0609020204030204" pitchFamily="49" charset="0"/>
              </a:rPr>
              <a:t>int</a:t>
            </a:r>
            <a:r>
              <a:rPr kumimoji="0" lang="x-none" altLang="x-none" b="0" i="0" u="none" strike="noStrike" cap="none" normalizeH="0" baseline="0" dirty="0" smtClean="0">
                <a:ln>
                  <a:noFill/>
                </a:ln>
                <a:solidFill>
                  <a:srgbClr val="273239"/>
                </a:solidFill>
                <a:effectLst/>
                <a:latin typeface="Consolas" panose="020B0609020204030204" pitchFamily="49" charset="0"/>
              </a:rPr>
              <a:t> </a:t>
            </a:r>
            <a:r>
              <a:rPr kumimoji="0" lang="x-none" altLang="x-none" b="0" i="0" u="none" strike="noStrike" cap="none" normalizeH="0" baseline="0" dirty="0">
                <a:ln>
                  <a:noFill/>
                </a:ln>
                <a:solidFill>
                  <a:srgbClr val="000000"/>
                </a:solidFill>
                <a:effectLst/>
                <a:latin typeface="Consolas" panose="020B0609020204030204" pitchFamily="49" charset="0"/>
              </a:rPr>
              <a:t>main()</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000000"/>
                </a:solidFill>
                <a:effectLst/>
                <a:latin typeface="Consolas" panose="020B0609020204030204" pitchFamily="49" charset="0"/>
              </a:rPr>
              <a:t>{</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0" i="0" u="none" strike="noStrike" cap="none" normalizeH="0" baseline="0" dirty="0">
                <a:ln>
                  <a:noFill/>
                </a:ln>
                <a:solidFill>
                  <a:srgbClr val="008200"/>
                </a:solidFill>
                <a:effectLst/>
                <a:latin typeface="Consolas" panose="020B0609020204030204" pitchFamily="49" charset="0"/>
              </a:rPr>
              <a:t>// Declare a pointer</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1" i="0" u="none" strike="noStrike" cap="none" normalizeH="0" baseline="0" dirty="0">
                <a:ln>
                  <a:noFill/>
                </a:ln>
                <a:solidFill>
                  <a:srgbClr val="808080"/>
                </a:solidFill>
                <a:effectLst/>
                <a:latin typeface="Consolas" panose="020B0609020204030204" pitchFamily="49" charset="0"/>
              </a:rPr>
              <a:t>int</a:t>
            </a:r>
            <a:r>
              <a:rPr kumimoji="0" lang="x-none" altLang="x-none" b="0" i="0" u="none" strike="noStrike" cap="none" normalizeH="0" baseline="0" dirty="0">
                <a:ln>
                  <a:noFill/>
                </a:ln>
                <a:solidFill>
                  <a:srgbClr val="000000"/>
                </a:solidFill>
                <a:effectLst/>
                <a:latin typeface="Consolas" panose="020B0609020204030204" pitchFamily="49" charset="0"/>
              </a:rPr>
              <a:t>* p</a:t>
            </a:r>
            <a:r>
              <a:rPr kumimoji="0" lang="x-none" altLang="x-none" b="0" i="0" u="none" strike="noStrike" cap="none" normalizeH="0" baseline="0" dirty="0" smtClean="0">
                <a:ln>
                  <a:noFill/>
                </a:ln>
                <a:solidFill>
                  <a:srgbClr val="000000"/>
                </a:solidFill>
                <a:effectLst/>
                <a:latin typeface="Consolas" panose="020B0609020204030204" pitchFamily="49" charset="0"/>
              </a:rPr>
              <a:t>;</a:t>
            </a:r>
            <a:endParaRPr kumimoji="0" lang="x-none" altLang="x-none"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0" i="0" u="none" strike="noStrike" cap="none" normalizeH="0" baseline="0" dirty="0">
                <a:ln>
                  <a:noFill/>
                </a:ln>
                <a:solidFill>
                  <a:srgbClr val="008200"/>
                </a:solidFill>
                <a:effectLst/>
                <a:latin typeface="Consolas" panose="020B0609020204030204" pitchFamily="49" charset="0"/>
              </a:rPr>
              <a:t>// Function call</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0" i="0" u="none" strike="noStrike" cap="none" normalizeH="0" baseline="0" dirty="0">
                <a:ln>
                  <a:noFill/>
                </a:ln>
                <a:solidFill>
                  <a:srgbClr val="000000"/>
                </a:solidFill>
                <a:effectLst/>
                <a:latin typeface="Consolas" panose="020B0609020204030204" pitchFamily="49" charset="0"/>
              </a:rPr>
              <a:t>p = fun</a:t>
            </a:r>
            <a:r>
              <a:rPr kumimoji="0" lang="x-none" altLang="x-none" b="0" i="0" u="none" strike="noStrike" cap="none" normalizeH="0" baseline="0" dirty="0" smtClean="0">
                <a:ln>
                  <a:noFill/>
                </a:ln>
                <a:solidFill>
                  <a:srgbClr val="000000"/>
                </a:solidFill>
                <a:effectLst/>
                <a:latin typeface="Consolas" panose="020B0609020204030204" pitchFamily="49" charset="0"/>
              </a:rPr>
              <a:t>();</a:t>
            </a:r>
            <a:endParaRPr kumimoji="0" lang="x-none" altLang="x-none"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en-US" altLang="x-none" b="1" i="0" u="none" strike="noStrike" cap="none" normalizeH="0" baseline="0" dirty="0" err="1">
                <a:ln>
                  <a:noFill/>
                </a:ln>
                <a:solidFill>
                  <a:srgbClr val="FF1493"/>
                </a:solidFill>
                <a:effectLst/>
                <a:latin typeface="Consolas" panose="020B0609020204030204" pitchFamily="49" charset="0"/>
              </a:rPr>
              <a:t>cout</a:t>
            </a:r>
            <a:r>
              <a:rPr kumimoji="0" lang="en-US" altLang="x-none" b="1" i="0" u="none" strike="noStrike" cap="none" normalizeH="0" baseline="0" dirty="0">
                <a:ln>
                  <a:noFill/>
                </a:ln>
                <a:solidFill>
                  <a:srgbClr val="FF1493"/>
                </a:solidFill>
                <a:effectLst/>
                <a:latin typeface="Consolas" panose="020B0609020204030204" pitchFamily="49" charset="0"/>
              </a:rPr>
              <a:t>&lt;&lt;</a:t>
            </a:r>
            <a:r>
              <a:rPr kumimoji="0" lang="x-none" altLang="x-none" b="0" i="0" u="none" strike="noStrike" cap="none" normalizeH="0" baseline="0" dirty="0">
                <a:ln>
                  <a:noFill/>
                </a:ln>
                <a:solidFill>
                  <a:srgbClr val="000000"/>
                </a:solidFill>
                <a:effectLst/>
                <a:latin typeface="Consolas" panose="020B0609020204030204" pitchFamily="49" charset="0"/>
              </a:rPr>
              <a:t>p;</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en-US" altLang="x-none" b="1" i="0" u="none" strike="noStrike" cap="none" normalizeH="0" baseline="0" dirty="0" err="1">
                <a:ln>
                  <a:noFill/>
                </a:ln>
                <a:solidFill>
                  <a:srgbClr val="FF1493"/>
                </a:solidFill>
                <a:effectLst/>
                <a:latin typeface="Consolas" panose="020B0609020204030204" pitchFamily="49" charset="0"/>
              </a:rPr>
              <a:t>cout</a:t>
            </a:r>
            <a:r>
              <a:rPr kumimoji="0" lang="en-US" altLang="x-none" b="1" i="0" u="none" strike="noStrike" cap="none" normalizeH="0" baseline="0" dirty="0">
                <a:ln>
                  <a:noFill/>
                </a:ln>
                <a:solidFill>
                  <a:srgbClr val="FF1493"/>
                </a:solidFill>
                <a:effectLst/>
                <a:latin typeface="Consolas" panose="020B0609020204030204" pitchFamily="49" charset="0"/>
              </a:rPr>
              <a:t>&lt;&lt;</a:t>
            </a:r>
            <a:r>
              <a:rPr kumimoji="0" lang="x-none" altLang="x-none" b="0" i="0" u="none" strike="noStrike" cap="none" normalizeH="0" baseline="0" dirty="0">
                <a:ln>
                  <a:noFill/>
                </a:ln>
                <a:solidFill>
                  <a:srgbClr val="000000"/>
                </a:solidFill>
                <a:effectLst/>
                <a:latin typeface="Consolas" panose="020B0609020204030204" pitchFamily="49" charset="0"/>
              </a:rPr>
              <a:t>*p;</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1" i="0" u="none" strike="noStrike" cap="none" normalizeH="0" baseline="0" dirty="0">
                <a:ln>
                  <a:noFill/>
                </a:ln>
                <a:solidFill>
                  <a:srgbClr val="006699"/>
                </a:solidFill>
                <a:effectLst/>
                <a:latin typeface="Consolas" panose="020B0609020204030204" pitchFamily="49" charset="0"/>
              </a:rPr>
              <a:t>return</a:t>
            </a:r>
            <a:r>
              <a:rPr kumimoji="0" lang="x-none" altLang="x-none" b="0" i="0" u="none" strike="noStrike" cap="none" normalizeH="0" baseline="0" dirty="0">
                <a:ln>
                  <a:noFill/>
                </a:ln>
                <a:solidFill>
                  <a:srgbClr val="273239"/>
                </a:solidFill>
                <a:effectLst/>
                <a:latin typeface="Consolas" panose="020B0609020204030204" pitchFamily="49" charset="0"/>
              </a:rPr>
              <a:t> </a:t>
            </a:r>
            <a:r>
              <a:rPr kumimoji="0" lang="x-none" altLang="x-none" b="0" i="0" u="none" strike="noStrike" cap="none" normalizeH="0" baseline="0" dirty="0">
                <a:ln>
                  <a:noFill/>
                </a:ln>
                <a:solidFill>
                  <a:srgbClr val="000000"/>
                </a:solidFill>
                <a:effectLst/>
                <a:latin typeface="Consolas" panose="020B0609020204030204" pitchFamily="49" charset="0"/>
              </a:rPr>
              <a:t>0;</a:t>
            </a:r>
            <a:endParaRPr kumimoji="0" lang="x-none" altLang="x-none"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x-none" sz="1100" b="0" i="0" u="none" strike="noStrike" cap="none" normalizeH="0" baseline="0" dirty="0">
              <a:ln>
                <a:noFill/>
              </a:ln>
              <a:solidFill>
                <a:srgbClr val="000000"/>
              </a:solidFill>
              <a:effectLst/>
              <a:latin typeface="Consolas" panose="020B0609020204030204" pitchFamily="49" charset="0"/>
            </a:endParaRPr>
          </a:p>
        </p:txBody>
      </p:sp>
      <p:sp>
        <p:nvSpPr>
          <p:cNvPr id="3" name="Date Placeholder 2"/>
          <p:cNvSpPr>
            <a:spLocks noGrp="1"/>
          </p:cNvSpPr>
          <p:nvPr>
            <p:ph type="dt" sz="half" idx="10"/>
          </p:nvPr>
        </p:nvSpPr>
        <p:spPr/>
        <p:txBody>
          <a:bodyPr/>
          <a:lstStyle/>
          <a:p>
            <a:fld id="{CFABC82A-2E56-46C0-9C4B-922A18BA0C61}" type="datetime1">
              <a:rPr lang="en-US" smtClean="0"/>
              <a:t>9/15/2022</a:t>
            </a:fld>
            <a:endParaRPr lang="en-US"/>
          </a:p>
        </p:txBody>
      </p:sp>
    </p:spTree>
    <p:extLst>
      <p:ext uri="{BB962C8B-B14F-4D97-AF65-F5344CB8AC3E}">
        <p14:creationId xmlns:p14="http://schemas.microsoft.com/office/powerpoint/2010/main" val="1694449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8866" y="95534"/>
            <a:ext cx="10336814" cy="5773560"/>
          </a:xfrm>
        </p:spPr>
        <p:txBody>
          <a:bodyPr>
            <a:normAutofit lnSpcReduction="10000"/>
          </a:bodyPr>
          <a:lstStyle/>
          <a:p>
            <a:pPr marL="0">
              <a:lnSpc>
                <a:spcPct val="120000"/>
              </a:lnSpc>
              <a:spcBef>
                <a:spcPts val="0"/>
              </a:spcBef>
              <a:spcAft>
                <a:spcPts val="0"/>
              </a:spcAft>
            </a:pPr>
            <a:r>
              <a:rPr lang="en-US" dirty="0"/>
              <a:t>#include &lt;</a:t>
            </a:r>
            <a:r>
              <a:rPr lang="en-US" dirty="0" err="1"/>
              <a:t>iostream</a:t>
            </a:r>
            <a:r>
              <a:rPr lang="en-US" dirty="0"/>
              <a:t>&gt;</a:t>
            </a:r>
          </a:p>
          <a:p>
            <a:pPr marL="0">
              <a:lnSpc>
                <a:spcPct val="120000"/>
              </a:lnSpc>
              <a:spcBef>
                <a:spcPts val="0"/>
              </a:spcBef>
              <a:spcAft>
                <a:spcPts val="0"/>
              </a:spcAft>
            </a:pPr>
            <a:r>
              <a:rPr lang="en-US" dirty="0"/>
              <a:t>using namespace </a:t>
            </a:r>
            <a:r>
              <a:rPr lang="en-US" dirty="0" err="1"/>
              <a:t>std</a:t>
            </a:r>
            <a:r>
              <a:rPr lang="en-US" dirty="0"/>
              <a:t>;</a:t>
            </a:r>
          </a:p>
          <a:p>
            <a:pPr marL="0">
              <a:lnSpc>
                <a:spcPct val="120000"/>
              </a:lnSpc>
              <a:spcBef>
                <a:spcPts val="0"/>
              </a:spcBef>
              <a:spcAft>
                <a:spcPts val="0"/>
              </a:spcAft>
            </a:pPr>
            <a:r>
              <a:rPr lang="en-US" dirty="0" err="1"/>
              <a:t>int</a:t>
            </a:r>
            <a:r>
              <a:rPr lang="en-US" dirty="0"/>
              <a:t>* fun()</a:t>
            </a:r>
          </a:p>
          <a:p>
            <a:pPr marL="0">
              <a:lnSpc>
                <a:spcPct val="120000"/>
              </a:lnSpc>
              <a:spcBef>
                <a:spcPts val="0"/>
              </a:spcBef>
              <a:spcAft>
                <a:spcPts val="0"/>
              </a:spcAft>
            </a:pPr>
            <a:r>
              <a:rPr lang="en-US" dirty="0"/>
              <a:t>{</a:t>
            </a:r>
          </a:p>
          <a:p>
            <a:pPr marL="0">
              <a:lnSpc>
                <a:spcPct val="120000"/>
              </a:lnSpc>
              <a:spcBef>
                <a:spcPts val="0"/>
              </a:spcBef>
              <a:spcAft>
                <a:spcPts val="0"/>
              </a:spcAft>
            </a:pPr>
            <a:r>
              <a:rPr lang="en-US" dirty="0"/>
              <a:t>	static </a:t>
            </a:r>
            <a:r>
              <a:rPr lang="en-US" dirty="0" err="1"/>
              <a:t>int</a:t>
            </a:r>
            <a:r>
              <a:rPr lang="en-US" dirty="0"/>
              <a:t> A = 10;</a:t>
            </a:r>
          </a:p>
          <a:p>
            <a:pPr marL="0">
              <a:lnSpc>
                <a:spcPct val="120000"/>
              </a:lnSpc>
              <a:spcBef>
                <a:spcPts val="0"/>
              </a:spcBef>
              <a:spcAft>
                <a:spcPts val="0"/>
              </a:spcAft>
            </a:pPr>
            <a:r>
              <a:rPr lang="en-US" dirty="0"/>
              <a:t>	A++;</a:t>
            </a:r>
          </a:p>
          <a:p>
            <a:pPr marL="0">
              <a:lnSpc>
                <a:spcPct val="120000"/>
              </a:lnSpc>
              <a:spcBef>
                <a:spcPts val="0"/>
              </a:spcBef>
              <a:spcAft>
                <a:spcPts val="0"/>
              </a:spcAft>
            </a:pPr>
            <a:r>
              <a:rPr lang="en-US" dirty="0"/>
              <a:t>	return (&amp;A);</a:t>
            </a:r>
          </a:p>
          <a:p>
            <a:pPr marL="0">
              <a:lnSpc>
                <a:spcPct val="120000"/>
              </a:lnSpc>
              <a:spcBef>
                <a:spcPts val="0"/>
              </a:spcBef>
              <a:spcAft>
                <a:spcPts val="0"/>
              </a:spcAft>
            </a:pPr>
            <a:r>
              <a:rPr lang="en-US" dirty="0"/>
              <a:t>}</a:t>
            </a:r>
          </a:p>
          <a:p>
            <a:pPr marL="0">
              <a:lnSpc>
                <a:spcPct val="120000"/>
              </a:lnSpc>
              <a:spcBef>
                <a:spcPts val="0"/>
              </a:spcBef>
              <a:spcAft>
                <a:spcPts val="0"/>
              </a:spcAft>
            </a:pPr>
            <a:r>
              <a:rPr lang="en-US" dirty="0" err="1"/>
              <a:t>int</a:t>
            </a:r>
            <a:r>
              <a:rPr lang="en-US" dirty="0"/>
              <a:t> main()</a:t>
            </a:r>
          </a:p>
          <a:p>
            <a:pPr marL="0">
              <a:lnSpc>
                <a:spcPct val="120000"/>
              </a:lnSpc>
              <a:spcBef>
                <a:spcPts val="0"/>
              </a:spcBef>
              <a:spcAft>
                <a:spcPts val="0"/>
              </a:spcAft>
            </a:pPr>
            <a:r>
              <a:rPr lang="en-US" dirty="0"/>
              <a:t>{</a:t>
            </a:r>
          </a:p>
          <a:p>
            <a:pPr marL="0">
              <a:lnSpc>
                <a:spcPct val="120000"/>
              </a:lnSpc>
              <a:spcBef>
                <a:spcPts val="0"/>
              </a:spcBef>
              <a:spcAft>
                <a:spcPts val="0"/>
              </a:spcAft>
            </a:pPr>
            <a:r>
              <a:rPr lang="en-US" dirty="0"/>
              <a:t>	</a:t>
            </a:r>
            <a:r>
              <a:rPr lang="en-US" dirty="0" err="1"/>
              <a:t>int</a:t>
            </a:r>
            <a:r>
              <a:rPr lang="en-US" dirty="0"/>
              <a:t>* p;</a:t>
            </a:r>
          </a:p>
          <a:p>
            <a:pPr marL="0">
              <a:lnSpc>
                <a:spcPct val="120000"/>
              </a:lnSpc>
              <a:spcBef>
                <a:spcPts val="0"/>
              </a:spcBef>
              <a:spcAft>
                <a:spcPts val="0"/>
              </a:spcAft>
            </a:pPr>
            <a:r>
              <a:rPr lang="en-US" dirty="0"/>
              <a:t>	p = fun();</a:t>
            </a:r>
          </a:p>
          <a:p>
            <a:pPr marL="0">
              <a:lnSpc>
                <a:spcPct val="120000"/>
              </a:lnSpc>
              <a:spcBef>
                <a:spcPts val="0"/>
              </a:spcBef>
              <a:spcAft>
                <a:spcPts val="0"/>
              </a:spcAft>
            </a:pPr>
            <a:r>
              <a:rPr lang="en-US" dirty="0"/>
              <a:t>	</a:t>
            </a:r>
            <a:r>
              <a:rPr lang="en-US" dirty="0" err="1"/>
              <a:t>cout</a:t>
            </a:r>
            <a:r>
              <a:rPr lang="en-US" dirty="0"/>
              <a:t> &lt;&lt; p&lt;&lt;</a:t>
            </a:r>
            <a:r>
              <a:rPr lang="en-US" dirty="0" err="1"/>
              <a:t>endl</a:t>
            </a:r>
            <a:r>
              <a:rPr lang="en-US" dirty="0"/>
              <a:t>;</a:t>
            </a:r>
          </a:p>
          <a:p>
            <a:pPr marL="0">
              <a:lnSpc>
                <a:spcPct val="120000"/>
              </a:lnSpc>
              <a:spcBef>
                <a:spcPts val="0"/>
              </a:spcBef>
              <a:spcAft>
                <a:spcPts val="0"/>
              </a:spcAft>
            </a:pPr>
            <a:r>
              <a:rPr lang="en-US" dirty="0"/>
              <a:t>	</a:t>
            </a:r>
            <a:r>
              <a:rPr lang="en-US" dirty="0" err="1"/>
              <a:t>cout</a:t>
            </a:r>
            <a:r>
              <a:rPr lang="en-US" dirty="0"/>
              <a:t> &lt;&lt; *p&lt;&lt;</a:t>
            </a:r>
            <a:r>
              <a:rPr lang="en-US" dirty="0" err="1"/>
              <a:t>endl</a:t>
            </a:r>
            <a:r>
              <a:rPr lang="en-US" dirty="0"/>
              <a:t>;</a:t>
            </a:r>
          </a:p>
          <a:p>
            <a:pPr marL="0">
              <a:lnSpc>
                <a:spcPct val="120000"/>
              </a:lnSpc>
              <a:spcBef>
                <a:spcPts val="0"/>
              </a:spcBef>
              <a:spcAft>
                <a:spcPts val="0"/>
              </a:spcAft>
            </a:pPr>
            <a:r>
              <a:rPr lang="en-US" dirty="0"/>
              <a:t>	return 0;</a:t>
            </a:r>
          </a:p>
          <a:p>
            <a:pPr marL="0">
              <a:lnSpc>
                <a:spcPct val="120000"/>
              </a:lnSpc>
              <a:spcBef>
                <a:spcPts val="0"/>
              </a:spcBef>
              <a:spcAft>
                <a:spcPts val="0"/>
              </a:spcAft>
            </a:pPr>
            <a:r>
              <a:rPr lang="en-US" dirty="0"/>
              <a:t>}</a:t>
            </a:r>
          </a:p>
          <a:p>
            <a:endParaRPr lang="en-US" dirty="0"/>
          </a:p>
        </p:txBody>
      </p:sp>
      <p:sp>
        <p:nvSpPr>
          <p:cNvPr id="4" name="Date Placeholder 3"/>
          <p:cNvSpPr>
            <a:spLocks noGrp="1"/>
          </p:cNvSpPr>
          <p:nvPr>
            <p:ph type="dt" sz="half" idx="10"/>
          </p:nvPr>
        </p:nvSpPr>
        <p:spPr/>
        <p:txBody>
          <a:bodyPr/>
          <a:lstStyle/>
          <a:p>
            <a:fld id="{9E6AE69B-86F9-4EA8-849E-7A05D29A9F4B}"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39</a:t>
            </a:fld>
            <a:endParaRPr lang="en-US"/>
          </a:p>
        </p:txBody>
      </p:sp>
    </p:spTree>
    <p:extLst>
      <p:ext uri="{BB962C8B-B14F-4D97-AF65-F5344CB8AC3E}">
        <p14:creationId xmlns:p14="http://schemas.microsoft.com/office/powerpoint/2010/main" val="30258277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Returning Pointers</a:t>
            </a:r>
            <a:endParaRPr lang="en-US" dirty="0"/>
          </a:p>
        </p:txBody>
      </p:sp>
      <p:sp>
        <p:nvSpPr>
          <p:cNvPr id="3" name="Content Placeholder 2"/>
          <p:cNvSpPr>
            <a:spLocks noGrp="1"/>
          </p:cNvSpPr>
          <p:nvPr>
            <p:ph idx="1"/>
          </p:nvPr>
        </p:nvSpPr>
        <p:spPr>
          <a:xfrm>
            <a:off x="1097280" y="1663170"/>
            <a:ext cx="6231568" cy="4979177"/>
          </a:xfrm>
        </p:spPr>
        <p:txBody>
          <a:bodyPr>
            <a:noAutofit/>
          </a:bodyPr>
          <a:lstStyle/>
          <a:p>
            <a:pPr>
              <a:lnSpc>
                <a:spcPct val="120000"/>
              </a:lnSpc>
              <a:spcBef>
                <a:spcPts val="0"/>
              </a:spcBef>
              <a:spcAft>
                <a:spcPts val="0"/>
              </a:spcAft>
            </a:pPr>
            <a:r>
              <a:rPr lang="en-US" sz="2400" dirty="0"/>
              <a:t>#include &lt;</a:t>
            </a:r>
            <a:r>
              <a:rPr lang="en-US" sz="2400" dirty="0" err="1"/>
              <a:t>iostream</a:t>
            </a:r>
            <a:r>
              <a:rPr lang="en-US" sz="2400" dirty="0"/>
              <a:t>&gt;</a:t>
            </a:r>
          </a:p>
          <a:p>
            <a:pPr>
              <a:lnSpc>
                <a:spcPct val="120000"/>
              </a:lnSpc>
              <a:spcBef>
                <a:spcPts val="0"/>
              </a:spcBef>
              <a:spcAft>
                <a:spcPts val="0"/>
              </a:spcAft>
            </a:pPr>
            <a:r>
              <a:rPr lang="en-US" sz="2400" dirty="0"/>
              <a:t>using namespace </a:t>
            </a:r>
            <a:r>
              <a:rPr lang="en-US" sz="2400" dirty="0" err="1"/>
              <a:t>std</a:t>
            </a:r>
            <a:r>
              <a:rPr lang="en-US" sz="2400" dirty="0"/>
              <a:t>;</a:t>
            </a:r>
          </a:p>
          <a:p>
            <a:pPr>
              <a:lnSpc>
                <a:spcPct val="120000"/>
              </a:lnSpc>
              <a:spcBef>
                <a:spcPts val="0"/>
              </a:spcBef>
              <a:spcAft>
                <a:spcPts val="0"/>
              </a:spcAft>
            </a:pPr>
            <a:r>
              <a:rPr lang="en-US" sz="2400" dirty="0" err="1"/>
              <a:t>int</a:t>
            </a:r>
            <a:r>
              <a:rPr lang="en-US" sz="2400" dirty="0"/>
              <a:t>* </a:t>
            </a:r>
            <a:r>
              <a:rPr lang="en-US" sz="2400" dirty="0" err="1"/>
              <a:t>biger</a:t>
            </a:r>
            <a:r>
              <a:rPr lang="en-US" sz="2400" dirty="0"/>
              <a:t>(</a:t>
            </a:r>
            <a:r>
              <a:rPr lang="en-US" sz="2400" dirty="0" err="1"/>
              <a:t>int</a:t>
            </a:r>
            <a:r>
              <a:rPr lang="en-US" sz="2400" dirty="0"/>
              <a:t>&amp;, </a:t>
            </a:r>
            <a:r>
              <a:rPr lang="en-US" sz="2400" dirty="0" err="1"/>
              <a:t>int</a:t>
            </a:r>
            <a:r>
              <a:rPr lang="en-US" sz="2400" dirty="0"/>
              <a:t>&amp;);</a:t>
            </a:r>
          </a:p>
          <a:p>
            <a:pPr>
              <a:lnSpc>
                <a:spcPct val="120000"/>
              </a:lnSpc>
              <a:spcBef>
                <a:spcPts val="0"/>
              </a:spcBef>
              <a:spcAft>
                <a:spcPts val="0"/>
              </a:spcAft>
            </a:pPr>
            <a:r>
              <a:rPr lang="en-US" sz="2400" dirty="0"/>
              <a:t>void main()</a:t>
            </a:r>
          </a:p>
          <a:p>
            <a:pPr>
              <a:lnSpc>
                <a:spcPct val="120000"/>
              </a:lnSpc>
              <a:spcBef>
                <a:spcPts val="0"/>
              </a:spcBef>
              <a:spcAft>
                <a:spcPts val="0"/>
              </a:spcAft>
            </a:pPr>
            <a:r>
              <a:rPr lang="en-US" sz="2400" dirty="0"/>
              <a:t>{</a:t>
            </a:r>
          </a:p>
          <a:p>
            <a:pPr>
              <a:lnSpc>
                <a:spcPct val="120000"/>
              </a:lnSpc>
              <a:spcBef>
                <a:spcPts val="0"/>
              </a:spcBef>
              <a:spcAft>
                <a:spcPts val="0"/>
              </a:spcAft>
            </a:pPr>
            <a:r>
              <a:rPr lang="en-US" sz="2400" dirty="0"/>
              <a:t>    </a:t>
            </a:r>
            <a:r>
              <a:rPr lang="en-US" sz="2400" dirty="0" err="1"/>
              <a:t>int</a:t>
            </a:r>
            <a:r>
              <a:rPr lang="en-US" sz="2400" dirty="0"/>
              <a:t> num1, num2, * c;</a:t>
            </a:r>
          </a:p>
          <a:p>
            <a:pPr>
              <a:lnSpc>
                <a:spcPct val="120000"/>
              </a:lnSpc>
              <a:spcBef>
                <a:spcPts val="0"/>
              </a:spcBef>
              <a:spcAft>
                <a:spcPts val="0"/>
              </a:spcAft>
            </a:pPr>
            <a:r>
              <a:rPr lang="en-US" sz="2400" dirty="0"/>
              <a:t>    </a:t>
            </a:r>
            <a:r>
              <a:rPr lang="en-US" sz="2400" dirty="0" err="1"/>
              <a:t>cout</a:t>
            </a:r>
            <a:r>
              <a:rPr lang="en-US" sz="2400" dirty="0"/>
              <a:t> &lt;&lt; "Enter two integers\n";</a:t>
            </a:r>
          </a:p>
          <a:p>
            <a:pPr>
              <a:lnSpc>
                <a:spcPct val="120000"/>
              </a:lnSpc>
              <a:spcBef>
                <a:spcPts val="0"/>
              </a:spcBef>
              <a:spcAft>
                <a:spcPts val="0"/>
              </a:spcAft>
            </a:pPr>
            <a:r>
              <a:rPr lang="en-US" sz="2400" dirty="0"/>
              <a:t>    </a:t>
            </a:r>
            <a:r>
              <a:rPr lang="en-US" sz="2400" dirty="0" err="1"/>
              <a:t>cin</a:t>
            </a:r>
            <a:r>
              <a:rPr lang="en-US" sz="2400" dirty="0"/>
              <a:t> &gt;&gt; num1 &gt;&gt; num2;</a:t>
            </a:r>
          </a:p>
          <a:p>
            <a:pPr>
              <a:lnSpc>
                <a:spcPct val="120000"/>
              </a:lnSpc>
              <a:spcBef>
                <a:spcPts val="0"/>
              </a:spcBef>
              <a:spcAft>
                <a:spcPts val="0"/>
              </a:spcAft>
            </a:pPr>
            <a:r>
              <a:rPr lang="en-US" sz="2400" dirty="0"/>
              <a:t>    c = </a:t>
            </a:r>
            <a:r>
              <a:rPr lang="en-US" sz="2400" dirty="0" smtClean="0"/>
              <a:t>bigger(num1</a:t>
            </a:r>
            <a:r>
              <a:rPr lang="en-US" sz="2400" dirty="0"/>
              <a:t>, num2);</a:t>
            </a:r>
          </a:p>
          <a:p>
            <a:pPr>
              <a:lnSpc>
                <a:spcPct val="120000"/>
              </a:lnSpc>
              <a:spcBef>
                <a:spcPts val="0"/>
              </a:spcBef>
              <a:spcAft>
                <a:spcPts val="0"/>
              </a:spcAft>
            </a:pPr>
            <a:r>
              <a:rPr lang="en-US" sz="2400" dirty="0"/>
              <a:t>    </a:t>
            </a:r>
            <a:r>
              <a:rPr lang="en-US" sz="2400" dirty="0" err="1"/>
              <a:t>cout</a:t>
            </a:r>
            <a:r>
              <a:rPr lang="en-US" sz="2400" dirty="0"/>
              <a:t> &lt;&lt; "The bigger value = " &lt;&lt; *c;</a:t>
            </a:r>
          </a:p>
          <a:p>
            <a:pPr>
              <a:lnSpc>
                <a:spcPct val="120000"/>
              </a:lnSpc>
              <a:spcBef>
                <a:spcPts val="0"/>
              </a:spcBef>
              <a:spcAft>
                <a:spcPts val="0"/>
              </a:spcAft>
            </a:pPr>
            <a:r>
              <a:rPr lang="en-US" sz="2400" dirty="0" smtClean="0"/>
              <a:t>}</a:t>
            </a:r>
            <a:endParaRPr lang="en-US" sz="2400" dirty="0"/>
          </a:p>
        </p:txBody>
      </p:sp>
      <p:sp>
        <p:nvSpPr>
          <p:cNvPr id="4" name="Date Placeholder 3"/>
          <p:cNvSpPr>
            <a:spLocks noGrp="1"/>
          </p:cNvSpPr>
          <p:nvPr>
            <p:ph type="dt" sz="half" idx="10"/>
          </p:nvPr>
        </p:nvSpPr>
        <p:spPr/>
        <p:txBody>
          <a:bodyPr/>
          <a:lstStyle/>
          <a:p>
            <a:fld id="{7054D6B5-A642-4FE3-9504-AF28E5825982}" type="datetime1">
              <a:rPr lang="en-US" smtClean="0"/>
              <a:t>9/15/2022</a:t>
            </a:fld>
            <a:endParaRPr lang="en-US"/>
          </a:p>
        </p:txBody>
      </p:sp>
      <p:sp>
        <p:nvSpPr>
          <p:cNvPr id="5" name="Footer Placeholder 4"/>
          <p:cNvSpPr>
            <a:spLocks noGrp="1"/>
          </p:cNvSpPr>
          <p:nvPr>
            <p:ph type="ftr" sz="quarter" idx="11"/>
          </p:nvPr>
        </p:nvSpPr>
        <p:spPr/>
        <p:txBody>
          <a:bodyPr/>
          <a:lstStyle/>
          <a:p>
            <a:r>
              <a:rPr lang="en-US" smtClean="0"/>
              <a:t>Designed by Ms Anosha Khan</a:t>
            </a:r>
            <a:endParaRPr lang="en-US"/>
          </a:p>
        </p:txBody>
      </p:sp>
      <p:sp>
        <p:nvSpPr>
          <p:cNvPr id="6" name="Slide Number Placeholder 5"/>
          <p:cNvSpPr>
            <a:spLocks noGrp="1"/>
          </p:cNvSpPr>
          <p:nvPr>
            <p:ph type="sldNum" sz="quarter" idx="12"/>
          </p:nvPr>
        </p:nvSpPr>
        <p:spPr/>
        <p:txBody>
          <a:bodyPr/>
          <a:lstStyle/>
          <a:p>
            <a:fld id="{21C66BDA-7DC2-4E71-B5DC-5DAF0934BE3E}" type="slidenum">
              <a:rPr lang="en-US" smtClean="0"/>
              <a:t>40</a:t>
            </a:fld>
            <a:endParaRPr lang="en-US"/>
          </a:p>
        </p:txBody>
      </p:sp>
      <p:sp>
        <p:nvSpPr>
          <p:cNvPr id="7" name="Rectangle 6"/>
          <p:cNvSpPr/>
          <p:nvPr/>
        </p:nvSpPr>
        <p:spPr>
          <a:xfrm>
            <a:off x="6673755" y="1663171"/>
            <a:ext cx="5548725" cy="5120518"/>
          </a:xfrm>
          <a:prstGeom prst="rect">
            <a:avLst/>
          </a:prstGeom>
        </p:spPr>
        <p:txBody>
          <a:bodyPr wrap="square">
            <a:spAutoFit/>
          </a:bodyPr>
          <a:lstStyle/>
          <a:p>
            <a:pPr>
              <a:lnSpc>
                <a:spcPct val="120000"/>
              </a:lnSpc>
              <a:spcBef>
                <a:spcPts val="0"/>
              </a:spcBef>
              <a:spcAft>
                <a:spcPts val="0"/>
              </a:spcAft>
            </a:pPr>
            <a:r>
              <a:rPr lang="en-US" sz="2400" dirty="0" err="1"/>
              <a:t>int</a:t>
            </a:r>
            <a:r>
              <a:rPr lang="en-US" sz="2400" dirty="0"/>
              <a:t>* </a:t>
            </a:r>
            <a:r>
              <a:rPr lang="en-US" sz="2400" dirty="0" err="1"/>
              <a:t>biger</a:t>
            </a:r>
            <a:r>
              <a:rPr lang="en-US" sz="2400" dirty="0"/>
              <a:t>(</a:t>
            </a:r>
            <a:r>
              <a:rPr lang="en-US" sz="2400" dirty="0" err="1"/>
              <a:t>int</a:t>
            </a:r>
            <a:r>
              <a:rPr lang="en-US" sz="2400" dirty="0"/>
              <a:t>&amp; x, </a:t>
            </a:r>
            <a:r>
              <a:rPr lang="en-US" sz="2400" dirty="0" err="1"/>
              <a:t>int</a:t>
            </a:r>
            <a:r>
              <a:rPr lang="en-US" sz="2400" dirty="0"/>
              <a:t>&amp; y)</a:t>
            </a:r>
          </a:p>
          <a:p>
            <a:pPr>
              <a:lnSpc>
                <a:spcPct val="120000"/>
              </a:lnSpc>
              <a:spcBef>
                <a:spcPts val="0"/>
              </a:spcBef>
              <a:spcAft>
                <a:spcPts val="0"/>
              </a:spcAft>
            </a:pPr>
            <a:r>
              <a:rPr lang="en-US" sz="2400" dirty="0"/>
              <a:t>{</a:t>
            </a:r>
          </a:p>
          <a:p>
            <a:pPr>
              <a:lnSpc>
                <a:spcPct val="120000"/>
              </a:lnSpc>
              <a:spcBef>
                <a:spcPts val="0"/>
              </a:spcBef>
              <a:spcAft>
                <a:spcPts val="0"/>
              </a:spcAft>
            </a:pPr>
            <a:r>
              <a:rPr lang="en-US" sz="2400" dirty="0"/>
              <a:t>    if (x &gt; y)</a:t>
            </a:r>
          </a:p>
          <a:p>
            <a:pPr>
              <a:lnSpc>
                <a:spcPct val="120000"/>
              </a:lnSpc>
              <a:spcBef>
                <a:spcPts val="0"/>
              </a:spcBef>
              <a:spcAft>
                <a:spcPts val="0"/>
              </a:spcAft>
            </a:pPr>
            <a:r>
              <a:rPr lang="en-US" sz="2400" dirty="0"/>
              <a:t>    {</a:t>
            </a:r>
          </a:p>
          <a:p>
            <a:pPr>
              <a:lnSpc>
                <a:spcPct val="120000"/>
              </a:lnSpc>
              <a:spcBef>
                <a:spcPts val="0"/>
              </a:spcBef>
              <a:spcAft>
                <a:spcPts val="0"/>
              </a:spcAft>
            </a:pPr>
            <a:r>
              <a:rPr lang="en-US" sz="2400" dirty="0"/>
              <a:t>        return(&amp;x);</a:t>
            </a:r>
          </a:p>
          <a:p>
            <a:pPr>
              <a:lnSpc>
                <a:spcPct val="120000"/>
              </a:lnSpc>
              <a:spcBef>
                <a:spcPts val="0"/>
              </a:spcBef>
              <a:spcAft>
                <a:spcPts val="0"/>
              </a:spcAft>
            </a:pPr>
            <a:r>
              <a:rPr lang="en-US" sz="2400" dirty="0"/>
              <a:t>    }</a:t>
            </a:r>
          </a:p>
          <a:p>
            <a:pPr>
              <a:lnSpc>
                <a:spcPct val="120000"/>
              </a:lnSpc>
              <a:spcBef>
                <a:spcPts val="0"/>
              </a:spcBef>
              <a:spcAft>
                <a:spcPts val="0"/>
              </a:spcAft>
            </a:pPr>
            <a:r>
              <a:rPr lang="en-US" sz="2400" dirty="0"/>
              <a:t>    else</a:t>
            </a:r>
          </a:p>
          <a:p>
            <a:pPr>
              <a:lnSpc>
                <a:spcPct val="120000"/>
              </a:lnSpc>
              <a:spcBef>
                <a:spcPts val="0"/>
              </a:spcBef>
              <a:spcAft>
                <a:spcPts val="0"/>
              </a:spcAft>
            </a:pPr>
            <a:r>
              <a:rPr lang="en-US" sz="2400" dirty="0"/>
              <a:t>    {</a:t>
            </a:r>
          </a:p>
          <a:p>
            <a:pPr>
              <a:lnSpc>
                <a:spcPct val="120000"/>
              </a:lnSpc>
              <a:spcBef>
                <a:spcPts val="0"/>
              </a:spcBef>
              <a:spcAft>
                <a:spcPts val="0"/>
              </a:spcAft>
            </a:pPr>
            <a:r>
              <a:rPr lang="en-US" sz="2400" dirty="0"/>
              <a:t>        return(&amp;y);</a:t>
            </a:r>
          </a:p>
          <a:p>
            <a:pPr>
              <a:lnSpc>
                <a:spcPct val="120000"/>
              </a:lnSpc>
              <a:spcBef>
                <a:spcPts val="0"/>
              </a:spcBef>
              <a:spcAft>
                <a:spcPts val="0"/>
              </a:spcAft>
            </a:pPr>
            <a:r>
              <a:rPr lang="en-US" sz="2400" dirty="0"/>
              <a:t>    }</a:t>
            </a:r>
          </a:p>
          <a:p>
            <a:pPr>
              <a:lnSpc>
                <a:spcPct val="120000"/>
              </a:lnSpc>
              <a:spcBef>
                <a:spcPts val="0"/>
              </a:spcBef>
              <a:spcAft>
                <a:spcPts val="0"/>
              </a:spcAft>
            </a:pPr>
            <a:r>
              <a:rPr lang="en-US" sz="2400" dirty="0"/>
              <a:t>}</a:t>
            </a:r>
          </a:p>
        </p:txBody>
      </p:sp>
    </p:spTree>
    <p:extLst>
      <p:ext uri="{BB962C8B-B14F-4D97-AF65-F5344CB8AC3E}">
        <p14:creationId xmlns:p14="http://schemas.microsoft.com/office/powerpoint/2010/main" val="243357956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408</TotalTime>
  <Words>2582</Words>
  <Application>Microsoft Office PowerPoint</Application>
  <PresentationFormat>Widescreen</PresentationFormat>
  <Paragraphs>516</Paragraphs>
  <Slides>40</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Arial</vt:lpstr>
      <vt:lpstr>Calibri</vt:lpstr>
      <vt:lpstr>Calibri Light</vt:lpstr>
      <vt:lpstr>Consolas</vt:lpstr>
      <vt:lpstr>Constantia</vt:lpstr>
      <vt:lpstr>Courier New</vt:lpstr>
      <vt:lpstr>Prestige Elite</vt:lpstr>
      <vt:lpstr>Tahoma</vt:lpstr>
      <vt:lpstr>Times New Roman</vt:lpstr>
      <vt:lpstr>Wingdings 2</vt:lpstr>
      <vt:lpstr>Retrospect</vt:lpstr>
      <vt:lpstr>Pointers</vt:lpstr>
      <vt:lpstr>Introduction to Pointers</vt:lpstr>
      <vt:lpstr>Pointers </vt:lpstr>
      <vt:lpstr>Declaring Pointer Variables</vt:lpstr>
      <vt:lpstr>Pointer Variable Declarations and Initialization</vt:lpstr>
      <vt:lpstr>Assignment of Pointer Variables</vt:lpstr>
      <vt:lpstr>Assignment of Pointer Variables (Cont ..)</vt:lpstr>
      <vt:lpstr>Assignment of Pointer Variables (Cont ..)</vt:lpstr>
      <vt:lpstr>Assignment of Pointer Variables (Cont ..)</vt:lpstr>
      <vt:lpstr>Assignment of Pointer Variables (Cont ..)</vt:lpstr>
      <vt:lpstr>Pointer Operators </vt:lpstr>
      <vt:lpstr>Dereferencing Operator (*)</vt:lpstr>
      <vt:lpstr>Pointer Examples</vt:lpstr>
      <vt:lpstr>Pointer Examples</vt:lpstr>
      <vt:lpstr>const and Pointers</vt:lpstr>
      <vt:lpstr>const and Pointers</vt:lpstr>
      <vt:lpstr>Relationship Between Arrays and Pointers</vt:lpstr>
      <vt:lpstr>Program</vt:lpstr>
      <vt:lpstr>Figure</vt:lpstr>
      <vt:lpstr>Program</vt:lpstr>
      <vt:lpstr>Dynamic Variable</vt:lpstr>
      <vt:lpstr>Operator new</vt:lpstr>
      <vt:lpstr>PowerPoint Presentation</vt:lpstr>
      <vt:lpstr>Operator delete </vt:lpstr>
      <vt:lpstr>PowerPoint Presentation</vt:lpstr>
      <vt:lpstr>Memory leak</vt:lpstr>
      <vt:lpstr>How to avoid memory leak</vt:lpstr>
      <vt:lpstr>PowerPoint Presentation</vt:lpstr>
      <vt:lpstr>Operations on Pointer Variables</vt:lpstr>
      <vt:lpstr>Operations on Pointer Variables</vt:lpstr>
      <vt:lpstr>Arithmetic operations on Pointers</vt:lpstr>
      <vt:lpstr>Arithmetic operations on Pointers</vt:lpstr>
      <vt:lpstr>Dynamic Arrays</vt:lpstr>
      <vt:lpstr>Dynamic Arrays (Continue)</vt:lpstr>
      <vt:lpstr>PowerPoint Presentation</vt:lpstr>
      <vt:lpstr>Array to Function as parameters</vt:lpstr>
      <vt:lpstr>Swapping Using pointers</vt:lpstr>
      <vt:lpstr>Functions Returning Pointers</vt:lpstr>
      <vt:lpstr>PowerPoint Presentation</vt:lpstr>
      <vt:lpstr>Functions Returning Pointers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Pointers</dc:title>
  <dc:creator>iuser</dc:creator>
  <cp:lastModifiedBy>iuser</cp:lastModifiedBy>
  <cp:revision>67</cp:revision>
  <dcterms:created xsi:type="dcterms:W3CDTF">2022-08-22T13:15:33Z</dcterms:created>
  <dcterms:modified xsi:type="dcterms:W3CDTF">2022-09-15T11:03:52Z</dcterms:modified>
</cp:coreProperties>
</file>