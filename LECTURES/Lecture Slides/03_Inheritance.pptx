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690" r:id="rId2"/>
    <p:sldId id="704" r:id="rId3"/>
    <p:sldId id="785" r:id="rId4"/>
    <p:sldId id="786" r:id="rId5"/>
    <p:sldId id="787" r:id="rId6"/>
    <p:sldId id="788" r:id="rId7"/>
    <p:sldId id="789" r:id="rId8"/>
    <p:sldId id="790" r:id="rId9"/>
    <p:sldId id="791" r:id="rId10"/>
    <p:sldId id="792" r:id="rId11"/>
    <p:sldId id="793" r:id="rId12"/>
    <p:sldId id="794" r:id="rId13"/>
    <p:sldId id="795" r:id="rId14"/>
    <p:sldId id="796" r:id="rId15"/>
    <p:sldId id="797" r:id="rId16"/>
    <p:sldId id="705" r:id="rId17"/>
    <p:sldId id="706" r:id="rId18"/>
    <p:sldId id="798" r:id="rId19"/>
    <p:sldId id="799" r:id="rId20"/>
    <p:sldId id="800" r:id="rId21"/>
    <p:sldId id="813" r:id="rId22"/>
    <p:sldId id="814" r:id="rId23"/>
    <p:sldId id="802" r:id="rId24"/>
    <p:sldId id="803" r:id="rId25"/>
    <p:sldId id="804" r:id="rId26"/>
    <p:sldId id="805" r:id="rId27"/>
    <p:sldId id="806" r:id="rId28"/>
    <p:sldId id="807" r:id="rId29"/>
    <p:sldId id="808" r:id="rId30"/>
    <p:sldId id="809" r:id="rId31"/>
    <p:sldId id="810" r:id="rId32"/>
    <p:sldId id="811" r:id="rId33"/>
    <p:sldId id="812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52" autoAdjust="0"/>
    <p:restoredTop sz="93220" autoAdjust="0"/>
  </p:normalViewPr>
  <p:slideViewPr>
    <p:cSldViewPr>
      <p:cViewPr varScale="1">
        <p:scale>
          <a:sx n="80" d="100"/>
          <a:sy n="80" d="100"/>
        </p:scale>
        <p:origin x="-996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96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7CC95-1805-4589-B3C5-62CD2CD2AA07}" type="datetimeFigureOut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BB922-0DC4-4F8B-823D-B8E7EC5749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74583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5D383-069B-4B22-A07C-9FB716C4AC8D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51CC2-3E26-487F-A05C-46E039DF3A20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B43EF-2CEC-4669-A42D-20DD755D97BC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FF5D-17A2-4FF4-ACF5-CD2B2A9A5469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7B1DB-8DDD-4A58-B060-AAD98A925886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7AD91-8025-4B16-B9BF-57B3EAED7ADD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C53C-7406-4922-AB6B-B2CEF93D22DB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6814F-85E0-499C-82DA-2E04F8611575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CA42A-76D5-4595-AE3B-053BE4DA4F3B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39D9E-DF95-4B84-AE06-606BAC19448F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10FEF-3A9F-46D3-99F3-CD37DB098CCF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914400" y="277813"/>
            <a:ext cx="7772400" cy="58531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5B801-4F87-4FB3-BB9B-6F5F34DE5C7F}" type="datetime1">
              <a:rPr lang="en-US" smtClean="0"/>
              <a:pPr>
                <a:defRPr/>
              </a:pPr>
              <a:t>4/8/2020</a:t>
            </a:fld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F9815C-596A-3940-BAAA-CC287DEE70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125046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3810000" cy="4302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76800" y="1828800"/>
            <a:ext cx="3810000" cy="20748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76800" y="4056063"/>
            <a:ext cx="3810000" cy="20748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D131B-758C-4F68-A0C3-62CDBF61DF5D}" type="datetime1">
              <a:rPr lang="en-US" smtClean="0"/>
              <a:pPr>
                <a:defRPr/>
              </a:pPr>
              <a:t>4/8/2020</a:t>
            </a:fld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2FD0B-94B2-0D45-817C-A471C210FC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78720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C77C62F4-9916-4B50-BCB4-4FD5D9F78919}" type="datetime1">
              <a:rPr lang="en-US" smtClean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DF4E671-2CE7-4BC4-9D6E-ED7B9AC9541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 smtClean="0">
                <a:solidFill>
                  <a:schemeClr val="accent4">
                    <a:lumMod val="50000"/>
                  </a:schemeClr>
                </a:solidFill>
              </a:rPr>
              <a:t>Object Oriented Programming</a:t>
            </a:r>
            <a:endParaRPr lang="en-US" sz="36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Inheritance</a:t>
            </a:r>
          </a:p>
          <a:p>
            <a:r>
              <a:rPr lang="en-US" sz="2000" b="1" dirty="0" smtClean="0"/>
              <a:t>(continued)</a:t>
            </a:r>
            <a:endParaRPr lang="en-US" sz="20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1916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Inheritance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45734"/>
            <a:ext cx="3596641" cy="402336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Take a look at the table here </a:t>
            </a:r>
            <a:r>
              <a:rPr lang="en-US" dirty="0" smtClean="0"/>
              <a:t>→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It gathers all of the possible combinations of the component declaration and inheritance model, presenting the resulting access to the components when the subclass is completely defined</a:t>
            </a:r>
            <a:r>
              <a:rPr lang="en-US" dirty="0" smtClean="0"/>
              <a:t>.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It reads in the following way (take a look at the first row): if a component is declared as public and its class is inherited as public, the resulting access is public.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Familiarize yourself with the table – it’s a basic tool to resolve all the issues regarding the inheritance of the class components.</a:t>
            </a:r>
          </a:p>
        </p:txBody>
      </p:sp>
      <p:pic>
        <p:nvPicPr>
          <p:cNvPr id="5" name="Picture 4" descr="Screen Shot 2018-09-14 at 8.42.5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26524" y="1828800"/>
            <a:ext cx="5017476" cy="36576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105400" y="762000"/>
            <a:ext cx="315503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Accessibility:</a:t>
            </a:r>
          </a:p>
          <a:p>
            <a:r>
              <a:rPr lang="en-US" dirty="0" smtClean="0"/>
              <a:t>Private </a:t>
            </a:r>
            <a:r>
              <a:rPr lang="en-US" sz="2400" dirty="0" smtClean="0"/>
              <a:t>&lt;</a:t>
            </a:r>
            <a:r>
              <a:rPr lang="en-US" dirty="0" smtClean="0"/>
              <a:t> Protected </a:t>
            </a:r>
            <a:r>
              <a:rPr lang="en-US" sz="2400" dirty="0" smtClean="0"/>
              <a:t>&lt; </a:t>
            </a:r>
            <a:r>
              <a:rPr lang="en-US" dirty="0" smtClean="0"/>
              <a:t>Public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8943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741363" y="417984"/>
            <a:ext cx="7793037" cy="10668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Redefining (Overriding) Member Functions of the Base Class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267200"/>
          </a:xfrm>
        </p:spPr>
        <p:txBody>
          <a:bodyPr/>
          <a:lstStyle/>
          <a:p>
            <a:pPr marL="533400" indent="-533400">
              <a:spcBef>
                <a:spcPct val="100000"/>
              </a:spcBef>
            </a:pPr>
            <a:r>
              <a:rPr lang="en-US" altLang="en-US"/>
              <a:t>To redefine (override) a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 function of a base class</a:t>
            </a:r>
          </a:p>
          <a:p>
            <a:pPr marL="914400" lvl="1" indent="-457200">
              <a:spcBef>
                <a:spcPct val="100000"/>
              </a:spcBef>
            </a:pPr>
            <a:r>
              <a:rPr lang="en-US" altLang="en-US"/>
              <a:t>Corresponding function in the derived class must have the same name, number, and types of parameters. </a:t>
            </a:r>
            <a:r>
              <a:rPr lang="en-US" altLang="en-US" u="sng"/>
              <a:t>Redefined </a:t>
            </a:r>
          </a:p>
          <a:p>
            <a:pPr marL="914400" lvl="1" indent="-457200">
              <a:spcBef>
                <a:spcPct val="100000"/>
              </a:spcBef>
            </a:pPr>
            <a:r>
              <a:rPr lang="en-US" altLang="en-US"/>
              <a:t>If the function has a different signature, this would be </a:t>
            </a:r>
            <a:r>
              <a:rPr lang="en-US" altLang="en-US" u="sng"/>
              <a:t>function overloading</a:t>
            </a:r>
            <a:r>
              <a:rPr lang="en-US" alt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54411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04664"/>
            <a:ext cx="8686800" cy="1066800"/>
          </a:xfrm>
        </p:spPr>
        <p:txBody>
          <a:bodyPr>
            <a:normAutofit fontScale="90000"/>
          </a:bodyPr>
          <a:lstStyle/>
          <a:p>
            <a:r>
              <a:rPr lang="en-US" altLang="en-US" sz="4100"/>
              <a:t>Redefining (Overriding) Member Functions of the Base Class (continued)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305800" cy="4378325"/>
          </a:xfrm>
        </p:spPr>
        <p:txBody>
          <a:bodyPr/>
          <a:lstStyle/>
          <a:p>
            <a:pPr marL="0" indent="0">
              <a:spcBef>
                <a:spcPct val="60000"/>
              </a:spcBef>
              <a:buNone/>
            </a:pPr>
            <a:r>
              <a:rPr lang="en-US" altLang="en-US" dirty="0"/>
              <a:t>If derived class overrides a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 member function of the base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class</a:t>
            </a:r>
            <a:r>
              <a:rPr lang="en-US" altLang="en-US" dirty="0"/>
              <a:t>, then to call the base class function, specify:</a:t>
            </a:r>
          </a:p>
          <a:p>
            <a:pPr marL="800100" lvl="1" indent="-342900">
              <a:spcBef>
                <a:spcPct val="60000"/>
              </a:spcBef>
            </a:pPr>
            <a:r>
              <a:rPr lang="en-US" altLang="en-US" dirty="0"/>
              <a:t>Name of the base class</a:t>
            </a:r>
          </a:p>
          <a:p>
            <a:pPr marL="800100" lvl="1" indent="-342900">
              <a:spcBef>
                <a:spcPct val="60000"/>
              </a:spcBef>
            </a:pPr>
            <a:r>
              <a:rPr lang="en-US" altLang="en-US" dirty="0"/>
              <a:t>Scope resolution operator (</a:t>
            </a:r>
            <a:r>
              <a:rPr lang="en-US" altLang="en-US" dirty="0">
                <a:latin typeface="Courier New" charset="0"/>
              </a:rPr>
              <a:t>::</a:t>
            </a:r>
            <a:r>
              <a:rPr lang="en-US" altLang="en-US" dirty="0"/>
              <a:t>)</a:t>
            </a:r>
          </a:p>
          <a:p>
            <a:pPr marL="800100" lvl="1" indent="-342900">
              <a:spcBef>
                <a:spcPct val="60000"/>
              </a:spcBef>
            </a:pPr>
            <a:r>
              <a:rPr lang="en-US" altLang="en-US" dirty="0"/>
              <a:t>Function name with the appropriate parameter list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895729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2770" name="Picture 5" descr="untitl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533400" y="0"/>
            <a:ext cx="6727825" cy="6781800"/>
          </a:xfrm>
        </p:spPr>
      </p:pic>
      <p:pic>
        <p:nvPicPr>
          <p:cNvPr id="107526" name="Picture 6" descr="untitled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3733800" y="4953000"/>
            <a:ext cx="3352800" cy="1522413"/>
          </a:xfrm>
        </p:spPr>
      </p:pic>
      <p:sp>
        <p:nvSpPr>
          <p:cNvPr id="107529" name="Rectangle 9"/>
          <p:cNvSpPr>
            <a:spLocks noChangeArrowheads="1"/>
          </p:cNvSpPr>
          <p:nvPr/>
        </p:nvSpPr>
        <p:spPr bwMode="auto">
          <a:xfrm>
            <a:off x="6858000" y="76200"/>
            <a:ext cx="2209800" cy="3810000"/>
          </a:xfrm>
          <a:prstGeom prst="rect">
            <a:avLst/>
          </a:prstGeom>
          <a:solidFill>
            <a:srgbClr val="FFCC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0" name="Rectangle 10"/>
          <p:cNvSpPr>
            <a:spLocks noChangeArrowheads="1"/>
          </p:cNvSpPr>
          <p:nvPr/>
        </p:nvSpPr>
        <p:spPr bwMode="auto">
          <a:xfrm>
            <a:off x="7086600" y="152400"/>
            <a:ext cx="990600" cy="3048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1" name="Rectangle 11"/>
          <p:cNvSpPr>
            <a:spLocks noChangeArrowheads="1"/>
          </p:cNvSpPr>
          <p:nvPr/>
        </p:nvSpPr>
        <p:spPr bwMode="auto">
          <a:xfrm>
            <a:off x="7086600" y="6096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2" name="Oval 12"/>
          <p:cNvSpPr>
            <a:spLocks noChangeArrowheads="1"/>
          </p:cNvSpPr>
          <p:nvPr/>
        </p:nvSpPr>
        <p:spPr bwMode="auto">
          <a:xfrm>
            <a:off x="6934200" y="2576513"/>
            <a:ext cx="1905000" cy="1233487"/>
          </a:xfrm>
          <a:prstGeom prst="ellipse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3" name="Text Box 13"/>
          <p:cNvSpPr txBox="1">
            <a:spLocks noChangeArrowheads="1"/>
          </p:cNvSpPr>
          <p:nvPr/>
        </p:nvSpPr>
        <p:spPr bwMode="auto">
          <a:xfrm>
            <a:off x="8229600" y="1524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var1</a:t>
            </a:r>
          </a:p>
        </p:txBody>
      </p:sp>
      <p:sp>
        <p:nvSpPr>
          <p:cNvPr id="107534" name="Text Box 14"/>
          <p:cNvSpPr txBox="1">
            <a:spLocks noChangeArrowheads="1"/>
          </p:cNvSpPr>
          <p:nvPr/>
        </p:nvSpPr>
        <p:spPr bwMode="auto">
          <a:xfrm>
            <a:off x="7467600" y="2514600"/>
            <a:ext cx="914400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print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setB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A::print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1400" b="1"/>
              <a:t>setA</a:t>
            </a:r>
          </a:p>
        </p:txBody>
      </p:sp>
      <p:sp>
        <p:nvSpPr>
          <p:cNvPr id="107535" name="Rectangle 15"/>
          <p:cNvSpPr>
            <a:spLocks noChangeArrowheads="1"/>
          </p:cNvSpPr>
          <p:nvPr/>
        </p:nvSpPr>
        <p:spPr bwMode="auto">
          <a:xfrm>
            <a:off x="7086600" y="1066800"/>
            <a:ext cx="990600" cy="3048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6" name="Text Box 16"/>
          <p:cNvSpPr txBox="1">
            <a:spLocks noChangeArrowheads="1"/>
          </p:cNvSpPr>
          <p:nvPr/>
        </p:nvSpPr>
        <p:spPr bwMode="auto">
          <a:xfrm>
            <a:off x="8229600" y="6096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var2</a:t>
            </a:r>
          </a:p>
        </p:txBody>
      </p:sp>
      <p:sp>
        <p:nvSpPr>
          <p:cNvPr id="107537" name="Text Box 17"/>
          <p:cNvSpPr txBox="1">
            <a:spLocks noChangeArrowheads="1"/>
          </p:cNvSpPr>
          <p:nvPr/>
        </p:nvSpPr>
        <p:spPr bwMode="auto">
          <a:xfrm>
            <a:off x="8229600" y="10668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z</a:t>
            </a:r>
          </a:p>
        </p:txBody>
      </p:sp>
      <p:sp>
        <p:nvSpPr>
          <p:cNvPr id="107538" name="Rectangle 18"/>
          <p:cNvSpPr>
            <a:spLocks noChangeArrowheads="1"/>
          </p:cNvSpPr>
          <p:nvPr/>
        </p:nvSpPr>
        <p:spPr bwMode="auto">
          <a:xfrm>
            <a:off x="7086600" y="1524000"/>
            <a:ext cx="1752600" cy="9144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39" name="Rectangle 19"/>
          <p:cNvSpPr>
            <a:spLocks noChangeArrowheads="1"/>
          </p:cNvSpPr>
          <p:nvPr/>
        </p:nvSpPr>
        <p:spPr bwMode="auto">
          <a:xfrm>
            <a:off x="7162800" y="1600200"/>
            <a:ext cx="9906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40" name="Rectangle 20"/>
          <p:cNvSpPr>
            <a:spLocks noChangeArrowheads="1"/>
          </p:cNvSpPr>
          <p:nvPr/>
        </p:nvSpPr>
        <p:spPr bwMode="auto">
          <a:xfrm>
            <a:off x="7162800" y="2057400"/>
            <a:ext cx="9906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8305800" y="1600200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x</a:t>
            </a:r>
          </a:p>
        </p:txBody>
      </p:sp>
      <p:sp>
        <p:nvSpPr>
          <p:cNvPr id="107542" name="Text Box 22"/>
          <p:cNvSpPr txBox="1">
            <a:spLocks noChangeArrowheads="1"/>
          </p:cNvSpPr>
          <p:nvPr/>
        </p:nvSpPr>
        <p:spPr bwMode="auto">
          <a:xfrm>
            <a:off x="8305800" y="2057400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1400" b="1"/>
              <a:t>y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684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1F0CD9C-82FF-0B48-9207-7C68FC628CF4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Constructors of Derived and Base Classes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Derived class constructor cannot directly access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the base class</a:t>
            </a:r>
          </a:p>
          <a:p>
            <a:pPr eaLnBrk="1" hangingPunct="1"/>
            <a:r>
              <a:rPr lang="en-US" altLang="en-US"/>
              <a:t>Derived class can directly initialize only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 variables of the base class</a:t>
            </a:r>
          </a:p>
          <a:p>
            <a:pPr eaLnBrk="1" hangingPunct="1"/>
            <a:r>
              <a:rPr lang="en-US" altLang="en-US"/>
              <a:t>When a derived object is declared</a:t>
            </a:r>
          </a:p>
          <a:p>
            <a:pPr lvl="1" eaLnBrk="1" hangingPunct="1"/>
            <a:r>
              <a:rPr lang="en-US" altLang="en-US"/>
              <a:t>It must execute one of the base class constructors</a:t>
            </a:r>
          </a:p>
          <a:p>
            <a:pPr eaLnBrk="1" hangingPunct="1"/>
            <a:r>
              <a:rPr lang="en-US" altLang="en-US"/>
              <a:t>Call to base class constructor is specified in heading of derived class constructor definition</a:t>
            </a:r>
          </a:p>
        </p:txBody>
      </p:sp>
    </p:spTree>
    <p:extLst>
      <p:ext uri="{BB962C8B-B14F-4D97-AF65-F5344CB8AC3E}">
        <p14:creationId xmlns:p14="http://schemas.microsoft.com/office/powerpoint/2010/main" xmlns="" val="123063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101379" name="Picture 3" descr="untitled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762000" y="1143000"/>
            <a:ext cx="6248400" cy="5751513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085490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pic>
        <p:nvPicPr>
          <p:cNvPr id="102403" name="Picture 3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143000" y="1219200"/>
            <a:ext cx="6781800" cy="5307013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5562600" y="5029200"/>
            <a:ext cx="533400" cy="228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7768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 txBox="1">
            <a:spLocks noGrp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03B19425-22D0-6448-97E8-82B5DA5E6F2A}" type="slidenum">
              <a:rPr lang="x-none" altLang="en-US" sz="1400">
                <a:ea typeface="Osaka" charset="-128"/>
                <a:cs typeface="Arial" charset="0"/>
              </a:rPr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400">
              <a:ea typeface="Osaka" charset="-128"/>
              <a:cs typeface="Arial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b"/>
          <a:lstStyle/>
          <a:p>
            <a:r>
              <a:rPr lang="en-US" altLang="en-US"/>
              <a:t>Example</a:t>
            </a:r>
          </a:p>
        </p:txBody>
      </p:sp>
      <p:pic>
        <p:nvPicPr>
          <p:cNvPr id="36868" name="Picture 8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000125" y="1828800"/>
            <a:ext cx="7539038" cy="3956050"/>
          </a:xfr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25401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ChangeArrowheads="1"/>
          </p:cNvSpPr>
          <p:nvPr/>
        </p:nvSpPr>
        <p:spPr bwMode="auto">
          <a:xfrm>
            <a:off x="5715000" y="1752600"/>
            <a:ext cx="1752600" cy="2743200"/>
          </a:xfrm>
          <a:prstGeom prst="rect">
            <a:avLst/>
          </a:prstGeom>
          <a:solidFill>
            <a:srgbClr val="FF99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4452" name="Rectangle 4"/>
          <p:cNvSpPr>
            <a:spLocks noChangeArrowheads="1"/>
          </p:cNvSpPr>
          <p:nvPr/>
        </p:nvSpPr>
        <p:spPr bwMode="auto">
          <a:xfrm>
            <a:off x="5867400" y="2667000"/>
            <a:ext cx="1447800" cy="16002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4453" name="Text Box 5"/>
          <p:cNvSpPr txBox="1">
            <a:spLocks noChangeArrowheads="1"/>
          </p:cNvSpPr>
          <p:nvPr/>
        </p:nvSpPr>
        <p:spPr bwMode="auto">
          <a:xfrm>
            <a:off x="6096000" y="2971800"/>
            <a:ext cx="838200" cy="366713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3</a:t>
            </a:r>
          </a:p>
        </p:txBody>
      </p:sp>
      <p:sp>
        <p:nvSpPr>
          <p:cNvPr id="104454" name="Text Box 6"/>
          <p:cNvSpPr txBox="1">
            <a:spLocks noChangeArrowheads="1"/>
          </p:cNvSpPr>
          <p:nvPr/>
        </p:nvSpPr>
        <p:spPr bwMode="auto">
          <a:xfrm>
            <a:off x="6553200" y="14478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objB</a:t>
            </a:r>
          </a:p>
        </p:txBody>
      </p:sp>
      <p:sp>
        <p:nvSpPr>
          <p:cNvPr id="104455" name="Text Box 7"/>
          <p:cNvSpPr txBox="1">
            <a:spLocks noChangeArrowheads="1"/>
          </p:cNvSpPr>
          <p:nvPr/>
        </p:nvSpPr>
        <p:spPr bwMode="auto">
          <a:xfrm>
            <a:off x="6705600" y="2057400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A</a:t>
            </a:r>
          </a:p>
        </p:txBody>
      </p:sp>
      <p:sp>
        <p:nvSpPr>
          <p:cNvPr id="104456" name="Text Box 8"/>
          <p:cNvSpPr txBox="1">
            <a:spLocks noChangeArrowheads="1"/>
          </p:cNvSpPr>
          <p:nvPr/>
        </p:nvSpPr>
        <p:spPr bwMode="auto">
          <a:xfrm>
            <a:off x="6096000" y="3671888"/>
            <a:ext cx="838200" cy="366712"/>
          </a:xfrm>
          <a:prstGeom prst="rect">
            <a:avLst/>
          </a:prstGeom>
          <a:solidFill>
            <a:srgbClr val="33CC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4</a:t>
            </a:r>
          </a:p>
        </p:txBody>
      </p:sp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6858000" y="29718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x</a:t>
            </a:r>
          </a:p>
        </p:txBody>
      </p:sp>
      <p:sp>
        <p:nvSpPr>
          <p:cNvPr id="104458" name="Text Box 10"/>
          <p:cNvSpPr txBox="1">
            <a:spLocks noChangeArrowheads="1"/>
          </p:cNvSpPr>
          <p:nvPr/>
        </p:nvSpPr>
        <p:spPr bwMode="auto">
          <a:xfrm>
            <a:off x="6858000" y="36576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>
                <a:ea typeface="Osaka" charset="-128"/>
                <a:cs typeface="Arial" charset="0"/>
              </a:rPr>
              <a:t>y</a:t>
            </a:r>
          </a:p>
        </p:txBody>
      </p:sp>
      <p:pic>
        <p:nvPicPr>
          <p:cNvPr id="104459" name="Picture 11" descr="untitled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533400" y="1524000"/>
            <a:ext cx="5029200" cy="4352925"/>
          </a:xfrm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37898" name="TextBox 1"/>
          <p:cNvSpPr txBox="1">
            <a:spLocks noChangeArrowheads="1"/>
          </p:cNvSpPr>
          <p:nvPr/>
        </p:nvSpPr>
        <p:spPr bwMode="auto">
          <a:xfrm>
            <a:off x="1066800" y="609600"/>
            <a:ext cx="708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/>
              <a:t>Initialization List and Inheritance </a:t>
            </a:r>
          </a:p>
        </p:txBody>
      </p:sp>
      <p:sp>
        <p:nvSpPr>
          <p:cNvPr id="37899" name="TextBox 2"/>
          <p:cNvSpPr txBox="1">
            <a:spLocks noChangeArrowheads="1"/>
          </p:cNvSpPr>
          <p:nvPr/>
        </p:nvSpPr>
        <p:spPr bwMode="auto">
          <a:xfrm>
            <a:off x="6019800" y="4648200"/>
            <a:ext cx="24384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/>
              <a:t>Initialization list goes with constructor of derived class and uses class name to pass parameters to base class constructor.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F9815C-596A-3940-BAAA-CC287DEE7085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8511014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AB31000-BB09-8D46-ACA1-62A816EAEB2C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Protected Members of a Class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8800"/>
            <a:ext cx="8305800" cy="4302125"/>
          </a:xfrm>
        </p:spPr>
        <p:txBody>
          <a:bodyPr/>
          <a:lstStyle/>
          <a:p>
            <a:pPr eaLnBrk="1" hangingPunct="1"/>
            <a:r>
              <a:rPr lang="en-US" altLang="en-US"/>
              <a:t>Private members of a class cannot be directly accessed outside the class</a:t>
            </a:r>
          </a:p>
          <a:p>
            <a:pPr eaLnBrk="1" hangingPunct="1"/>
            <a:r>
              <a:rPr lang="en-US" altLang="en-US"/>
              <a:t>For a base class to give derived class access to a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</a:t>
            </a:r>
          </a:p>
          <a:p>
            <a:pPr lvl="1" eaLnBrk="1" hangingPunct="1"/>
            <a:r>
              <a:rPr lang="en-US" altLang="en-US"/>
              <a:t>Declare that member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</a:p>
          <a:p>
            <a:pPr eaLnBrk="1" hangingPunct="1"/>
            <a:r>
              <a:rPr lang="en-US" altLang="en-US"/>
              <a:t>The accessibility of a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 of a class is in between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and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</a:p>
          <a:p>
            <a:pPr lvl="1" eaLnBrk="1" hangingPunct="1"/>
            <a:r>
              <a:rPr lang="en-US" altLang="en-US"/>
              <a:t>A derived class can directly access the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 of the base class</a:t>
            </a:r>
          </a:p>
        </p:txBody>
      </p:sp>
    </p:spTree>
    <p:extLst>
      <p:ext uri="{BB962C8B-B14F-4D97-AF65-F5344CB8AC3E}">
        <p14:creationId xmlns:p14="http://schemas.microsoft.com/office/powerpoint/2010/main" xmlns="" val="72757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398AE1-FBDD-C94A-804D-598171C75AC3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Inheritance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,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,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</a:p>
        </p:txBody>
      </p:sp>
      <p:pic>
        <p:nvPicPr>
          <p:cNvPr id="3994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61877"/>
          <a:stretch>
            <a:fillRect/>
          </a:stretch>
        </p:blipFill>
        <p:spPr bwMode="auto">
          <a:xfrm>
            <a:off x="1295400" y="1676400"/>
            <a:ext cx="495458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If </a:t>
            </a:r>
            <a:r>
              <a:rPr lang="en-US" altLang="en-US" dirty="0" err="1">
                <a:latin typeface="Courier New" charset="0"/>
              </a:rPr>
              <a:t>memberAccessSpecifier</a:t>
            </a:r>
            <a:r>
              <a:rPr lang="en-US" altLang="en-US" dirty="0"/>
              <a:t> is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 members of </a:t>
            </a:r>
            <a:r>
              <a:rPr lang="en-US" altLang="en-US" dirty="0">
                <a:latin typeface="Courier New" charset="0"/>
              </a:rPr>
              <a:t>A</a:t>
            </a:r>
            <a:r>
              <a:rPr lang="en-US" altLang="en-US" dirty="0"/>
              <a:t> are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 members of </a:t>
            </a:r>
            <a:r>
              <a:rPr lang="en-US" altLang="en-US" dirty="0">
                <a:latin typeface="Courier New" charset="0"/>
              </a:rPr>
              <a:t>B</a:t>
            </a:r>
            <a:r>
              <a:rPr lang="en-US" altLang="en-US" dirty="0"/>
              <a:t> and can be directly accessed in class </a:t>
            </a:r>
            <a:r>
              <a:rPr lang="en-US" altLang="en-US" dirty="0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 dirty="0"/>
              <a:t> members of </a:t>
            </a:r>
            <a:r>
              <a:rPr lang="en-US" altLang="en-US" dirty="0">
                <a:latin typeface="Courier New" charset="0"/>
              </a:rPr>
              <a:t>A</a:t>
            </a:r>
            <a:r>
              <a:rPr lang="en-US" altLang="en-US" dirty="0"/>
              <a:t> are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 dirty="0"/>
              <a:t> members of </a:t>
            </a:r>
            <a:r>
              <a:rPr lang="en-US" altLang="en-US" dirty="0">
                <a:latin typeface="Courier New" charset="0"/>
              </a:rPr>
              <a:t>B</a:t>
            </a:r>
            <a:r>
              <a:rPr lang="en-US" altLang="en-US" dirty="0"/>
              <a:t> and can be directly accessed by member functions (and friend functions) of </a:t>
            </a:r>
            <a:r>
              <a:rPr lang="en-US" altLang="en-US" dirty="0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 dirty="0"/>
              <a:t> members of</a:t>
            </a:r>
            <a:r>
              <a:rPr lang="en-US" altLang="en-US" dirty="0">
                <a:latin typeface="Courier New" charset="0"/>
              </a:rPr>
              <a:t> A</a:t>
            </a:r>
            <a:r>
              <a:rPr lang="en-US" altLang="en-US" dirty="0"/>
              <a:t> are hidden in </a:t>
            </a:r>
            <a:r>
              <a:rPr lang="en-US" altLang="en-US" dirty="0">
                <a:latin typeface="Courier New" charset="0"/>
              </a:rPr>
              <a:t>B</a:t>
            </a:r>
            <a:r>
              <a:rPr lang="en-US" altLang="en-US" dirty="0"/>
              <a:t> and can be accessed by member functions of </a:t>
            </a:r>
            <a:r>
              <a:rPr lang="en-US" altLang="en-US" dirty="0">
                <a:latin typeface="Courier New" charset="0"/>
              </a:rPr>
              <a:t>B</a:t>
            </a:r>
            <a:r>
              <a:rPr lang="en-US" altLang="en-US" dirty="0"/>
              <a:t> through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 dirty="0"/>
              <a:t> or </a:t>
            </a:r>
            <a:r>
              <a:rPr lang="en-US" altLang="en-US" dirty="0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 dirty="0"/>
              <a:t> members of </a:t>
            </a:r>
            <a:r>
              <a:rPr lang="en-US" altLang="en-US" dirty="0">
                <a:latin typeface="Courier New" charset="0"/>
              </a:rPr>
              <a:t>A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xmlns="" val="925090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3BC5C1-FE45-C74C-B44F-5A9D2C04AC2F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534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Inheritance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,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,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 </a:t>
            </a:r>
            <a:r>
              <a:rPr lang="en-US" altLang="en-US"/>
              <a:t>(continued)</a:t>
            </a:r>
            <a:endParaRPr lang="en-US" altLang="en-US">
              <a:solidFill>
                <a:srgbClr val="3333FF"/>
              </a:solidFill>
              <a:latin typeface="Courier New" charset="0"/>
            </a:endParaRPr>
          </a:p>
        </p:txBody>
      </p:sp>
      <p:pic>
        <p:nvPicPr>
          <p:cNvPr id="4096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61877"/>
          <a:stretch>
            <a:fillRect/>
          </a:stretch>
        </p:blipFill>
        <p:spPr bwMode="auto">
          <a:xfrm>
            <a:off x="1295400" y="1752600"/>
            <a:ext cx="495458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72400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>
                <a:latin typeface="Courier New" charset="0"/>
              </a:rPr>
              <a:t>memberAccessSpecifier</a:t>
            </a:r>
            <a:r>
              <a:rPr lang="en-US" altLang="en-US"/>
              <a:t> is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the member functions (and friend functions)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the member functions (and friend functions)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hidden in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through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xmlns="" val="21748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1A8AC2-79B7-E849-B6F1-D1DEAD5B3140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0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534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Inheritance as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,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, or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 </a:t>
            </a:r>
            <a:r>
              <a:rPr lang="en-US" altLang="en-US"/>
              <a:t>(continued)</a:t>
            </a:r>
            <a:endParaRPr lang="en-US" altLang="en-US">
              <a:solidFill>
                <a:srgbClr val="3333FF"/>
              </a:solidFill>
              <a:latin typeface="Courier New" charset="0"/>
            </a:endParaRPr>
          </a:p>
        </p:txBody>
      </p:sp>
      <p:pic>
        <p:nvPicPr>
          <p:cNvPr id="419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61877"/>
          <a:stretch>
            <a:fillRect/>
          </a:stretch>
        </p:blipFill>
        <p:spPr bwMode="auto">
          <a:xfrm>
            <a:off x="1295400" y="1727200"/>
            <a:ext cx="4954588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828800"/>
            <a:ext cx="7772400" cy="47244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>
                <a:latin typeface="Courier New" charset="0"/>
              </a:rPr>
              <a:t>memberAccessSpecifier</a:t>
            </a:r>
            <a:r>
              <a:rPr lang="en-US" altLang="en-US"/>
              <a:t> is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(and friend functions) of </a:t>
            </a:r>
            <a:r>
              <a:rPr lang="en-US" altLang="en-US">
                <a:latin typeface="Courier New" charset="0"/>
              </a:rPr>
              <a:t>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private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  <a:r>
              <a:rPr lang="en-US" altLang="en-US"/>
              <a:t> are hidden in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and can be accessed by member functions of </a:t>
            </a:r>
            <a:r>
              <a:rPr lang="en-US" altLang="en-US">
                <a:latin typeface="Courier New" charset="0"/>
              </a:rPr>
              <a:t>B</a:t>
            </a:r>
            <a:r>
              <a:rPr lang="en-US" altLang="en-US"/>
              <a:t> through 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public</a:t>
            </a:r>
            <a:r>
              <a:rPr lang="en-US" altLang="en-US"/>
              <a:t>/</a:t>
            </a:r>
            <a:r>
              <a:rPr lang="en-US" altLang="en-US">
                <a:solidFill>
                  <a:srgbClr val="3333FF"/>
                </a:solidFill>
                <a:latin typeface="Courier New" charset="0"/>
              </a:rPr>
              <a:t>protected</a:t>
            </a:r>
            <a:r>
              <a:rPr lang="en-US" altLang="en-US"/>
              <a:t> members of </a:t>
            </a:r>
            <a:r>
              <a:rPr lang="en-US" altLang="en-US">
                <a:latin typeface="Courier New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xmlns="" val="30522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 descr="untitled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228600" y="152400"/>
            <a:ext cx="2709863" cy="6400800"/>
          </a:xfrm>
          <a:ln w="28575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14691" name="Picture 3" descr="untitled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3268663" y="152400"/>
            <a:ext cx="2751137" cy="6400800"/>
          </a:xfrm>
          <a:ln w="28575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114692" name="Picture 4" descr="untitled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6386513" y="152400"/>
            <a:ext cx="2571750" cy="6400800"/>
          </a:xfrm>
          <a:ln w="28575"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F2FD0B-94B2-0D45-817C-A471C210FCE4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731118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6.1.8 Defining a simple subclass (8)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1346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We’ll </a:t>
            </a:r>
            <a:r>
              <a:rPr lang="en-US" dirty="0"/>
              <a:t>finish our current topic with a very simple example demonstrating multi-inheritance. We need to emphasize that using this technique is commonly recognized as error-prone and obfuscating class hierarchy.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Any solution that avoids multi-inheritance is generally better and in fact many contemporary object programming languages don’t offer multi-inheritance at all. We think it’s a good argument to consider when you’re making design assumptions.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0846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6.1.8 Defining a simple subclass (8</a:t>
            </a:r>
            <a:r>
              <a:rPr lang="en-US" dirty="0" smtClean="0"/>
              <a:t>) 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368041" cy="40233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This example should be clear (we hope).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program will produce the following output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storage =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safe = 5</a:t>
            </a:r>
          </a:p>
        </p:txBody>
      </p:sp>
      <p:pic>
        <p:nvPicPr>
          <p:cNvPr id="5" name="Picture 4" descr="Screen Shot 2018-09-14 at 8.50.36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19600" y="1763163"/>
            <a:ext cx="3968824" cy="4846121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632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C934CE-79EB-7A49-B88E-CE774376F770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5017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5018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Inheritance and composition are meaningful ways to relate two or more classes</a:t>
            </a:r>
          </a:p>
          <a:p>
            <a:pPr eaLnBrk="1" hangingPunct="1"/>
            <a:r>
              <a:rPr lang="en-US" altLang="en-US" dirty="0"/>
              <a:t>Inheritance is an “is-a” relation</a:t>
            </a:r>
          </a:p>
          <a:p>
            <a:pPr lvl="1" eaLnBrk="1" hangingPunct="1"/>
            <a:r>
              <a:rPr lang="en-US" altLang="en-US" u="sng" dirty="0"/>
              <a:t>Single inheritance</a:t>
            </a:r>
            <a:r>
              <a:rPr lang="en-US" altLang="en-US" dirty="0"/>
              <a:t>: a derived class is derived from one class, called the base class</a:t>
            </a:r>
          </a:p>
          <a:p>
            <a:pPr lvl="1" eaLnBrk="1" hangingPunct="1"/>
            <a:r>
              <a:rPr lang="en-US" altLang="en-US" u="sng" dirty="0"/>
              <a:t>Multiple inheritance</a:t>
            </a:r>
            <a:r>
              <a:rPr lang="en-US" altLang="en-US" dirty="0"/>
              <a:t>: a derived class is derived from more than one base class</a:t>
            </a:r>
          </a:p>
          <a:p>
            <a:pPr eaLnBrk="1" hangingPunct="1"/>
            <a:r>
              <a:rPr lang="en-US" altLang="en-US" dirty="0" smtClean="0"/>
              <a:t>Composition and aggregation are </a:t>
            </a:r>
            <a:r>
              <a:rPr lang="en-US" altLang="en-US" dirty="0"/>
              <a:t>“has-a” relation</a:t>
            </a:r>
          </a:p>
        </p:txBody>
      </p:sp>
    </p:spTree>
    <p:extLst>
      <p:ext uri="{BB962C8B-B14F-4D97-AF65-F5344CB8AC3E}">
        <p14:creationId xmlns:p14="http://schemas.microsoft.com/office/powerpoint/2010/main" xmlns="" val="55788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7AD6C7-039A-CE43-A2C9-33C459B2F470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000"/>
          </a:p>
        </p:txBody>
      </p:sp>
      <p:sp>
        <p:nvSpPr>
          <p:cNvPr id="512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 (continued)</a:t>
            </a:r>
          </a:p>
        </p:txBody>
      </p:sp>
      <p:sp>
        <p:nvSpPr>
          <p:cNvPr id="5120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Private members of a base class are private to the base class</a:t>
            </a:r>
          </a:p>
          <a:p>
            <a:pPr eaLnBrk="1" hangingPunct="1"/>
            <a:r>
              <a:rPr lang="en-US" altLang="en-US"/>
              <a:t>Public members of a base class can be inherited either as public or private</a:t>
            </a:r>
          </a:p>
          <a:p>
            <a:pPr eaLnBrk="1" hangingPunct="1"/>
            <a:r>
              <a:rPr lang="en-US" altLang="en-US"/>
              <a:t>Derived class can redefine function members of a base class</a:t>
            </a:r>
          </a:p>
          <a:p>
            <a:pPr lvl="1" eaLnBrk="1" hangingPunct="1"/>
            <a:r>
              <a:rPr lang="en-US" altLang="en-US"/>
              <a:t>Redefinition applies only to objects of derived class</a:t>
            </a:r>
          </a:p>
        </p:txBody>
      </p:sp>
    </p:spTree>
    <p:extLst>
      <p:ext uri="{BB962C8B-B14F-4D97-AF65-F5344CB8AC3E}">
        <p14:creationId xmlns:p14="http://schemas.microsoft.com/office/powerpoint/2010/main" xmlns="" val="42810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B9DB3D-E128-4643-9743-FDDD1A27E297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5222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 (continued)</a:t>
            </a:r>
          </a:p>
        </p:txBody>
      </p:sp>
      <p:sp>
        <p:nvSpPr>
          <p:cNvPr id="5222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call to a base class constructor (with parameters) is specified in the heading of the definition of the derived class constructor</a:t>
            </a:r>
          </a:p>
          <a:p>
            <a:pPr eaLnBrk="1" hangingPunct="1"/>
            <a:r>
              <a:rPr lang="en-US" altLang="en-US"/>
              <a:t>When initializing object of a derived class, the base class constructor is executed first</a:t>
            </a:r>
          </a:p>
          <a:p>
            <a:pPr eaLnBrk="1" hangingPunct="1"/>
            <a:r>
              <a:rPr lang="en-US" altLang="en-US"/>
              <a:t>In composition</a:t>
            </a:r>
          </a:p>
          <a:p>
            <a:pPr lvl="1" eaLnBrk="1" hangingPunct="1"/>
            <a:r>
              <a:rPr lang="en-US" altLang="en-US"/>
              <a:t>Class member is an object of another class</a:t>
            </a:r>
          </a:p>
          <a:p>
            <a:pPr lvl="1" eaLnBrk="1" hangingPunct="1"/>
            <a:r>
              <a:rPr lang="en-US" altLang="en-US"/>
              <a:t>Call to constructor of member objects is specified in heading of the definition of class’s constructor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7009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3600"/>
            <a:ext cx="7848600" cy="1927225"/>
          </a:xfrm>
        </p:spPr>
        <p:txBody>
          <a:bodyPr/>
          <a:lstStyle/>
          <a:p>
            <a:r>
              <a:rPr lang="en-US" altLang="en-US" sz="2800" b="1" dirty="0" smtClean="0">
                <a:solidFill>
                  <a:schemeClr val="tx1"/>
                </a:solidFill>
              </a:rPr>
              <a:t>Examples on composition and </a:t>
            </a:r>
            <a:r>
              <a:rPr lang="en-US" altLang="en-US" sz="2800" b="1" dirty="0" err="1" smtClean="0">
                <a:solidFill>
                  <a:schemeClr val="tx1"/>
                </a:solidFill>
              </a:rPr>
              <a:t>inheritence</a:t>
            </a:r>
            <a:r>
              <a:rPr lang="en-US" altLang="en-US" sz="2800" b="1" dirty="0" smtClean="0">
                <a:solidFill>
                  <a:schemeClr val="tx1"/>
                </a:solidFill>
              </a:rPr>
              <a:t/>
            </a:r>
            <a:br>
              <a:rPr lang="en-US" altLang="en-US" sz="2800" b="1" dirty="0" smtClean="0">
                <a:solidFill>
                  <a:schemeClr val="tx1"/>
                </a:solidFill>
              </a:rPr>
            </a:br>
            <a:r>
              <a:rPr lang="en-US" altLang="en-US" sz="2800" b="1" dirty="0">
                <a:solidFill>
                  <a:schemeClr val="tx1"/>
                </a:solidFill>
              </a:rPr>
              <a:t/>
            </a:r>
            <a:br>
              <a:rPr lang="en-US" altLang="en-US" sz="2800" b="1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500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19F3970-513B-274B-BE62-F1DECB115B78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55299" name="Rectangle 6"/>
          <p:cNvSpPr>
            <a:spLocks noChangeArrowheads="1"/>
          </p:cNvSpPr>
          <p:nvPr/>
        </p:nvSpPr>
        <p:spPr bwMode="auto">
          <a:xfrm>
            <a:off x="838200" y="533400"/>
            <a:ext cx="7848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/>
              <a:t>Answer the following questions based on the classes’ definitions shown next.</a:t>
            </a:r>
            <a:endParaRPr lang="ar-JO" altLang="en-US" sz="2500"/>
          </a:p>
        </p:txBody>
      </p:sp>
      <p:pic>
        <p:nvPicPr>
          <p:cNvPr id="5530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457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28305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1752600"/>
            <a:ext cx="8610600" cy="2438400"/>
          </a:xfrm>
        </p:spPr>
        <p:txBody>
          <a:bodyPr/>
          <a:lstStyle/>
          <a:p>
            <a:pPr algn="ctr" eaLnBrk="1" hangingPunct="1"/>
            <a:r>
              <a:rPr lang="en-US" altLang="en-US" sz="6000">
                <a:solidFill>
                  <a:srgbClr val="336699"/>
                </a:solidFill>
              </a:rPr>
              <a:t>Output Questions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643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D66C6C-E368-084D-A4F9-72943A65A738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000"/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96200" y="228600"/>
            <a:ext cx="1371600" cy="2038350"/>
          </a:xfrm>
          <a:prstGeom prst="rect">
            <a:avLst/>
          </a:prstGeom>
          <a:noFill/>
          <a:ln w="9525" cap="flat" cmpd="sng">
            <a:solidFill>
              <a:schemeClr val="accent4">
                <a:lumMod val="95000"/>
                <a:lumOff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xmlns="" val="1600449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87D5A25-D619-7A49-8A03-117A2A0B0965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000"/>
          </a:p>
        </p:txBody>
      </p:sp>
      <p:pic>
        <p:nvPicPr>
          <p:cNvPr id="5939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848600" y="533400"/>
            <a:ext cx="8382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519361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B1FE130-AC61-CF49-AFAA-0D8975A83BD9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000"/>
          </a:p>
        </p:txBody>
      </p:sp>
      <p:pic>
        <p:nvPicPr>
          <p:cNvPr id="604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0" y="457200"/>
            <a:ext cx="12573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8737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1752600"/>
            <a:ext cx="8610600" cy="2438400"/>
          </a:xfrm>
        </p:spPr>
        <p:txBody>
          <a:bodyPr/>
          <a:lstStyle/>
          <a:p>
            <a:pPr algn="ctr" eaLnBrk="1" hangingPunct="1"/>
            <a:r>
              <a:rPr lang="en-US" altLang="en-US" sz="6000">
                <a:solidFill>
                  <a:srgbClr val="336699"/>
                </a:solidFill>
              </a:rPr>
              <a:t>Writing code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4E671-2CE7-4BC4-9D6E-ED7B9AC95417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7049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012842-7719-9E4B-9927-F8D88037D93D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1000"/>
          </a:p>
        </p:txBody>
      </p:sp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143000"/>
            <a:ext cx="9144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00748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5E8A82-A13F-BF48-A0F3-EF2081244C70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000"/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24200"/>
            <a:ext cx="7924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/>
          <p:cNvSpPr>
            <a:spLocks noChangeArrowheads="1"/>
          </p:cNvSpPr>
          <p:nvPr/>
        </p:nvSpPr>
        <p:spPr bwMode="auto">
          <a:xfrm>
            <a:off x="838200" y="533400"/>
            <a:ext cx="78486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/>
              <a:t>1) Write the header (the definition) of</a:t>
            </a:r>
            <a:r>
              <a:rPr lang="en-US" altLang="en-US" sz="2000" b="1" dirty="0"/>
              <a:t> </a:t>
            </a:r>
            <a:r>
              <a:rPr lang="en-US" altLang="en-US" sz="2000" dirty="0"/>
              <a:t>the new</a:t>
            </a:r>
            <a:r>
              <a:rPr lang="en-US" altLang="en-US" sz="2000" b="1" dirty="0"/>
              <a:t> class Phone </a:t>
            </a:r>
            <a:r>
              <a:rPr lang="en-US" altLang="en-US" sz="2000" dirty="0"/>
              <a:t>which </a:t>
            </a:r>
            <a:r>
              <a:rPr lang="en-US" altLang="en-US" sz="2000" b="1" i="1" u="sng" dirty="0"/>
              <a:t>publically inherits </a:t>
            </a:r>
            <a:r>
              <a:rPr lang="en-US" altLang="en-US" sz="2000" dirty="0"/>
              <a:t>the properties of the class </a:t>
            </a:r>
            <a:r>
              <a:rPr lang="en-US" altLang="en-US" sz="2000" b="1" dirty="0"/>
              <a:t>Device </a:t>
            </a:r>
            <a:r>
              <a:rPr lang="en-US" altLang="en-US" sz="2000" dirty="0"/>
              <a:t>with the following additional members as shown in the </a:t>
            </a:r>
            <a:r>
              <a:rPr lang="en-US" altLang="en-US" sz="2000" dirty="0" smtClean="0"/>
              <a:t>below UML </a:t>
            </a:r>
            <a:r>
              <a:rPr lang="en-US" altLang="en-US" sz="2000" dirty="0"/>
              <a:t>class diagram. (</a:t>
            </a:r>
            <a:r>
              <a:rPr lang="en-US" altLang="en-US" sz="2000" b="1" u="sng" dirty="0"/>
              <a:t>Don't</a:t>
            </a:r>
            <a:r>
              <a:rPr lang="en-US" altLang="en-US" sz="2000" dirty="0"/>
              <a:t> write the implementation of the member functions inside the header)     			 </a:t>
            </a:r>
            <a:endParaRPr lang="ar-JO" alt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2055490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73A11C-D9E5-6D4D-92CD-61310AF5879A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000"/>
          </a:p>
        </p:txBody>
      </p:sp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2963" y="2133600"/>
            <a:ext cx="6929437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5748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B9E0CF-C51B-B947-B81E-D4F76A0960CA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65539" name="Rectangle 6"/>
          <p:cNvSpPr>
            <a:spLocks noChangeArrowheads="1"/>
          </p:cNvSpPr>
          <p:nvPr/>
        </p:nvSpPr>
        <p:spPr bwMode="auto">
          <a:xfrm>
            <a:off x="685800" y="1219200"/>
            <a:ext cx="78486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/>
              <a:t>2) Write the implementation of the </a:t>
            </a:r>
            <a:r>
              <a:rPr lang="en-US" altLang="en-US" sz="2000" u="sng" dirty="0"/>
              <a:t>Constructor</a:t>
            </a:r>
            <a:r>
              <a:rPr lang="en-US" altLang="en-US" sz="2000" dirty="0"/>
              <a:t> function (</a:t>
            </a:r>
            <a:r>
              <a:rPr lang="en-US" altLang="en-US" sz="2000" b="1" dirty="0"/>
              <a:t>outside the class</a:t>
            </a:r>
            <a:r>
              <a:rPr lang="en-US" altLang="en-US" sz="2000" dirty="0"/>
              <a:t>) that takes five parameters to set the company and the price for the </a:t>
            </a:r>
            <a:r>
              <a:rPr lang="en-US" altLang="en-US" sz="2000" b="1" dirty="0"/>
              <a:t>Device</a:t>
            </a:r>
            <a:r>
              <a:rPr lang="en-US" altLang="en-US" sz="2000" dirty="0"/>
              <a:t>, the id and the size for the </a:t>
            </a:r>
            <a:r>
              <a:rPr lang="en-US" altLang="en-US" sz="2000" dirty="0" err="1"/>
              <a:t>phRam</a:t>
            </a:r>
            <a:r>
              <a:rPr lang="en-US" altLang="en-US" sz="2000" dirty="0"/>
              <a:t> and the version for the Phone.</a:t>
            </a:r>
            <a:endParaRPr lang="ar-JO" altLang="en-US" sz="1800" dirty="0"/>
          </a:p>
        </p:txBody>
      </p:sp>
      <p:pic>
        <p:nvPicPr>
          <p:cNvPr id="6554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971800"/>
            <a:ext cx="6858000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98423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DAD1A90-3C56-A648-87A7-EBA155CE5546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66563" name="Rectangle 6"/>
          <p:cNvSpPr>
            <a:spLocks noChangeArrowheads="1"/>
          </p:cNvSpPr>
          <p:nvPr/>
        </p:nvSpPr>
        <p:spPr bwMode="auto">
          <a:xfrm>
            <a:off x="838200" y="533400"/>
            <a:ext cx="7848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/>
              <a:t>3) Write the implementation of </a:t>
            </a:r>
            <a:r>
              <a:rPr lang="en-US" altLang="en-US" sz="2000" b="1" dirty="0" err="1"/>
              <a:t>priceAfterDiscount</a:t>
            </a:r>
            <a:r>
              <a:rPr lang="en-US" altLang="en-US" sz="2000" dirty="0"/>
              <a:t> function that receives one double value which represents the discount for the phone and return the price after the discount.</a:t>
            </a:r>
            <a:endParaRPr lang="ar-JO" altLang="en-US" sz="2000" dirty="0"/>
          </a:p>
        </p:txBody>
      </p:sp>
      <p:pic>
        <p:nvPicPr>
          <p:cNvPr id="6656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362200"/>
            <a:ext cx="4724400" cy="1290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82103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45D942-9F44-A740-8E6A-59B2A14D473F}" type="slidenum">
              <a:rPr lang="en-US" altLang="en-US" sz="1000"/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67587" name="Rectangle 6"/>
          <p:cNvSpPr>
            <a:spLocks noChangeArrowheads="1"/>
          </p:cNvSpPr>
          <p:nvPr/>
        </p:nvSpPr>
        <p:spPr bwMode="auto">
          <a:xfrm>
            <a:off x="609600" y="1143000"/>
            <a:ext cx="7848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66"/>
              </a:buClr>
              <a:buChar char="•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Arial" charset="0"/>
              <a:buChar char="−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rgbClr val="000066"/>
              </a:buClr>
              <a:buChar char="•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66"/>
              </a:buClr>
              <a:buChar char="•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/>
              <a:t>4) Write the implementation of the </a:t>
            </a:r>
            <a:r>
              <a:rPr lang="en-US" altLang="en-US" sz="2000" b="1" dirty="0"/>
              <a:t>print</a:t>
            </a:r>
            <a:r>
              <a:rPr lang="en-US" altLang="en-US" sz="2000" dirty="0"/>
              <a:t> function (outside the class) to print the company and the price for the </a:t>
            </a:r>
            <a:r>
              <a:rPr lang="en-US" altLang="en-US" sz="2000" b="1" dirty="0"/>
              <a:t>Device</a:t>
            </a:r>
            <a:r>
              <a:rPr lang="en-US" altLang="en-US" sz="2000" dirty="0"/>
              <a:t>, the id and the size for the </a:t>
            </a:r>
            <a:r>
              <a:rPr lang="en-US" altLang="en-US" sz="2000" dirty="0" err="1"/>
              <a:t>phRam</a:t>
            </a:r>
            <a:r>
              <a:rPr lang="en-US" altLang="en-US" sz="2000" dirty="0"/>
              <a:t> and the version for the Phone.</a:t>
            </a:r>
            <a:endParaRPr lang="ar-JO" altLang="en-US" sz="1800" dirty="0"/>
          </a:p>
        </p:txBody>
      </p:sp>
      <p:pic>
        <p:nvPicPr>
          <p:cNvPr id="6758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200400"/>
            <a:ext cx="4495800" cy="1580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51672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cs101</Template>
  <TotalTime>26539</TotalTime>
  <Words>1125</Words>
  <Application>Microsoft Macintosh PowerPoint</Application>
  <PresentationFormat>On-screen Show (4:3)</PresentationFormat>
  <Paragraphs>141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Clarity</vt:lpstr>
      <vt:lpstr>Object Oriented Programming</vt:lpstr>
      <vt:lpstr>Inheritance types</vt:lpstr>
      <vt:lpstr>Redefining (Overriding) Member Functions of the Base Class</vt:lpstr>
      <vt:lpstr>Redefining (Overriding) Member Functions of the Base Class (continued)</vt:lpstr>
      <vt:lpstr>Slide 5</vt:lpstr>
      <vt:lpstr>Constructors of Derived and Base Classes</vt:lpstr>
      <vt:lpstr>Example</vt:lpstr>
      <vt:lpstr>Example</vt:lpstr>
      <vt:lpstr>Example</vt:lpstr>
      <vt:lpstr>Slide 10</vt:lpstr>
      <vt:lpstr>Protected Members of a Class</vt:lpstr>
      <vt:lpstr>Inheritance as public, protected, or private</vt:lpstr>
      <vt:lpstr>Inheritance as public, protected, or private (continued)</vt:lpstr>
      <vt:lpstr>Inheritance as public, protected, or private (continued)</vt:lpstr>
      <vt:lpstr>Slide 15</vt:lpstr>
      <vt:lpstr>  6.1.8 Defining a simple subclass (8)  </vt:lpstr>
      <vt:lpstr>6.1.8 Defining a simple subclass (8) cont’d</vt:lpstr>
      <vt:lpstr>Summary</vt:lpstr>
      <vt:lpstr>Summary (continued)</vt:lpstr>
      <vt:lpstr>Summary (continued)</vt:lpstr>
      <vt:lpstr>Examples on composition and inheritence  </vt:lpstr>
      <vt:lpstr>Slide 22</vt:lpstr>
      <vt:lpstr>Output Questions</vt:lpstr>
      <vt:lpstr>Slide 24</vt:lpstr>
      <vt:lpstr>Slide 25</vt:lpstr>
      <vt:lpstr>Slide 26</vt:lpstr>
      <vt:lpstr>Writing code</vt:lpstr>
      <vt:lpstr>Slide 28</vt:lpstr>
      <vt:lpstr>Slide 29</vt:lpstr>
      <vt:lpstr>Slide 30</vt:lpstr>
      <vt:lpstr>Slide 31</vt:lpstr>
      <vt:lpstr>Slide 32</vt:lpstr>
      <vt:lpstr>Slide 33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Dr Wail Mardini</dc:creator>
  <cp:lastModifiedBy>ibrahim nadir</cp:lastModifiedBy>
  <cp:revision>1691</cp:revision>
  <cp:lastPrinted>2018-11-18T16:27:40Z</cp:lastPrinted>
  <dcterms:created xsi:type="dcterms:W3CDTF">2017-12-20T08:30:18Z</dcterms:created>
  <dcterms:modified xsi:type="dcterms:W3CDTF">2020-04-08T12:07:53Z</dcterms:modified>
</cp:coreProperties>
</file>