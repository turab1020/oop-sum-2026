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690" r:id="rId2"/>
    <p:sldId id="839" r:id="rId3"/>
    <p:sldId id="840" r:id="rId4"/>
    <p:sldId id="841" r:id="rId5"/>
    <p:sldId id="842" r:id="rId6"/>
    <p:sldId id="838" r:id="rId7"/>
    <p:sldId id="775" r:id="rId8"/>
    <p:sldId id="776" r:id="rId9"/>
    <p:sldId id="778" r:id="rId10"/>
    <p:sldId id="777" r:id="rId11"/>
    <p:sldId id="693" r:id="rId12"/>
    <p:sldId id="695" r:id="rId13"/>
    <p:sldId id="779" r:id="rId14"/>
    <p:sldId id="696" r:id="rId15"/>
    <p:sldId id="697" r:id="rId16"/>
    <p:sldId id="698" r:id="rId17"/>
    <p:sldId id="699" r:id="rId18"/>
    <p:sldId id="700" r:id="rId19"/>
    <p:sldId id="701" r:id="rId20"/>
    <p:sldId id="702" r:id="rId21"/>
    <p:sldId id="780" r:id="rId22"/>
    <p:sldId id="781" r:id="rId23"/>
    <p:sldId id="782" r:id="rId24"/>
    <p:sldId id="783" r:id="rId25"/>
    <p:sldId id="703" r:id="rId26"/>
    <p:sldId id="844" r:id="rId27"/>
    <p:sldId id="784" r:id="rId28"/>
    <p:sldId id="843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752" autoAdjust="0"/>
    <p:restoredTop sz="93220" autoAdjust="0"/>
  </p:normalViewPr>
  <p:slideViewPr>
    <p:cSldViewPr>
      <p:cViewPr varScale="1">
        <p:scale>
          <a:sx n="80" d="100"/>
          <a:sy n="80" d="100"/>
        </p:scale>
        <p:origin x="-996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496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87CC95-1805-4589-B3C5-62CD2CD2AA07}" type="datetimeFigureOut">
              <a:rPr lang="en-US" smtClean="0"/>
              <a:pPr/>
              <a:t>11/18/2020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2BB922-0DC4-4F8B-823D-B8E7EC57498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174583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D383-069B-4B22-A07C-9FB716C4AC8D}" type="datetime1">
              <a:rPr lang="en-US" smtClean="0"/>
              <a:pPr/>
              <a:t>11/18/2020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51CC2-3E26-487F-A05C-46E039DF3A20}" type="datetime1">
              <a:rPr lang="en-US" smtClean="0"/>
              <a:pPr/>
              <a:t>11/18/2020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B43EF-2CEC-4669-A42D-20DD755D97BC}" type="datetime1">
              <a:rPr lang="en-US" smtClean="0"/>
              <a:pPr/>
              <a:t>11/18/2020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8FF5D-17A2-4FF4-ACF5-CD2B2A9A5469}" type="datetime1">
              <a:rPr lang="en-US" smtClean="0"/>
              <a:pPr/>
              <a:t>11/18/2020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B1DB-8DDD-4A58-B060-AAD98A925886}" type="datetime1">
              <a:rPr lang="en-US" smtClean="0"/>
              <a:pPr/>
              <a:t>11/18/2020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7AD91-8025-4B16-B9BF-57B3EAED7ADD}" type="datetime1">
              <a:rPr lang="en-US" smtClean="0"/>
              <a:pPr/>
              <a:t>11/18/2020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0C53C-7406-4922-AB6B-B2CEF93D22DB}" type="datetime1">
              <a:rPr lang="en-US" smtClean="0"/>
              <a:pPr/>
              <a:t>11/18/2020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6814F-85E0-499C-82DA-2E04F8611575}" type="datetime1">
              <a:rPr lang="en-US" smtClean="0"/>
              <a:pPr/>
              <a:t>11/18/2020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CA42A-76D5-4595-AE3B-053BE4DA4F3B}" type="datetime1">
              <a:rPr lang="en-US" smtClean="0"/>
              <a:pPr/>
              <a:t>11/18/2020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39D9E-DF95-4B84-AE06-606BAC19448F}" type="datetime1">
              <a:rPr lang="en-US" smtClean="0"/>
              <a:pPr/>
              <a:t>11/18/2020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0FEF-3A9F-46D3-99F3-CD37DB098CCF}" type="datetime1">
              <a:rPr lang="en-US" smtClean="0"/>
              <a:pPr/>
              <a:t>11/18/2020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C77C62F4-9916-4B50-BCB4-4FD5D9F78919}" type="datetime1">
              <a:rPr lang="en-US" smtClean="0"/>
              <a:pPr/>
              <a:t>11/18/2020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 smtClean="0">
                <a:solidFill>
                  <a:schemeClr val="accent4">
                    <a:lumMod val="50000"/>
                  </a:schemeClr>
                </a:solidFill>
              </a:rPr>
              <a:t>Object Oriented Programming</a:t>
            </a:r>
            <a:endParaRPr lang="en-US" sz="3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Inheritance</a:t>
            </a:r>
            <a:endParaRPr lang="en-US" sz="40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19161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Initializer</a:t>
            </a:r>
            <a:r>
              <a:rPr lang="en-US" dirty="0" smtClean="0"/>
              <a:t>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Initializer</a:t>
            </a:r>
            <a:r>
              <a:rPr lang="en-US" dirty="0" smtClean="0"/>
              <a:t> list is used to initialize data </a:t>
            </a:r>
            <a:r>
              <a:rPr lang="en-US" dirty="0" smtClean="0"/>
              <a:t>member(s) </a:t>
            </a:r>
            <a:r>
              <a:rPr lang="en-US" dirty="0" smtClean="0"/>
              <a:t>of </a:t>
            </a:r>
            <a:r>
              <a:rPr lang="en-US" dirty="0" smtClean="0"/>
              <a:t>the </a:t>
            </a:r>
            <a:r>
              <a:rPr lang="en-US" dirty="0" smtClean="0"/>
              <a:t>class</a:t>
            </a:r>
          </a:p>
          <a:p>
            <a:r>
              <a:rPr lang="en-US" dirty="0" smtClean="0"/>
              <a:t>The list of members to be initialized is indicated with constructor as a comma-separated list followed by a colon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3200400"/>
            <a:ext cx="4943475" cy="35052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5486400" y="4286071"/>
            <a:ext cx="3657600" cy="12003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But there are situations where initialization of data members inside constructor doesn’t work and </a:t>
            </a:r>
            <a:r>
              <a:rPr lang="en-US" dirty="0" err="1" smtClean="0">
                <a:solidFill>
                  <a:srgbClr val="FF0000"/>
                </a:solidFill>
              </a:rPr>
              <a:t>Initializer</a:t>
            </a:r>
            <a:r>
              <a:rPr lang="en-US" dirty="0" smtClean="0">
                <a:solidFill>
                  <a:srgbClr val="FF0000"/>
                </a:solidFill>
              </a:rPr>
              <a:t> l</a:t>
            </a:r>
            <a:r>
              <a:rPr lang="en-US" dirty="0" smtClean="0">
                <a:solidFill>
                  <a:srgbClr val="FF0000"/>
                </a:solidFill>
              </a:rPr>
              <a:t>ist </a:t>
            </a:r>
            <a:r>
              <a:rPr lang="en-US" dirty="0" smtClean="0">
                <a:solidFill>
                  <a:srgbClr val="FF0000"/>
                </a:solidFill>
              </a:rPr>
              <a:t>must be used.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Uses of </a:t>
            </a:r>
            <a:r>
              <a:rPr lang="en-US" dirty="0" err="1" smtClean="0"/>
              <a:t>initializer</a:t>
            </a:r>
            <a:r>
              <a:rPr lang="en-US" dirty="0" smtClean="0"/>
              <a:t>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For initialization of non-static const data members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For initialization of member objects which do not have default constructor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33900" y="2514600"/>
            <a:ext cx="3771900" cy="43053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28828" y="3124200"/>
            <a:ext cx="2523972" cy="319087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Uses of </a:t>
            </a:r>
            <a:r>
              <a:rPr lang="en-US" dirty="0" err="1" smtClean="0"/>
              <a:t>initializer</a:t>
            </a:r>
            <a:r>
              <a:rPr lang="en-US" dirty="0" smtClean="0"/>
              <a:t> list (continued)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 smtClean="0"/>
              <a:t>For initialization of reference members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dirty="0" smtClean="0"/>
              <a:t>When constructor’s parameter name is same as data member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2895600"/>
            <a:ext cx="2250351" cy="38100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57600" y="2743200"/>
            <a:ext cx="4171950" cy="393382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Uses of </a:t>
            </a:r>
            <a:r>
              <a:rPr lang="en-US" dirty="0" err="1" smtClean="0"/>
              <a:t>initializer</a:t>
            </a:r>
            <a:r>
              <a:rPr lang="en-US" dirty="0" smtClean="0"/>
              <a:t> list (continued)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 smtClean="0"/>
              <a:t>For initialization of base class members</a:t>
            </a:r>
          </a:p>
          <a:p>
            <a:pPr marL="731520" lvl="1" indent="-457200">
              <a:buNone/>
            </a:pPr>
            <a:r>
              <a:rPr lang="en-US" dirty="0" smtClean="0"/>
              <a:t> 	Parameterized constructor of the base class </a:t>
            </a:r>
            <a:r>
              <a:rPr lang="en-US" b="1" dirty="0" smtClean="0"/>
              <a:t>can only</a:t>
            </a:r>
            <a:r>
              <a:rPr lang="en-US" dirty="0" smtClean="0"/>
              <a:t> be called using </a:t>
            </a:r>
            <a:r>
              <a:rPr lang="en-US" dirty="0" err="1" smtClean="0"/>
              <a:t>Initializer</a:t>
            </a:r>
            <a:r>
              <a:rPr lang="en-US" dirty="0" smtClean="0"/>
              <a:t> List </a:t>
            </a:r>
          </a:p>
          <a:p>
            <a:pPr marL="731520" lvl="1" indent="-457200">
              <a:buNone/>
            </a:pPr>
            <a:endParaRPr lang="en-US" dirty="0" smtClean="0"/>
          </a:p>
          <a:p>
            <a:pPr marL="731520" lvl="1" indent="-45720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2743200"/>
            <a:ext cx="4638675" cy="391477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915B7C-8E4F-3D4A-A7CA-C6D391119487}" type="slidenum">
              <a:rPr lang="en-US" altLang="en-US" sz="1000"/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en-US" sz="1000"/>
          </a:p>
        </p:txBody>
      </p:sp>
      <p:sp>
        <p:nvSpPr>
          <p:cNvPr id="1945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Inheritance and Composition</a:t>
            </a:r>
          </a:p>
        </p:txBody>
      </p:sp>
      <p:sp>
        <p:nvSpPr>
          <p:cNvPr id="19460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</a:t>
            </a:r>
            <a:r>
              <a:rPr lang="en-US" altLang="en-US" smtClean="0"/>
              <a:t>common </a:t>
            </a:r>
            <a:r>
              <a:rPr lang="en-US" altLang="en-US" dirty="0"/>
              <a:t>ways to relate two classes in a meaningful way are:</a:t>
            </a:r>
          </a:p>
          <a:p>
            <a:pPr lvl="1" eaLnBrk="1" hangingPunct="1"/>
            <a:r>
              <a:rPr lang="en-US" altLang="en-US" dirty="0"/>
              <a:t>Inheritance (“is-a” relationship)</a:t>
            </a:r>
          </a:p>
          <a:p>
            <a:pPr lvl="1" eaLnBrk="1" hangingPunct="1"/>
            <a:r>
              <a:rPr lang="en-US" altLang="en-US" dirty="0"/>
              <a:t>Composition </a:t>
            </a:r>
            <a:r>
              <a:rPr lang="en-US" altLang="en-US" dirty="0" smtClean="0"/>
              <a:t>/ Aggregation (“</a:t>
            </a:r>
            <a:r>
              <a:rPr lang="en-US" altLang="en-US" dirty="0"/>
              <a:t>has-a” relationship)</a:t>
            </a:r>
          </a:p>
          <a:p>
            <a:pPr eaLnBrk="1" hangingPunct="1"/>
            <a:endParaRPr lang="en-US" alt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52662" y="4572000"/>
            <a:ext cx="338138" cy="1082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1524000" y="3810000"/>
            <a:ext cx="17526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Organization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524000" y="5410200"/>
            <a:ext cx="17526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Employee</a:t>
            </a:r>
            <a:endParaRPr lang="en-US" dirty="0"/>
          </a:p>
        </p:txBody>
      </p:sp>
      <p:pic>
        <p:nvPicPr>
          <p:cNvPr id="8" name="Picture 2" descr="UML composition exampl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62400" y="4038600"/>
            <a:ext cx="4159928" cy="199072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835252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22AA54C-A3E3-624E-98F6-09706D6F55F4}" type="slidenum">
              <a:rPr lang="en-US" altLang="en-US" sz="1000"/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en-US" sz="1000"/>
          </a:p>
        </p:txBody>
      </p:sp>
      <p:sp>
        <p:nvSpPr>
          <p:cNvPr id="2048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Inheritance</a:t>
            </a:r>
          </a:p>
        </p:txBody>
      </p:sp>
      <p:sp>
        <p:nvSpPr>
          <p:cNvPr id="2048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Inheritance is an “is-a” relationship</a:t>
            </a:r>
          </a:p>
          <a:p>
            <a:pPr lvl="1" eaLnBrk="1" hangingPunct="1"/>
            <a:r>
              <a:rPr lang="en-US" altLang="en-US" dirty="0"/>
              <a:t>Example: “every employee is a person</a:t>
            </a:r>
            <a:r>
              <a:rPr lang="en-US" altLang="en-US" dirty="0" smtClean="0"/>
              <a:t>”</a:t>
            </a:r>
          </a:p>
          <a:p>
            <a:pPr lvl="1" eaLnBrk="1" hangingPunct="1"/>
            <a:r>
              <a:rPr lang="en-US" altLang="en-US" dirty="0" smtClean="0"/>
              <a:t>Person’s attributes: First Name, Last Name and CNIC No.</a:t>
            </a:r>
          </a:p>
          <a:p>
            <a:pPr lvl="1" eaLnBrk="1" hangingPunct="1"/>
            <a:r>
              <a:rPr lang="en-US" altLang="en-US" dirty="0" smtClean="0"/>
              <a:t>Employee’s attributes: First Name, Last Name, CNIC No., Employee ID, Salary, Joining Date etc. </a:t>
            </a:r>
            <a:endParaRPr lang="en-US" altLang="en-US" dirty="0"/>
          </a:p>
          <a:p>
            <a:pPr eaLnBrk="1" hangingPunct="1"/>
            <a:r>
              <a:rPr lang="en-US" altLang="en-US" dirty="0"/>
              <a:t>Inheritance lets us create new classes from existing classes</a:t>
            </a:r>
          </a:p>
          <a:p>
            <a:pPr lvl="1" eaLnBrk="1" hangingPunct="1"/>
            <a:r>
              <a:rPr lang="en-US" altLang="en-US" dirty="0"/>
              <a:t>New classes are called the derived </a:t>
            </a:r>
            <a:r>
              <a:rPr lang="en-US" altLang="en-US" dirty="0" smtClean="0"/>
              <a:t>classes/child classes</a:t>
            </a:r>
            <a:endParaRPr lang="en-US" altLang="en-US" dirty="0"/>
          </a:p>
          <a:p>
            <a:pPr lvl="1" eaLnBrk="1" hangingPunct="1"/>
            <a:r>
              <a:rPr lang="en-US" altLang="en-US" dirty="0"/>
              <a:t>Existing classes are called the base </a:t>
            </a:r>
            <a:r>
              <a:rPr lang="en-US" altLang="en-US" dirty="0" smtClean="0"/>
              <a:t>classes / parent classes</a:t>
            </a:r>
            <a:endParaRPr lang="en-US" altLang="en-US" dirty="0"/>
          </a:p>
          <a:p>
            <a:pPr eaLnBrk="1" hangingPunct="1"/>
            <a:r>
              <a:rPr lang="en-US" altLang="en-US" dirty="0"/>
              <a:t>Derived classes inherit the properties of the base classes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286500" y="685800"/>
            <a:ext cx="1143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Person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239000" y="1676400"/>
            <a:ext cx="1219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Employee</a:t>
            </a:r>
            <a:endParaRPr lang="en-US" dirty="0"/>
          </a:p>
        </p:txBody>
      </p:sp>
      <p:cxnSp>
        <p:nvCxnSpPr>
          <p:cNvPr id="8" name="Straight Arrow Connector 7"/>
          <p:cNvCxnSpPr>
            <a:stCxn id="6" idx="0"/>
            <a:endCxn id="5" idx="2"/>
          </p:cNvCxnSpPr>
          <p:nvPr/>
        </p:nvCxnSpPr>
        <p:spPr>
          <a:xfrm rot="5400000" flipH="1" flipV="1">
            <a:off x="7586600" y="1405000"/>
            <a:ext cx="533400" cy="9400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050341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Examples</a:t>
            </a:r>
          </a:p>
        </p:txBody>
      </p:sp>
      <p:sp>
        <p:nvSpPr>
          <p:cNvPr id="2150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828800"/>
            <a:ext cx="2751138" cy="430212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400"/>
              <a:t>Base class</a:t>
            </a:r>
          </a:p>
          <a:p>
            <a:pPr>
              <a:buFontTx/>
              <a:buNone/>
            </a:pPr>
            <a:endParaRPr lang="en-US" altLang="en-US" sz="2400"/>
          </a:p>
          <a:p>
            <a:r>
              <a:rPr lang="en-US" altLang="en-US" sz="2400"/>
              <a:t>Student</a:t>
            </a:r>
          </a:p>
          <a:p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Shape</a:t>
            </a:r>
          </a:p>
          <a:p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Employee</a:t>
            </a:r>
          </a:p>
        </p:txBody>
      </p:sp>
      <p:sp>
        <p:nvSpPr>
          <p:cNvPr id="21507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352925" y="1828800"/>
            <a:ext cx="4333875" cy="4302125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altLang="en-US" sz="2400"/>
              <a:t>Derived classes</a:t>
            </a:r>
          </a:p>
          <a:p>
            <a:pPr>
              <a:buFontTx/>
              <a:buNone/>
            </a:pPr>
            <a:endParaRPr lang="en-US" altLang="en-US" sz="2400"/>
          </a:p>
          <a:p>
            <a:r>
              <a:rPr lang="en-US" altLang="en-US" sz="2400"/>
              <a:t>Graduate Student</a:t>
            </a:r>
          </a:p>
          <a:p>
            <a:r>
              <a:rPr lang="en-US" altLang="en-US" sz="2400"/>
              <a:t>Undergraduate student</a:t>
            </a:r>
          </a:p>
          <a:p>
            <a:endParaRPr lang="en-US" altLang="en-US" sz="2400"/>
          </a:p>
          <a:p>
            <a:r>
              <a:rPr lang="en-US" altLang="en-US" sz="2400"/>
              <a:t>Circle</a:t>
            </a:r>
          </a:p>
          <a:p>
            <a:r>
              <a:rPr lang="en-US" altLang="en-US" sz="2400"/>
              <a:t>Rectangle</a:t>
            </a:r>
          </a:p>
          <a:p>
            <a:endParaRPr lang="en-US" altLang="en-US" sz="2400"/>
          </a:p>
          <a:p>
            <a:r>
              <a:rPr lang="en-US" altLang="en-US" sz="2400"/>
              <a:t>Faculty Member</a:t>
            </a:r>
          </a:p>
          <a:p>
            <a:r>
              <a:rPr lang="en-US" altLang="en-US" sz="2400"/>
              <a:t>Staff member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2497673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6BF81BB-0250-8C43-B679-BC3409CB1D4F}" type="slidenum">
              <a:rPr lang="en-US" altLang="en-US" sz="1000"/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en-US" sz="100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Inheritance (continued)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Inheritance can be viewed as a tree-like, or hierarchical, structure wherein a base class is shown with its derived classes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3124200"/>
            <a:ext cx="5400675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78801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Inheritance (continued)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8305800" cy="49530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000" u="sng" dirty="0"/>
              <a:t>Single inheritance</a:t>
            </a:r>
            <a:r>
              <a:rPr lang="en-US" altLang="en-US" sz="2000" dirty="0"/>
              <a:t>: derived class has a single base class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solidFill>
                  <a:schemeClr val="accent1"/>
                </a:solidFill>
              </a:rPr>
              <a:t>Ex. Circle class from Shape </a:t>
            </a:r>
            <a:r>
              <a:rPr lang="en-US" altLang="en-US" sz="1800" dirty="0" smtClean="0">
                <a:solidFill>
                  <a:schemeClr val="accent1"/>
                </a:solidFill>
              </a:rPr>
              <a:t>class</a:t>
            </a:r>
          </a:p>
          <a:p>
            <a:pPr>
              <a:lnSpc>
                <a:spcPct val="90000"/>
              </a:lnSpc>
            </a:pPr>
            <a:r>
              <a:rPr lang="en-US" altLang="en-US" sz="2000" u="sng" dirty="0" err="1" smtClean="0"/>
              <a:t>Mutlilevel</a:t>
            </a:r>
            <a:r>
              <a:rPr lang="en-US" altLang="en-US" sz="2000" u="sng" dirty="0" smtClean="0"/>
              <a:t> Inheritance: </a:t>
            </a:r>
            <a:r>
              <a:rPr lang="en-US" sz="2000" dirty="0" smtClean="0"/>
              <a:t>where one can inherit from a derived class, thereby making this derived class the base class for the new class. </a:t>
            </a:r>
          </a:p>
          <a:p>
            <a:pPr lvl="1">
              <a:lnSpc>
                <a:spcPct val="90000"/>
              </a:lnSpc>
            </a:pPr>
            <a:r>
              <a:rPr lang="en-US" altLang="en-US" sz="1600" b="1" dirty="0" smtClean="0">
                <a:solidFill>
                  <a:schemeClr val="accent1"/>
                </a:solidFill>
              </a:rPr>
              <a:t>Ex. Son-&gt;Father-&gt;Grand Father</a:t>
            </a:r>
            <a:endParaRPr lang="en-US" altLang="en-US" sz="1600" b="1" dirty="0">
              <a:solidFill>
                <a:schemeClr val="accent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000" u="sng" dirty="0"/>
              <a:t>Multiple inheritance</a:t>
            </a:r>
            <a:r>
              <a:rPr lang="en-US" altLang="en-US" sz="2000" dirty="0"/>
              <a:t>: derived class has more than one </a:t>
            </a:r>
            <a:r>
              <a:rPr lang="en-US" altLang="en-US" sz="2000" dirty="0" smtClean="0"/>
              <a:t>base class</a:t>
            </a:r>
            <a:endParaRPr lang="en-US" altLang="en-US" sz="1400" dirty="0"/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solidFill>
                  <a:schemeClr val="accent1"/>
                </a:solidFill>
              </a:rPr>
              <a:t>Ex. Son class from Mother class and Father class</a:t>
            </a:r>
          </a:p>
          <a:p>
            <a:pPr>
              <a:lnSpc>
                <a:spcPct val="90000"/>
              </a:lnSpc>
            </a:pPr>
            <a:endParaRPr lang="en-US" altLang="en-US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0800" y="4191000"/>
            <a:ext cx="1885950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4152900"/>
            <a:ext cx="1295400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57800" y="4191000"/>
            <a:ext cx="10668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9855578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Defining </a:t>
            </a:r>
            <a:r>
              <a:rPr lang="en-US" dirty="0"/>
              <a:t>a simple subclass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We can use each class as a base (or a foundation) to define or build another class (</a:t>
            </a:r>
            <a:r>
              <a:rPr lang="en-US" sz="1800" b="1" dirty="0"/>
              <a:t>a subclass</a:t>
            </a:r>
            <a:r>
              <a:rPr lang="en-US" sz="1800" dirty="0"/>
              <a:t>). It’s also possible to use </a:t>
            </a:r>
            <a:r>
              <a:rPr lang="en-US" sz="1800" b="1" dirty="0"/>
              <a:t>more than one class to define a subclass</a:t>
            </a:r>
            <a:r>
              <a:rPr lang="en-US" sz="1800" dirty="0"/>
              <a:t>. You can see both of these cases </a:t>
            </a:r>
            <a:r>
              <a:rPr lang="en-US" sz="1800" dirty="0" smtClean="0"/>
              <a:t> given below.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Note that the arrows always point to the superclass(</a:t>
            </a:r>
            <a:r>
              <a:rPr lang="en-US" sz="1800" dirty="0" err="1">
                <a:solidFill>
                  <a:srgbClr val="0070C0"/>
                </a:solidFill>
              </a:rPr>
              <a:t>es</a:t>
            </a:r>
            <a:r>
              <a:rPr lang="en-US" sz="1800" dirty="0">
                <a:solidFill>
                  <a:srgbClr val="0070C0"/>
                </a:solidFill>
              </a:rPr>
              <a:t>).</a:t>
            </a:r>
          </a:p>
          <a:p>
            <a:pPr marL="0" indent="0">
              <a:buNone/>
            </a:pPr>
            <a:r>
              <a:rPr lang="en-US" sz="1800" dirty="0"/>
              <a:t> </a:t>
            </a:r>
          </a:p>
          <a:p>
            <a:pPr marL="0" indent="0">
              <a:buNone/>
            </a:pPr>
            <a:r>
              <a:rPr lang="en-US" sz="1800" dirty="0"/>
              <a:t>The left diagram illustrates a “</a:t>
            </a:r>
            <a:r>
              <a:rPr lang="en-US" sz="1800" b="1" dirty="0"/>
              <a:t>single inheritance</a:t>
            </a:r>
            <a:r>
              <a:rPr lang="en-US" sz="1800" dirty="0"/>
              <a:t>”, and the right one a “</a:t>
            </a:r>
            <a:r>
              <a:rPr lang="en-US" sz="1800" b="1" dirty="0"/>
              <a:t>multiple inheritance</a:t>
            </a:r>
            <a:r>
              <a:rPr lang="en-US" sz="1800" dirty="0"/>
              <a:t>” or “</a:t>
            </a:r>
            <a:r>
              <a:rPr lang="en-US" sz="1800" b="1" dirty="0"/>
              <a:t>multi-inheritance</a:t>
            </a:r>
            <a:r>
              <a:rPr lang="en-US" sz="1800" dirty="0"/>
              <a:t>”.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We </a:t>
            </a:r>
            <a:r>
              <a:rPr lang="en-US" sz="1800" dirty="0"/>
              <a:t>can also write about </a:t>
            </a:r>
            <a:r>
              <a:rPr lang="en-US" sz="1800" dirty="0" smtClean="0"/>
              <a:t>super classes </a:t>
            </a:r>
            <a:r>
              <a:rPr lang="en-US" sz="1800" dirty="0"/>
              <a:t>as </a:t>
            </a:r>
            <a:r>
              <a:rPr lang="en-US" sz="1800" b="1" dirty="0" smtClean="0"/>
              <a:t>base </a:t>
            </a:r>
            <a:r>
              <a:rPr lang="en-US" sz="1800" dirty="0" smtClean="0"/>
              <a:t>classes</a:t>
            </a:r>
            <a:r>
              <a:rPr lang="en-US" sz="1800" dirty="0"/>
              <a:t>, and subclasses as </a:t>
            </a:r>
            <a:r>
              <a:rPr lang="en-US" sz="1800" b="1" dirty="0"/>
              <a:t>derived</a:t>
            </a:r>
            <a:r>
              <a:rPr lang="en-US" sz="1800" dirty="0"/>
              <a:t> classes.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38400" y="4724400"/>
            <a:ext cx="1885950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4686300"/>
            <a:ext cx="1295400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412703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Defining </a:t>
            </a:r>
            <a:r>
              <a:rPr lang="en-US" dirty="0"/>
              <a:t>a simple subclass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3749041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class on the right → will serve as </a:t>
            </a:r>
            <a:r>
              <a:rPr lang="en-US" sz="2400" b="1" dirty="0"/>
              <a:t>a superclass</a:t>
            </a:r>
            <a:r>
              <a:rPr lang="en-US" sz="2400" dirty="0"/>
              <a:t>. </a:t>
            </a:r>
            <a:r>
              <a:rPr lang="en-US" sz="2400" dirty="0" smtClean="0"/>
              <a:t>Analyze </a:t>
            </a:r>
            <a:r>
              <a:rPr lang="en-US" sz="2400" dirty="0"/>
              <a:t>its structure – it’s not difficult, we promise.</a:t>
            </a:r>
          </a:p>
          <a:p>
            <a:pPr marL="0" indent="0">
              <a:buNone/>
            </a:pPr>
            <a:r>
              <a:rPr lang="en-US" sz="2400" dirty="0"/>
              <a:t>The program emits the following text:</a:t>
            </a:r>
          </a:p>
          <a:p>
            <a:pPr marL="0" indent="0">
              <a:buNone/>
            </a:pPr>
            <a:r>
              <a:rPr lang="en-US" sz="2400" dirty="0"/>
              <a:t> </a:t>
            </a:r>
          </a:p>
          <a:p>
            <a:pPr marL="0" indent="0">
              <a:buNone/>
            </a:pPr>
            <a:r>
              <a:rPr lang="en-US" sz="2400" dirty="0"/>
              <a:t>101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1676400"/>
            <a:ext cx="4058579" cy="4343400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649012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5EA8520-3EA1-3945-B783-07A6602DD572}" type="slidenum">
              <a:rPr lang="en-US" altLang="en-US" sz="1000"/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en-US" sz="100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Inheritance (continued)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7772400" cy="48768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dirty="0"/>
              <a:t>General syntax of a derived class: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/>
          </a:p>
          <a:p>
            <a:pPr lvl="1" eaLnBrk="1" hangingPunct="1"/>
            <a:r>
              <a:rPr lang="en-US" altLang="en-US" sz="2400" dirty="0"/>
              <a:t>Where </a:t>
            </a:r>
            <a:r>
              <a:rPr lang="en-US" altLang="en-US" sz="2400" dirty="0" err="1">
                <a:latin typeface="Courier New" charset="0"/>
              </a:rPr>
              <a:t>memberAccessSpecifier</a:t>
            </a:r>
            <a:r>
              <a:rPr lang="en-US" altLang="en-US" sz="2400" dirty="0"/>
              <a:t> is </a:t>
            </a:r>
            <a:r>
              <a:rPr lang="en-US" altLang="en-US" sz="2400" dirty="0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 sz="2400" dirty="0"/>
              <a:t>, </a:t>
            </a:r>
            <a:r>
              <a:rPr lang="en-US" altLang="en-US" sz="2400" dirty="0">
                <a:solidFill>
                  <a:srgbClr val="3333FF"/>
                </a:solidFill>
                <a:latin typeface="Courier New" charset="0"/>
              </a:rPr>
              <a:t>protected</a:t>
            </a:r>
            <a:r>
              <a:rPr lang="en-US" altLang="en-US" sz="2400" dirty="0"/>
              <a:t>, or </a:t>
            </a:r>
            <a:r>
              <a:rPr lang="en-US" altLang="en-US" sz="2400" dirty="0">
                <a:solidFill>
                  <a:srgbClr val="3333FF"/>
                </a:solidFill>
                <a:latin typeface="Courier New" charset="0"/>
              </a:rPr>
              <a:t>private</a:t>
            </a:r>
            <a:r>
              <a:rPr lang="en-US" altLang="en-US" sz="2400" dirty="0"/>
              <a:t> (default) </a:t>
            </a:r>
          </a:p>
          <a:p>
            <a:pPr eaLnBrk="1" hangingPunct="1"/>
            <a:r>
              <a:rPr lang="en-US" altLang="en-US" dirty="0"/>
              <a:t>The </a:t>
            </a:r>
            <a:r>
              <a:rPr lang="en-US" altLang="en-US" dirty="0">
                <a:solidFill>
                  <a:srgbClr val="3333FF"/>
                </a:solidFill>
                <a:latin typeface="Courier New" charset="0"/>
              </a:rPr>
              <a:t>private</a:t>
            </a:r>
            <a:r>
              <a:rPr lang="en-US" altLang="en-US" dirty="0"/>
              <a:t> members of a base class are </a:t>
            </a:r>
            <a:r>
              <a:rPr lang="en-US" altLang="en-US" dirty="0" smtClean="0"/>
              <a:t>inaccessible in the derived class</a:t>
            </a:r>
            <a:endParaRPr lang="en-US" altLang="en-US" dirty="0"/>
          </a:p>
          <a:p>
            <a:pPr lvl="1" eaLnBrk="1" hangingPunct="1"/>
            <a:r>
              <a:rPr lang="en-US" altLang="en-US" dirty="0"/>
              <a:t>Derived class cannot directly access them</a:t>
            </a:r>
          </a:p>
          <a:p>
            <a:pPr lvl="1" eaLnBrk="1" hangingPunct="1"/>
            <a:r>
              <a:rPr lang="en-US" altLang="en-US" dirty="0"/>
              <a:t>Ex.    </a:t>
            </a:r>
            <a:r>
              <a:rPr lang="en-US" altLang="en-US" sz="2400" dirty="0">
                <a:solidFill>
                  <a:srgbClr val="3333FF"/>
                </a:solidFill>
                <a:latin typeface="Courier New" charset="0"/>
              </a:rPr>
              <a:t> Class</a:t>
            </a:r>
            <a:r>
              <a:rPr lang="en-US" altLang="en-US" dirty="0"/>
              <a:t> </a:t>
            </a:r>
            <a:r>
              <a:rPr lang="en-US" altLang="en-US" dirty="0" err="1"/>
              <a:t>SonClass</a:t>
            </a:r>
            <a:r>
              <a:rPr lang="en-US" altLang="en-US" dirty="0"/>
              <a:t>: </a:t>
            </a:r>
            <a:r>
              <a:rPr lang="en-US" altLang="en-US" sz="2400" dirty="0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 dirty="0"/>
              <a:t> </a:t>
            </a:r>
            <a:r>
              <a:rPr lang="en-US" altLang="en-US" dirty="0" err="1"/>
              <a:t>FatherClass</a:t>
            </a:r>
            <a:endParaRPr lang="en-US" altLang="en-US" dirty="0"/>
          </a:p>
          <a:p>
            <a:pPr lvl="1" eaLnBrk="1" hangingPunct="1">
              <a:buFont typeface="Arial" charset="0"/>
              <a:buNone/>
            </a:pPr>
            <a:r>
              <a:rPr lang="en-US" altLang="en-US" dirty="0"/>
              <a:t>			{                      </a:t>
            </a:r>
            <a:endParaRPr lang="en-US" altLang="en-US" dirty="0" smtClean="0"/>
          </a:p>
          <a:p>
            <a:pPr lvl="1" eaLnBrk="1" hangingPunct="1">
              <a:buFont typeface="Arial" charset="0"/>
              <a:buNone/>
            </a:pPr>
            <a:r>
              <a:rPr lang="en-US" altLang="en-US" dirty="0" smtClean="0"/>
              <a:t>                            </a:t>
            </a:r>
            <a:r>
              <a:rPr lang="en-US" altLang="en-US" dirty="0"/>
              <a:t>};</a:t>
            </a:r>
          </a:p>
        </p:txBody>
      </p:sp>
      <p:pic>
        <p:nvPicPr>
          <p:cNvPr id="2458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05000"/>
            <a:ext cx="5614392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36859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Defining </a:t>
            </a:r>
            <a:r>
              <a:rPr lang="en-US" dirty="0"/>
              <a:t>a simple subclass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 smtClean="0"/>
              <a:t>If </a:t>
            </a:r>
            <a:r>
              <a:rPr lang="en-US" sz="1600" dirty="0"/>
              <a:t>we want to </a:t>
            </a:r>
            <a:r>
              <a:rPr lang="en-US" sz="1600" b="1" dirty="0"/>
              <a:t>define a class named Y as a subclass of a superclass named X</a:t>
            </a:r>
            <a:r>
              <a:rPr lang="en-US" sz="1600" dirty="0"/>
              <a:t>, we use the </a:t>
            </a:r>
            <a:r>
              <a:rPr lang="en-US" sz="1600" dirty="0" smtClean="0"/>
              <a:t>following </a:t>
            </a:r>
            <a:r>
              <a:rPr lang="en-US" sz="1600" dirty="0"/>
              <a:t>syntax </a:t>
            </a:r>
            <a:endParaRPr lang="en-US" sz="1600" dirty="0" smtClean="0"/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r>
              <a:rPr lang="en-US" sz="1600" dirty="0" smtClean="0"/>
              <a:t>If </a:t>
            </a:r>
            <a:r>
              <a:rPr lang="en-US" sz="1600" dirty="0"/>
              <a:t>there’s more than one superclass, we have to enlist them all using commas as separators, like this</a:t>
            </a:r>
            <a:r>
              <a:rPr lang="en-US" sz="1600" dirty="0" smtClean="0"/>
              <a:t>: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class</a:t>
            </a:r>
            <a:r>
              <a:rPr lang="en-US" sz="1600" dirty="0"/>
              <a:t> A : X, Y, Z </a:t>
            </a:r>
            <a:endParaRPr lang="en-US" sz="1600" dirty="0" smtClean="0"/>
          </a:p>
          <a:p>
            <a:pPr marL="0" indent="0">
              <a:buNone/>
            </a:pPr>
            <a:r>
              <a:rPr lang="en-US" sz="1600" dirty="0" smtClean="0"/>
              <a:t>    {</a:t>
            </a:r>
          </a:p>
          <a:p>
            <a:pPr marL="0" indent="0">
              <a:buNone/>
            </a:pPr>
            <a:r>
              <a:rPr lang="en-US" sz="1600" dirty="0" smtClean="0"/>
              <a:t>	member list;</a:t>
            </a:r>
          </a:p>
          <a:p>
            <a:pPr marL="0" indent="0">
              <a:buNone/>
            </a:pPr>
            <a:r>
              <a:rPr lang="en-US" sz="1600" dirty="0" smtClean="0"/>
              <a:t>   };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Let’s start with the simplest possible case.</a:t>
            </a:r>
          </a:p>
          <a:p>
            <a:pPr marL="0" indent="0">
              <a:buNone/>
            </a:pPr>
            <a:r>
              <a:rPr lang="en-US" sz="1600" dirty="0"/>
              <a:t>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828800" y="228600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class</a:t>
            </a:r>
            <a:r>
              <a:rPr lang="en-US" dirty="0" smtClean="0"/>
              <a:t> Y : </a:t>
            </a:r>
            <a:r>
              <a:rPr lang="en-US" dirty="0" smtClean="0">
                <a:solidFill>
                  <a:srgbClr val="0070C0"/>
                </a:solidFill>
              </a:rPr>
              <a:t>private </a:t>
            </a:r>
            <a:r>
              <a:rPr lang="en-US" dirty="0" smtClean="0"/>
              <a:t>or</a:t>
            </a:r>
            <a:r>
              <a:rPr lang="en-US" dirty="0" smtClean="0">
                <a:solidFill>
                  <a:srgbClr val="0070C0"/>
                </a:solidFill>
              </a:rPr>
              <a:t> public </a:t>
            </a:r>
            <a:r>
              <a:rPr lang="en-US" dirty="0" smtClean="0"/>
              <a:t>or</a:t>
            </a:r>
            <a:r>
              <a:rPr lang="en-US" dirty="0" smtClean="0">
                <a:solidFill>
                  <a:srgbClr val="0070C0"/>
                </a:solidFill>
              </a:rPr>
              <a:t> protected </a:t>
            </a:r>
            <a:r>
              <a:rPr lang="en-US" dirty="0" smtClean="0"/>
              <a:t>X</a:t>
            </a:r>
          </a:p>
          <a:p>
            <a:r>
              <a:rPr lang="en-US" dirty="0" smtClean="0"/>
              <a:t>   {</a:t>
            </a:r>
          </a:p>
          <a:p>
            <a:r>
              <a:rPr lang="en-US" dirty="0" smtClean="0"/>
              <a:t>	member list;</a:t>
            </a:r>
          </a:p>
          <a:p>
            <a:r>
              <a:rPr lang="en-US" dirty="0" smtClean="0"/>
              <a:t>   };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668236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Defining </a:t>
            </a:r>
            <a:r>
              <a:rPr lang="en-US" dirty="0"/>
              <a:t>a simple subclass (4)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24000"/>
            <a:ext cx="3749041" cy="48573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Take a look here → We’ve defined a class named </a:t>
            </a:r>
            <a:r>
              <a:rPr lang="en-US" sz="2000" i="1" dirty="0"/>
              <a:t>Sub</a:t>
            </a:r>
            <a:r>
              <a:rPr lang="en-US" sz="2000" dirty="0"/>
              <a:t>, which is a subclass of a class named </a:t>
            </a:r>
            <a:r>
              <a:rPr lang="en-US" sz="2000" i="1" dirty="0"/>
              <a:t>Super</a:t>
            </a:r>
            <a:r>
              <a:rPr lang="en-US" sz="2000" dirty="0"/>
              <a:t>. We may also say that the </a:t>
            </a:r>
            <a:r>
              <a:rPr lang="en-US" sz="2000" i="1" dirty="0"/>
              <a:t>Sub</a:t>
            </a:r>
            <a:r>
              <a:rPr lang="en-US" sz="2000" dirty="0"/>
              <a:t> class is derived from the </a:t>
            </a:r>
            <a:r>
              <a:rPr lang="en-US" sz="2000" i="1" dirty="0"/>
              <a:t>Super</a:t>
            </a:r>
            <a:r>
              <a:rPr lang="en-US" sz="2000" dirty="0"/>
              <a:t> class. </a:t>
            </a:r>
          </a:p>
          <a:p>
            <a:pPr marL="0" indent="0">
              <a:buNone/>
            </a:pPr>
            <a:r>
              <a:rPr lang="en-US" sz="2000" dirty="0"/>
              <a:t>The </a:t>
            </a:r>
            <a:r>
              <a:rPr lang="en-US" sz="2000" i="1" dirty="0"/>
              <a:t>Sub</a:t>
            </a:r>
            <a:r>
              <a:rPr lang="en-US" sz="2000" dirty="0"/>
              <a:t> class introduces neither new variables nor new functions. Does this mean that any object of the </a:t>
            </a:r>
            <a:r>
              <a:rPr lang="en-US" sz="2000" i="1" dirty="0"/>
              <a:t>Sub</a:t>
            </a:r>
            <a:r>
              <a:rPr lang="en-US" sz="2000" dirty="0"/>
              <a:t>class inherits all the traits of the </a:t>
            </a:r>
            <a:r>
              <a:rPr lang="en-US" sz="2000" i="1" dirty="0"/>
              <a:t>Super</a:t>
            </a:r>
            <a:r>
              <a:rPr lang="en-US" sz="2000" dirty="0"/>
              <a:t> class, being in fact a copy of the </a:t>
            </a:r>
            <a:r>
              <a:rPr lang="en-US" sz="2000" i="1" dirty="0"/>
              <a:t>Super</a:t>
            </a:r>
            <a:r>
              <a:rPr lang="en-US" sz="2000" dirty="0"/>
              <a:t> class’s objects?</a:t>
            </a:r>
          </a:p>
          <a:p>
            <a:pPr marL="0" indent="0">
              <a:buNone/>
            </a:pPr>
            <a:r>
              <a:rPr lang="en-US" sz="2000" dirty="0"/>
              <a:t>No. It doesn’t.</a:t>
            </a:r>
          </a:p>
          <a:p>
            <a:pPr marL="0" indent="0">
              <a:buNone/>
            </a:pPr>
            <a:r>
              <a:rPr lang="en-US" sz="2000" dirty="0"/>
              <a:t>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1524000"/>
            <a:ext cx="3727880" cy="4648200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500528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6.1.4 Defining a simple subclass (4</a:t>
            </a:r>
            <a:r>
              <a:rPr lang="en-US" dirty="0" smtClean="0"/>
              <a:t>)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769534"/>
            <a:ext cx="7543801" cy="4250266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/>
              <a:t>If we compile the following code, we’ll get nothing but compilation errors saying that the </a:t>
            </a:r>
            <a:r>
              <a:rPr lang="en-US" sz="1800" i="1" dirty="0"/>
              <a:t>put</a:t>
            </a:r>
            <a:r>
              <a:rPr lang="en-US" sz="1800" dirty="0"/>
              <a:t> and </a:t>
            </a:r>
            <a:r>
              <a:rPr lang="en-US" sz="1800" i="1" dirty="0"/>
              <a:t>get</a:t>
            </a:r>
            <a:r>
              <a:rPr lang="en-US" sz="1800" dirty="0"/>
              <a:t> methods are inaccessible. Why?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/>
              <a:t>When we </a:t>
            </a:r>
            <a:r>
              <a:rPr lang="en-US" sz="1800" b="1" dirty="0"/>
              <a:t>omit the visibility </a:t>
            </a:r>
            <a:r>
              <a:rPr lang="en-US" sz="1800" b="1" dirty="0" err="1"/>
              <a:t>specifier</a:t>
            </a:r>
            <a:r>
              <a:rPr lang="en-US" sz="1800" dirty="0"/>
              <a:t>, the compiler assumes that we’re going to apply a “</a:t>
            </a:r>
            <a:r>
              <a:rPr lang="en-US" sz="1800" b="1" dirty="0"/>
              <a:t>private inheritance</a:t>
            </a:r>
            <a:r>
              <a:rPr lang="en-US" sz="1800" dirty="0"/>
              <a:t>”. This means that </a:t>
            </a:r>
            <a:r>
              <a:rPr lang="en-US" sz="1800" b="1" dirty="0"/>
              <a:t>all public superclass components turn into private access, and private superclass components won't be accessible</a:t>
            </a:r>
            <a:r>
              <a:rPr lang="en-US" sz="1800" dirty="0"/>
              <a:t> at all. It consequently means that you’re not allowed to use the latter inside the subclass. </a:t>
            </a:r>
            <a:endParaRPr lang="en-US" sz="1800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 smtClean="0"/>
              <a:t>This </a:t>
            </a:r>
            <a:r>
              <a:rPr lang="en-US" sz="1800" dirty="0"/>
              <a:t>is exactly what we want now.</a:t>
            </a: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6852222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Defining </a:t>
            </a:r>
            <a:r>
              <a:rPr lang="en-US" dirty="0"/>
              <a:t>a simple subclass (4) cont’d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We have to tell the compiler that </a:t>
            </a:r>
            <a:r>
              <a:rPr lang="en-US" b="1" dirty="0"/>
              <a:t>we want to preserve the previously used access policy</a:t>
            </a:r>
            <a:r>
              <a:rPr lang="en-US" dirty="0"/>
              <a:t>. </a:t>
            </a:r>
            <a:r>
              <a:rPr lang="en-US" dirty="0" smtClean="0"/>
              <a:t>We </a:t>
            </a:r>
            <a:r>
              <a:rPr lang="en-US" dirty="0"/>
              <a:t>do this by using a “</a:t>
            </a:r>
            <a:r>
              <a:rPr lang="en-US" dirty="0">
                <a:solidFill>
                  <a:srgbClr val="0070C0"/>
                </a:solidFill>
              </a:rPr>
              <a:t>public</a:t>
            </a:r>
            <a:r>
              <a:rPr lang="en-US" dirty="0"/>
              <a:t>” visibility </a:t>
            </a:r>
            <a:r>
              <a:rPr lang="en-US" dirty="0" err="1"/>
              <a:t>specifier</a:t>
            </a:r>
            <a:r>
              <a:rPr lang="en-US" dirty="0"/>
              <a:t>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0070C0"/>
                </a:solidFill>
              </a:rPr>
              <a:t>class</a:t>
            </a:r>
            <a:r>
              <a:rPr lang="en-US" dirty="0"/>
              <a:t> Sub : </a:t>
            </a:r>
            <a:r>
              <a:rPr lang="en-US" b="1" dirty="0">
                <a:solidFill>
                  <a:srgbClr val="0070C0"/>
                </a:solidFill>
              </a:rPr>
              <a:t>public</a:t>
            </a:r>
            <a:r>
              <a:rPr lang="en-US" dirty="0"/>
              <a:t> Super {   };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Don’t be misled: this doesn’t mean that the private components of the </a:t>
            </a:r>
            <a:r>
              <a:rPr lang="en-US" i="1" dirty="0"/>
              <a:t>Super</a:t>
            </a:r>
            <a:r>
              <a:rPr lang="en-US" dirty="0"/>
              <a:t>class (like the </a:t>
            </a:r>
            <a:r>
              <a:rPr lang="en-US" i="1" dirty="0" smtClean="0"/>
              <a:t>storage </a:t>
            </a:r>
            <a:r>
              <a:rPr lang="en-US" dirty="0" smtClean="0"/>
              <a:t>variable</a:t>
            </a:r>
            <a:r>
              <a:rPr lang="en-US" dirty="0"/>
              <a:t>) will magically turn into public ones. Private components will remain </a:t>
            </a:r>
            <a:r>
              <a:rPr lang="en-US" dirty="0" smtClean="0"/>
              <a:t>inaccessible, </a:t>
            </a:r>
            <a:r>
              <a:rPr lang="en-US" dirty="0"/>
              <a:t>public components will remain public.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722284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Defining </a:t>
            </a:r>
            <a:r>
              <a:rPr lang="en-US" dirty="0"/>
              <a:t>a simple subclass (5)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3749041" cy="440266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Objects of the </a:t>
            </a:r>
            <a:r>
              <a:rPr lang="en-US" i="1" dirty="0"/>
              <a:t>Sub</a:t>
            </a:r>
            <a:r>
              <a:rPr lang="en-US" dirty="0"/>
              <a:t> class may do </a:t>
            </a:r>
            <a:r>
              <a:rPr lang="en-US" dirty="0">
                <a:solidFill>
                  <a:srgbClr val="0070C0"/>
                </a:solidFill>
              </a:rPr>
              <a:t>almost</a:t>
            </a:r>
            <a:r>
              <a:rPr lang="en-US" dirty="0"/>
              <a:t> the same things as their older siblings created from the </a:t>
            </a:r>
            <a:r>
              <a:rPr lang="en-US" i="1" dirty="0"/>
              <a:t>Super</a:t>
            </a:r>
            <a:r>
              <a:rPr lang="en-US" dirty="0"/>
              <a:t>class. We use the word ‘almost’ because being a subclass also means that </a:t>
            </a:r>
            <a:r>
              <a:rPr lang="en-US" b="1" dirty="0">
                <a:solidFill>
                  <a:srgbClr val="0070C0"/>
                </a:solidFill>
              </a:rPr>
              <a:t>the class has lost access to the private components of the </a:t>
            </a:r>
            <a:r>
              <a:rPr lang="en-US" b="1" dirty="0" err="1">
                <a:solidFill>
                  <a:srgbClr val="0070C0"/>
                </a:solidFill>
              </a:rPr>
              <a:t>superclass</a:t>
            </a:r>
            <a:r>
              <a:rPr lang="en-US" dirty="0" smtClean="0">
                <a:solidFill>
                  <a:srgbClr val="0070C0"/>
                </a:solidFill>
              </a:rPr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We </a:t>
            </a:r>
            <a:r>
              <a:rPr lang="en-US" dirty="0"/>
              <a:t>cannot write a member function of the </a:t>
            </a:r>
            <a:r>
              <a:rPr lang="en-US" i="1" dirty="0"/>
              <a:t>Sub</a:t>
            </a:r>
            <a:r>
              <a:rPr lang="en-US" dirty="0"/>
              <a:t> class which would be able to directly manipulate the </a:t>
            </a:r>
            <a:r>
              <a:rPr lang="en-US" i="1" dirty="0"/>
              <a:t>storage</a:t>
            </a:r>
            <a:r>
              <a:rPr lang="en-US" dirty="0"/>
              <a:t> variable.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05400" y="1828800"/>
            <a:ext cx="3429000" cy="4385163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498824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Defining </a:t>
            </a:r>
            <a:r>
              <a:rPr lang="en-US" dirty="0"/>
              <a:t>a simple subclass (5</a:t>
            </a:r>
            <a:r>
              <a:rPr lang="en-US" dirty="0" smtClean="0"/>
              <a:t>)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There’s </a:t>
            </a:r>
            <a:r>
              <a:rPr lang="en-US" dirty="0"/>
              <a:t>the third access level we haven’t mentioned yet. It’s called “</a:t>
            </a:r>
            <a:r>
              <a:rPr lang="en-US" b="1" dirty="0">
                <a:solidFill>
                  <a:srgbClr val="0070C0"/>
                </a:solidFill>
              </a:rPr>
              <a:t>protected</a:t>
            </a:r>
            <a:r>
              <a:rPr lang="en-US" dirty="0"/>
              <a:t>”.</a:t>
            </a:r>
          </a:p>
          <a:p>
            <a:pPr marL="0" indent="0">
              <a:buNone/>
            </a:pPr>
            <a:r>
              <a:rPr lang="en-US" dirty="0"/>
              <a:t>The keyword </a:t>
            </a:r>
            <a:r>
              <a:rPr lang="en-US" i="1" dirty="0">
                <a:solidFill>
                  <a:srgbClr val="0070C0"/>
                </a:solidFill>
              </a:rPr>
              <a:t>protected</a:t>
            </a:r>
            <a:r>
              <a:rPr lang="en-US" dirty="0"/>
              <a:t> means that any component marked with it </a:t>
            </a:r>
            <a:r>
              <a:rPr lang="en-US" b="1" dirty="0"/>
              <a:t>behaves like a </a:t>
            </a:r>
            <a:r>
              <a:rPr lang="en-US" b="1" dirty="0">
                <a:solidFill>
                  <a:srgbClr val="0070C0"/>
                </a:solidFill>
              </a:rPr>
              <a:t>public</a:t>
            </a:r>
            <a:r>
              <a:rPr lang="en-US" b="1" dirty="0"/>
              <a:t> component when used by any of the subclasses and looks like a private component to the rest of the world</a:t>
            </a:r>
            <a:r>
              <a:rPr lang="en-US" dirty="0"/>
              <a:t>. </a:t>
            </a:r>
          </a:p>
          <a:p>
            <a:pPr marL="0" indent="0">
              <a:buNone/>
            </a:pPr>
            <a:r>
              <a:rPr lang="en-US" dirty="0"/>
              <a:t>We should add that this is true only for </a:t>
            </a:r>
            <a:r>
              <a:rPr lang="en-US" b="1" dirty="0">
                <a:solidFill>
                  <a:srgbClr val="0070C0"/>
                </a:solidFill>
              </a:rPr>
              <a:t>publicly inherited </a:t>
            </a:r>
            <a:r>
              <a:rPr lang="en-US" dirty="0"/>
              <a:t>classes (like the </a:t>
            </a:r>
            <a:r>
              <a:rPr lang="en-US" i="1" dirty="0"/>
              <a:t>Super</a:t>
            </a:r>
            <a:r>
              <a:rPr lang="en-US" dirty="0"/>
              <a:t> class in our </a:t>
            </a:r>
            <a:r>
              <a:rPr lang="en-US" dirty="0" smtClean="0"/>
              <a:t>example previous example)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Let’s make use of the keyword right now.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113587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Defining </a:t>
            </a:r>
            <a:r>
              <a:rPr lang="en-US" dirty="0"/>
              <a:t>a simple subclass (6)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845734"/>
            <a:ext cx="4130041" cy="432646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As you can see in the example code → </a:t>
            </a:r>
            <a:endParaRPr lang="en-US" sz="1400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 smtClean="0"/>
              <a:t>we’ve </a:t>
            </a:r>
            <a:r>
              <a:rPr lang="en-US" sz="1400" dirty="0"/>
              <a:t>added some new functionality to the </a:t>
            </a:r>
            <a:r>
              <a:rPr lang="en-US" sz="1400" i="1" dirty="0"/>
              <a:t>Sub</a:t>
            </a:r>
            <a:r>
              <a:rPr lang="en-US" sz="1400" dirty="0"/>
              <a:t> class.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We’ve added the </a:t>
            </a:r>
            <a:r>
              <a:rPr lang="en-US" sz="1400" i="1" dirty="0"/>
              <a:t>print</a:t>
            </a:r>
            <a:r>
              <a:rPr lang="en-US" sz="1400" dirty="0"/>
              <a:t> function. It isn’t especially sophisticated, but it does one important thing: it </a:t>
            </a:r>
            <a:r>
              <a:rPr lang="en-US" sz="1400" dirty="0" smtClean="0"/>
              <a:t>accesses the</a:t>
            </a:r>
            <a:r>
              <a:rPr lang="en-US" sz="1400" dirty="0"/>
              <a:t> </a:t>
            </a:r>
            <a:r>
              <a:rPr lang="en-US" sz="1400" i="1" dirty="0"/>
              <a:t>storage</a:t>
            </a:r>
            <a:r>
              <a:rPr lang="en-US" sz="1400" dirty="0"/>
              <a:t> variable from the Superclass. This wouldn’t be possible if the variable was declared as </a:t>
            </a:r>
            <a:r>
              <a:rPr lang="en-US" sz="1400" b="1" dirty="0"/>
              <a:t>private</a:t>
            </a:r>
            <a:r>
              <a:rPr lang="en-US" sz="14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 smtClean="0"/>
              <a:t>In </a:t>
            </a:r>
            <a:r>
              <a:rPr lang="en-US" sz="1400" dirty="0"/>
              <a:t>the </a:t>
            </a:r>
            <a:r>
              <a:rPr lang="en-US" sz="1400" i="1" dirty="0"/>
              <a:t>main</a:t>
            </a:r>
            <a:r>
              <a:rPr lang="en-US" sz="1400" dirty="0"/>
              <a:t> function scope, the variable remains hidden anyway. You mustn’t write anything like this</a:t>
            </a:r>
            <a:r>
              <a:rPr lang="en-US" sz="1400" dirty="0" smtClean="0"/>
              <a:t>: 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 smtClean="0"/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object.storage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>
                <a:solidFill>
                  <a:srgbClr val="FF0000"/>
                </a:solidFill>
              </a:rPr>
              <a:t>= 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 smtClean="0"/>
              <a:t>The </a:t>
            </a:r>
            <a:r>
              <a:rPr lang="en-US" sz="1400" dirty="0"/>
              <a:t>compiler will be very stubborn about this</a:t>
            </a:r>
            <a:r>
              <a:rPr lang="en-US" sz="1400" dirty="0" smtClean="0"/>
              <a:t>.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endParaRPr lang="en-US" sz="1400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 smtClean="0"/>
              <a:t>We </a:t>
            </a:r>
            <a:r>
              <a:rPr lang="en-US" sz="1400" dirty="0"/>
              <a:t>almost forgot to mention that our new program will produce the following output</a:t>
            </a:r>
            <a:r>
              <a:rPr lang="en-US" sz="1400" dirty="0" smtClean="0"/>
              <a:t>: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storage = 101</a:t>
            </a:r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5" name="Picture 4" descr="Screen Shot 2018-09-14 at 8.27.4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828799"/>
            <a:ext cx="4104456" cy="4774131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546460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20" name="Picture 36" descr="untitle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8275" y="76200"/>
            <a:ext cx="5851525" cy="6629400"/>
          </a:xfrm>
        </p:spPr>
      </p:pic>
      <p:sp>
        <p:nvSpPr>
          <p:cNvPr id="97327" name="Text Box 47"/>
          <p:cNvSpPr txBox="1">
            <a:spLocks noChangeArrowheads="1"/>
          </p:cNvSpPr>
          <p:nvPr/>
        </p:nvSpPr>
        <p:spPr bwMode="auto">
          <a:xfrm>
            <a:off x="1905000" y="685800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>
                <a:solidFill>
                  <a:srgbClr val="FF33CC"/>
                </a:solidFill>
                <a:latin typeface="Comic Sans MS" charset="0"/>
              </a:rPr>
              <a:t>Base </a:t>
            </a:r>
          </a:p>
        </p:txBody>
      </p:sp>
      <p:sp>
        <p:nvSpPr>
          <p:cNvPr id="97328" name="Text Box 48"/>
          <p:cNvSpPr txBox="1">
            <a:spLocks noChangeArrowheads="1"/>
          </p:cNvSpPr>
          <p:nvPr/>
        </p:nvSpPr>
        <p:spPr bwMode="auto">
          <a:xfrm>
            <a:off x="2209800" y="3124200"/>
            <a:ext cx="1143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dirty="0">
                <a:solidFill>
                  <a:srgbClr val="FF33CC"/>
                </a:solidFill>
                <a:latin typeface="Comic Sans MS" charset="0"/>
              </a:rPr>
              <a:t>derived </a:t>
            </a:r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514291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41" name="Picture 28" descr="untitle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5851525" cy="6629400"/>
          </a:xfrm>
        </p:spPr>
      </p:pic>
      <p:sp>
        <p:nvSpPr>
          <p:cNvPr id="99367" name="Text Box 39"/>
          <p:cNvSpPr txBox="1">
            <a:spLocks noChangeArrowheads="1"/>
          </p:cNvSpPr>
          <p:nvPr/>
        </p:nvSpPr>
        <p:spPr bwMode="auto">
          <a:xfrm>
            <a:off x="2362200" y="3200400"/>
            <a:ext cx="2286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u="sng" dirty="0">
                <a:solidFill>
                  <a:srgbClr val="FF0000"/>
                </a:solidFill>
                <a:latin typeface="Comic Sans MS" charset="0"/>
              </a:rPr>
              <a:t>Can not access x, y</a:t>
            </a: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872590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75" name="Picture 30" descr="untitle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5789613" cy="6705600"/>
          </a:xfrm>
        </p:spPr>
      </p:pic>
      <p:sp>
        <p:nvSpPr>
          <p:cNvPr id="100385" name="AutoShape 33"/>
          <p:cNvSpPr>
            <a:spLocks noChangeArrowheads="1"/>
          </p:cNvSpPr>
          <p:nvPr/>
        </p:nvSpPr>
        <p:spPr bwMode="auto">
          <a:xfrm>
            <a:off x="2209800" y="3124200"/>
            <a:ext cx="228600" cy="228600"/>
          </a:xfrm>
          <a:prstGeom prst="star5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60859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0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3000" fill="hold"/>
                                        <p:tgtEl>
                                          <p:spTgt spid="10038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4" presetID="4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5" dur="500"/>
                                        <p:tgtEl>
                                          <p:spTgt spid="1003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4" descr="untitle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76200"/>
            <a:ext cx="6353175" cy="6934200"/>
          </a:xfrm>
        </p:spPr>
      </p:pic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837350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Defining </a:t>
            </a:r>
            <a:r>
              <a:rPr lang="en-US" dirty="0"/>
              <a:t>a simple subclass (7)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Now’s a good opportunity to do a little </a:t>
            </a:r>
            <a:r>
              <a:rPr lang="en-US" dirty="0" smtClean="0"/>
              <a:t>summarizing </a:t>
            </a:r>
            <a:r>
              <a:rPr lang="en-US" dirty="0"/>
              <a:t>here. We know that any component of the class may be declared as</a:t>
            </a:r>
            <a:r>
              <a:rPr lang="en-US" dirty="0" smtClean="0"/>
              <a:t>:</a:t>
            </a:r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public</a:t>
            </a:r>
          </a:p>
          <a:p>
            <a:r>
              <a:rPr lang="en-US" dirty="0">
                <a:solidFill>
                  <a:srgbClr val="0070C0"/>
                </a:solidFill>
              </a:rPr>
              <a:t>private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protected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 smtClean="0"/>
              <a:t>These </a:t>
            </a:r>
            <a:r>
              <a:rPr lang="en-US" dirty="0"/>
              <a:t>three keywords may also be used in a completely different context to specify the visibility inheritance model. So far, we’ve talked about public and private keywords used in such a case. It should be no surprise to you that the protected keyword can be employed in this role, too.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67917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Accessibility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Accessibility:</a:t>
            </a:r>
          </a:p>
          <a:p>
            <a:pPr lvl="1"/>
            <a:r>
              <a:rPr lang="en-US" dirty="0" smtClean="0"/>
              <a:t>Private </a:t>
            </a:r>
            <a:r>
              <a:rPr lang="en-US" sz="2800" dirty="0" smtClean="0"/>
              <a:t>&lt;</a:t>
            </a:r>
            <a:r>
              <a:rPr lang="en-US" dirty="0" smtClean="0"/>
              <a:t> Protected </a:t>
            </a:r>
            <a:r>
              <a:rPr lang="en-US" sz="2800" dirty="0" smtClean="0"/>
              <a:t>&lt; </a:t>
            </a:r>
            <a:r>
              <a:rPr lang="en-US" dirty="0" smtClean="0"/>
              <a:t>Public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5" name="Picture 4" descr="Screen Shot 2018-09-14 at 8.42.54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981200" y="2590800"/>
            <a:ext cx="5562600" cy="40549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0201019-12B4-5745-9A28-17D8EB8A2F83}" type="slidenum">
              <a:rPr lang="en-US" altLang="en-US" sz="1000"/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en-US" sz="100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Inheritance (continued)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3820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/>
              <a:t> members of base class can be inherited as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/>
              <a:t> or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private</a:t>
            </a:r>
            <a:r>
              <a:rPr lang="en-US" altLang="en-US"/>
              <a:t> members</a:t>
            </a:r>
          </a:p>
          <a:p>
            <a:pPr eaLnBrk="1" hangingPunct="1">
              <a:lnSpc>
                <a:spcPct val="90000"/>
              </a:lnSpc>
            </a:pPr>
            <a:endParaRPr lang="en-US" altLang="en-US">
              <a:solidFill>
                <a:srgbClr val="3333FF"/>
              </a:solidFill>
              <a:latin typeface="Courier New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The derived class can include additional members--data and/or functions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The derived class can redefine the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/>
              <a:t> member functions of the base class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All members of the base class are also member variables of the derived class</a:t>
            </a:r>
          </a:p>
        </p:txBody>
      </p:sp>
    </p:spTree>
    <p:extLst>
      <p:ext uri="{BB962C8B-B14F-4D97-AF65-F5344CB8AC3E}">
        <p14:creationId xmlns="" xmlns:p14="http://schemas.microsoft.com/office/powerpoint/2010/main" val="37643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971800"/>
            <a:ext cx="8229600" cy="990600"/>
          </a:xfrm>
        </p:spPr>
        <p:txBody>
          <a:bodyPr/>
          <a:lstStyle/>
          <a:p>
            <a:pPr algn="ctr"/>
            <a:r>
              <a:rPr lang="en-US" dirty="0" smtClean="0"/>
              <a:t>End of the Lecture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28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cs101</Template>
  <TotalTime>26737</TotalTime>
  <Words>782</Words>
  <Application>Microsoft Macintosh PowerPoint</Application>
  <PresentationFormat>On-screen Show (4:3)</PresentationFormat>
  <Paragraphs>185</Paragraphs>
  <Slides>28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Clarity</vt:lpstr>
      <vt:lpstr>Object Oriented Programming</vt:lpstr>
      <vt:lpstr>Initializer list</vt:lpstr>
      <vt:lpstr>Uses of initializer list</vt:lpstr>
      <vt:lpstr>Uses of initializer list (continued)</vt:lpstr>
      <vt:lpstr>Uses of initializer list (continued)</vt:lpstr>
      <vt:lpstr>Inheritance and Composition</vt:lpstr>
      <vt:lpstr>Inheritance</vt:lpstr>
      <vt:lpstr>Examples</vt:lpstr>
      <vt:lpstr>Inheritance (continued)</vt:lpstr>
      <vt:lpstr>Inheritance (continued)</vt:lpstr>
      <vt:lpstr>Defining a simple subclass (1)</vt:lpstr>
      <vt:lpstr>Defining a simple subclass (2)</vt:lpstr>
      <vt:lpstr>Inheritance (continued)</vt:lpstr>
      <vt:lpstr>Defining a simple subclass (3)</vt:lpstr>
      <vt:lpstr>Defining a simple subclass (4)</vt:lpstr>
      <vt:lpstr>6.1.4 Defining a simple subclass (4) cont’d</vt:lpstr>
      <vt:lpstr>Defining a simple subclass (4) cont’d</vt:lpstr>
      <vt:lpstr>Defining a simple subclass (5)</vt:lpstr>
      <vt:lpstr>Defining a simple subclass (5) cont’d</vt:lpstr>
      <vt:lpstr>Defining a simple subclass (6)</vt:lpstr>
      <vt:lpstr>Slide 21</vt:lpstr>
      <vt:lpstr>Slide 22</vt:lpstr>
      <vt:lpstr>Slide 23</vt:lpstr>
      <vt:lpstr>Slide 24</vt:lpstr>
      <vt:lpstr>Defining a simple subclass (7)</vt:lpstr>
      <vt:lpstr>Accessibility</vt:lpstr>
      <vt:lpstr>Inheritance (continued)</vt:lpstr>
      <vt:lpstr>End of the Lecture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Dr Wail Mardini</dc:creator>
  <cp:lastModifiedBy>ibrahim nadir</cp:lastModifiedBy>
  <cp:revision>1695</cp:revision>
  <cp:lastPrinted>2018-11-18T16:27:40Z</cp:lastPrinted>
  <dcterms:created xsi:type="dcterms:W3CDTF">2017-12-20T08:30:18Z</dcterms:created>
  <dcterms:modified xsi:type="dcterms:W3CDTF">2020-11-18T12:08:43Z</dcterms:modified>
</cp:coreProperties>
</file>